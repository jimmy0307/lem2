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今天想討論的不是重新發明 LEM2，而是 Federated LEM2 裡一個實際的推論問題。當資料分給更多 clients，每個 client 產生的規則可能改變；把規則合併以後，同一個測試個案也可能同時收到不同類別的建議。我們把這件事拆成規則結構、衝突工作量、預測策略與分類表現四個層次。接下來會先釐清流程與衝突定義，再比較四種策略，最後用備份中的三個 frozen UCI 資料集說明目前能支持的結論。</a:t>
            </a:r>
          </a:p>
          <a:p/>
          <a:p>
            <a:r>
              <a:t>這張圖要證明什麼：研究主線是 C → 規則結構 → 衝突工作量 → 策略 → 表現。</a:t>
            </a:r>
          </a:p>
          <a:p>
            <a:r>
              <a:t>來源：來源：鎖定研究事實 §§1, 5, 7–8；備份日期 2026-10-22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原始的 federated LEM2 基準，是各 client 先產生 local rules，再由 server 做 UNION，推論時採用 FIRST_MATCH。這裡用一個小例子：第一條規則說 A 等於一就判 Yes，第二條說 A 等於一而且 B 等於二就判 No。UNION 會把兩條都留下來，所以測試個案同時符合兩條時，仍然要決定最後採哪個答案。我們關心的是，在完全相同的規則證據下，不同預測策略會怎麼改變結果；不是預設投票一定比較好。</a:t>
            </a:r>
          </a:p>
          <a:p/>
          <a:p>
            <a:r>
              <a:t>這張圖要證明什麼：UNION 建立全域規則集；不同決策的重疊需在推論時處理。</a:t>
            </a:r>
          </a:p>
          <a:p>
            <a:r>
              <a:t>來源：來源：鎖定研究事實 §§2–5；Woźniak et al. (2026)；Lindgren (2004)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這張圖從左上開始看。資料先切成 training 與 test，training 再依 C 分配給 clients。各 client 在 training 範圍內做必要的前處理、Rough Set、reduct 與 LEM2，不能讓 test rows 參與學習。server 接著做 UNION，形成同一份 global rule set，再先辨識 conflict cases。最後四種 prediction policies 使用相同的結構產物做預測與評量。圖上的 C 是外層實驗因素，UNION 是聚合，真正對 competing rules 做決策的是最下方的 policy layer。</a:t>
            </a:r>
          </a:p>
          <a:p/>
          <a:p>
            <a:r>
              <a:t>這張圖要證明什麼：資料、規則學習、UNION、決策與評量是不同層次。</a:t>
            </a:r>
          </a:p>
          <a:p>
            <a:r>
              <a:t>來源：來源：鎖定研究事實 §§1–5；主流程採 train-only preprocessing / reduct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這裡把 aggregation 與 prediction 再分清楚。global rule set 是所有 local rule sets 的聯集，但做去重時，規則身分必須包含 antecedent 加上 decision。因此，即使兩條規則的條件完全一樣，只要預測類別不同，就是兩條不同規則，不能把其中一條當成重複資料刪掉。聚合層只負責建立規則集合；到了 test object 進來、找到 matching rules 以後，才輪到 prediction policy 決定答案。這個分層也是後面公平比較四種策略的基礎。</a:t>
            </a:r>
          </a:p>
          <a:p/>
          <a:p>
            <a:r>
              <a:t>這張圖要證明什麼：完全相同的 antecedent 仍可能保留不同 decision；UNION 不會自動消除衝突。</a:t>
            </a:r>
          </a:p>
          <a:p>
            <a:r>
              <a:t>來源：來源：鎖定研究事實 §2；來源核對版 §§4–5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我們的主要 conflict 定義，是同一個測試個案命中的規則裡，出現超過一種 decision。沒有規則命中時，用既定 default class；只有一種 decision 時，做一般規則式預測；出現不同 decisions 時，就是 inference conflict，交給選定的 policy。這不等於 exact conflict。右下角兩條規則的條件不完全相同，所以 exact audit 抓不到，但 A 等於一、B 等於二的個案會同時命中兩條。這就是為什麼主分析要用 prediction-time conflict，而 exact conflict 只作補充結構稽核。</a:t>
            </a:r>
          </a:p>
          <a:p/>
          <a:p>
            <a:r>
              <a:t>這張圖要證明什麼：Inference conflict 包含非完全相同條件的規則重疊。</a:t>
            </a:r>
          </a:p>
          <a:p>
            <a:r>
              <a:t>來源：來源：鎖定研究事實 §3；Lindgren (2004)；Lindgren &amp; Boström (2002)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 是外層實驗因素，不是第五種演算法。當 client 數量改變，每個 client 看到的資料量和類別組成也可能改變，接著影響 local reduct、規則長度與規則集合，再影響 global rules 的重疊情況。這是一條合理的研究機制鏈，但不能直接當成數學定理。鎖定文件提到 frozen datasets 的 C 等於五端點高於 C 等於二；備份沒有附這段的逐點原始數值，所以這頁不另造趨勢圖，也不宣稱每個中間的 C 都嚴格增加。</a:t>
            </a:r>
          </a:p>
          <a:p/>
          <a:p>
            <a:r>
              <a:t>這張圖要證明什麼：這是一條待重複實驗檢驗的機制鏈，不是單調性定理。</a:t>
            </a:r>
          </a:p>
          <a:p>
            <a:r>
              <a:t>來源：來源：鎖定研究事實 §§1, 7；不提供未附原始數據的 conflict 趨勢圖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四種方法的共同名稱是 Prediction Policies。第一種 FIRST_MATCH 看順序，不是 voting。第二種 SIMPLE_VOTING 看 matching rule 的條數。第三種 STANDARD_VOTING 看 rule support 的加總。第四種 GLOBAL_STRENGTH 看 unique class coverage ratio。Simple Voting 是直接放進相同規則集作比較；Standard 的 federated weight，以及 Global Strength 的跨 client support context，則要明確標為本研究 adaptation。我們的貢獻是整合與系統性比較，不是宣稱發明這四種機制。</a:t>
            </a:r>
          </a:p>
          <a:p/>
          <a:p>
            <a:r>
              <a:t>這張圖要證明什麼：共同名稱是預測策略；四種機制皆有既有方法來源。</a:t>
            </a:r>
          </a:p>
          <a:p>
            <a:r>
              <a:t>來源：來源：來源核對版 §§1, 6；Woźniak 2026；Lazo-Cortés 2020；Bazan 2000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FIRST_MATCH 的公式很直接：先把 global rules 排成固定順序，然後選最前面那條符合測試個案的規則。圖上兩種順序用的是同一組規則，同一個 x 都會命中兩條；Yes 的規則先出現，就判 Yes，No 的規則先出現，就判 No。因此它的結果可能受 client order 以及 global rule order 影響。我們保留這個來源基準，再另外做順序敏感度稽核。這一頁的例子是機制示意，不是額外的實驗結果；正式稿的來源細節仍要回原 PDF 核對頁碼。</a:t>
            </a:r>
          </a:p>
          <a:p/>
          <a:p>
            <a:r>
              <a:t>這張圖要證明什麼：FIRST_MATCH 的 order sensitivity 是需要量化的機制。</a:t>
            </a:r>
          </a:p>
          <a:p>
            <a:r>
              <a:t>來源：來源：鎖定研究事實 §4.1；來源核對版 §2；Woźniak et al. (2026)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Simple Voting 把每條命中的規則當成一票，再依 decision 累加。這裡假設五條規則都符合測試個案，三條建議 A，兩條建議 B，所以 A 得三票、B 得兩票，最後選 A。它不用看每條規則支援多少訓練樣本，也沒有對 class size 做正規化。這是既有文獻與 RSES Guide 的 one matching rule, one vote 原理。我們將它放進與其他策略相同的 frozen global rule artifact 裡比較；沒有先假定票數多就一定比較準，遇到同分則依固定實作處理。</a:t>
            </a:r>
          </a:p>
          <a:p/>
          <a:p>
            <a:r>
              <a:t>這張圖要證明什麼：Simple Voting 只比較 matching-rule count；示例假設五條規則都命中 x。</a:t>
            </a:r>
          </a:p>
          <a:p>
            <a:r>
              <a:t>來源：來源：來源核對版 §3；Lazo-Cortés et al. (2020)；RSES 2.2 Guide (2005)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這是今天最容易混淆的一頁。假設兩條規則都命中測試個案，而且都預測 A。第一條 support 是 u1、u2、u3，第二條是 u2、u3、u4。Standard 把兩條規則的 support 大小直接相加，所以是三加三等於六，u2 與 u3 各貢獻了兩次。Global Strength 先做物件集合聯集，只剩四個不同物件，再除以 training class A 的大小 N_A。兩者分別採用 rule-level sum 與 unique object coverage；這個六和四除以 N_A 是不同策略的分數，不能直接跨策略比較大小。</a:t>
            </a:r>
          </a:p>
          <a:p/>
          <a:p>
            <a:r>
              <a:t>這張圖要證明什麼：Standard 以 rule support 加總；Global 對物件去重，再除以 training class size。</a:t>
            </a:r>
          </a:p>
          <a:p>
            <a:r>
              <a:t>來源：來源：鎖定研究事實 §§4.3–4.4；來源核對版 §§4–5；Bazan et al. (2000), Eq. 23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比較四種策略之前，必須先固定所有結構條件，包括 train/test split、client partition、local reduct、local rules、UNION、解決前的 conflict cases 與 default class，只改 prediction policy。評量分三組：分類品質用 Balanced Accuracy、Macro-F1 與 Coverage；規則結構看數量、平均條件數和 antecedent Jaccard；衝突與順序則看 conflict set 的比例與分類品質，並用 Variation Ratio 描述不同 client orders 的類別分歧。這些都是既有指標；正式顯著性檢定要等多次 seed、split 的成對實驗完成。</a:t>
            </a:r>
          </a:p>
          <a:p/>
          <a:p>
            <a:r>
              <a:t>這張圖要證明什麼：先固定比較條件，再把分類品質、衝突工作量與順序變動分開評量。</a:t>
            </a:r>
          </a:p>
          <a:p>
            <a:r>
              <a:t>來源：來源：鎖定研究事實 §§5–6；Brodersen 2010；Sokolova 2009；Gal 2016；Demšar 2006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這張表的數字直接來自備份鎖定的 Frozen UCI3 Balanced Accuracy，並不是這次重新訓練的結果。所有面板都用同一個色階，橘框代表同一資料集、同一 C 裡的最高值，包含並列。Hayes-Roth 通常是 FIRST_MATCH 較好或並列；Car 的四個 C 都由 Global Strength 取得最高 BA；Balance 在 C 二到四由 Standard 較高，到 C 五才轉成 Global。這支持目前範圍內沒有 universal winner，但沒有多次實驗的不確定性估計，不能把表格中的差距直接當成統計顯著。</a:t>
            </a:r>
          </a:p>
          <a:p/>
          <a:p>
            <a:r>
              <a:t>這張圖要證明什麼：在這三個 frozen datasets 與四個 C 設定中，沒有 universal winner。</a:t>
            </a:r>
          </a:p>
          <a:p>
            <a:r>
              <a:t>來源：來源：鎖定研究事實 §8；48 個 BA 數值直接轉錄，非本次重新訓練；無誤差棒或顯著性結論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把前面的流程、定義和數據放在一起，我們目前的貢獻可以說成：將既有的 prediction 與 conflict mechanisms，整合到相同的 frozen Federated LEM2 結構產物，再系統性研究 client fragmentation 的影響。這裡 Policy 星號等於一個函數，是概念性的研究表達，不是說我們已經訓練好一個選策略的模型。比較適合的 policy 可能取決於資料、規則結構、衝突工作量以及 client 設定。這個說法保留目前 evidence 的範圍，也避免把結果包裝成普遍性優勝結論。</a:t>
            </a:r>
          </a:p>
          <a:p/>
          <a:p>
            <a:r>
              <a:t>這張圖要證明什麼：貢獻定位在研究設計與機制比較，結論隨資料與設定而定。</a:t>
            </a:r>
          </a:p>
          <a:p>
            <a:r>
              <a:t>來源：來源：鎖定研究事實 §§5–9；Policy* 為研究概念表達，並非已擬合的預測模型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工程部分也要清楚標示證據是哪個版本。備份記錄的研究分支 snapshot head 是 b12730d 開頭，PR 五在當時是 draft、open、尚未合併；其 Linux CI 記錄為 Python 三點十二、compile 通過、105 個測試通過。這不是本次重新查詢 GitHub 的即時狀態。另外，前面環境設定驗證的是 frozen main，用 Python 三點十三點五跑過一百項測試。兩個結果不能混成同一次驗證。本次 UCI 連線受阻，所以簡報的 frozen 數據仍是轉錄；Linux CI 也不能代替 Windows 實機雙擊測試。</a:t>
            </a:r>
          </a:p>
          <a:p/>
          <a:p>
            <a:r>
              <a:t>這張圖要證明什麼：105 tests 屬備份研究分支；100 tests 屬本次 main，兩者不是同一份驗證。</a:t>
            </a:r>
          </a:p>
          <a:p>
            <a:r>
              <a:t>來源：來源：repository_state.json；鎖定事實 §10；本次環境驗證記錄（main 31b078bb…）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最後想請老師和組員決定三件事。第一，正式論文是否就以 client fragmentation 如何影響 conflict workload 與 policy performance 作為主線。第二，資料集要擴充到什麼範圍，才能涵蓋不同的類別不平衡以及規則重疊型態。第三，統計設計要先固定多個 seeds 和 splits，保留相同條件下的成對比較，再決定 Friedman 加 post-hoc 或 paired Wilcoxon 的適用方式。目前這份結果適合用來說明機制和形成研究假設，下一步才是把它推進到可支持正式統計推論的證據。</a:t>
            </a:r>
          </a:p>
          <a:p/>
          <a:p>
            <a:r>
              <a:t>這張圖要證明什麼：需要共同決定研究問題、資料範圍與重複實驗的統計設計。</a:t>
            </a:r>
          </a:p>
          <a:p>
            <a:r>
              <a:t>來源：來源：鎖定研究事實 §§6–7；會議講法收尾；Demšar (2006)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D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142D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572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200" b="1">
                <a:solidFill>
                  <a:srgbClr val="8ED4CF"/>
                </a:solidFill>
                <a:latin typeface="Noto Sans CJK TC"/>
              </a:defRPr>
            </a:pPr>
            <a:r>
              <a:t>LEM2  /  RESEARCH MEETING  /  2026.10.22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3444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3500" b="1">
                <a:solidFill>
                  <a:srgbClr val="FFFFFF"/>
                </a:solidFill>
                <a:latin typeface="Noto Sans CJK TC"/>
              </a:defRPr>
            </a:pPr>
            <a:r>
              <a:t>Federated LEM2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3500" b="1">
                <a:solidFill>
                  <a:srgbClr val="FFFFFF"/>
                </a:solidFill>
                <a:latin typeface="Noto Sans CJK TC"/>
              </a:defRPr>
            </a:pPr>
            <a:r>
              <a:t>Client fragmentation 與預測策略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" y="2852928"/>
            <a:ext cx="1042416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400" b="0">
                <a:solidFill>
                  <a:srgbClr val="D5E7ED"/>
                </a:solidFill>
                <a:latin typeface="Noto Sans CJK TC"/>
              </a:defRPr>
            </a:pPr>
            <a:r>
              <a:t>Client 數量如何改變規則結構、衝突工作量，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400" b="0">
                <a:solidFill>
                  <a:srgbClr val="D5E7ED"/>
                </a:solidFill>
                <a:latin typeface="Noto Sans CJK TC"/>
              </a:defRPr>
            </a:pPr>
            <a:r>
              <a:t>以及不同 Prediction Policies 的表現？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4251960"/>
            <a:ext cx="3547872" cy="1005840"/>
          </a:xfrm>
          <a:prstGeom prst="roundRect">
            <a:avLst>
              <a:gd name="adj" fmla="val 12000"/>
            </a:avLst>
          </a:prstGeom>
          <a:solidFill>
            <a:srgbClr val="203E5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43891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100" b="1">
                <a:solidFill>
                  <a:srgbClr val="8ED4CF"/>
                </a:solidFill>
                <a:latin typeface="Noto Sans CJK TC"/>
              </a:defRPr>
            </a:pPr>
            <a:r>
              <a:t>C = 2, 3, 4,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48463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D5E7ED"/>
                </a:solidFill>
                <a:latin typeface="Noto Sans CJK TC"/>
              </a:defRPr>
            </a:pPr>
            <a:r>
              <a:t>外層實驗因素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4251960"/>
            <a:ext cx="3547872" cy="1005840"/>
          </a:xfrm>
          <a:prstGeom prst="roundRect">
            <a:avLst>
              <a:gd name="adj" fmla="val 12000"/>
            </a:avLst>
          </a:prstGeom>
          <a:solidFill>
            <a:srgbClr val="203E5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53712" y="43891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100" b="1">
                <a:solidFill>
                  <a:srgbClr val="8ED4CF"/>
                </a:solidFill>
                <a:latin typeface="Noto Sans CJK TC"/>
              </a:defRPr>
            </a:pPr>
            <a:r>
              <a:t>4 policies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53712" y="48463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D5E7ED"/>
                </a:solidFill>
                <a:latin typeface="Noto Sans CJK TC"/>
              </a:defRPr>
            </a:pPr>
            <a:r>
              <a:t>同一份規則集比較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56448" y="4251960"/>
            <a:ext cx="3547872" cy="1005840"/>
          </a:xfrm>
          <a:prstGeom prst="roundRect">
            <a:avLst>
              <a:gd name="adj" fmla="val 12000"/>
            </a:avLst>
          </a:prstGeom>
          <a:solidFill>
            <a:srgbClr val="203E5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21040" y="43891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100" b="1">
                <a:solidFill>
                  <a:srgbClr val="8ED4CF"/>
                </a:solidFill>
                <a:latin typeface="Noto Sans CJK TC"/>
              </a:defRPr>
            </a:pPr>
            <a:r>
              <a:t>Frozen UCI3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4846320"/>
            <a:ext cx="3200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D5E7ED"/>
                </a:solidFill>
                <a:latin typeface="Noto Sans CJK TC"/>
              </a:defRPr>
            </a:pPr>
            <a:r>
              <a:t>目前證據範圍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6099048"/>
            <a:ext cx="11173968" cy="10972"/>
          </a:xfrm>
          <a:prstGeom prst="rect">
            <a:avLst/>
          </a:prstGeom>
          <a:solidFill>
            <a:srgbClr val="4360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6208776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B8CFD9"/>
                </a:solidFill>
                <a:latin typeface="Noto Sans CJK TC"/>
              </a:defRPr>
            </a:pPr>
            <a:r>
              <a:t>圖意｜研究主線是 C → 規則結構 → 衝突工作量 → 策略 → 表現。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37960"/>
            <a:ext cx="107899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A5BFCD"/>
                </a:solidFill>
                <a:latin typeface="Noto Sans CJK TC"/>
              </a:defRPr>
            </a:pPr>
            <a:r>
              <a:t>來源：鎖定研究事實 §§1, 5, 7–8；備份日期 2026-10-22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73968" y="6455664"/>
            <a:ext cx="5029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B8CFD9"/>
                </a:solidFill>
                <a:latin typeface="Noto Sans CJK TC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7F8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050" b="1">
                <a:solidFill>
                  <a:srgbClr val="007F82"/>
                </a:solidFill>
                <a:latin typeface="Noto Sans CJK TC"/>
              </a:defRPr>
            </a:pPr>
            <a:r>
              <a:t>RESEARCH MEETING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11556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42D40"/>
                </a:solidFill>
                <a:latin typeface="Noto Sans CJK TC"/>
              </a:defRPr>
            </a:pPr>
            <a:r>
              <a:t>合併規則之後，同一個案可能收到不同答案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783080"/>
            <a:ext cx="3246120" cy="2697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783080"/>
            <a:ext cx="41148" cy="269748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920240"/>
            <a:ext cx="293522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300" b="1">
                <a:solidFill>
                  <a:srgbClr val="007F82"/>
                </a:solidFill>
                <a:latin typeface="Noto Sans CJK TC"/>
              </a:defRPr>
            </a:pPr>
            <a:r>
              <a:t>Local rules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2450591"/>
            <a:ext cx="2935224" cy="1975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20394A"/>
                </a:solidFill>
                <a:latin typeface="Noto Sans CJK TC"/>
              </a:defRPr>
            </a:pPr>
            <a:r>
              <a:t>Client 1：A = 1 → Yes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20394A"/>
                </a:solidFill>
                <a:latin typeface="Noto Sans CJK TC"/>
              </a:defRPr>
            </a:p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20394A"/>
                </a:solidFill>
                <a:latin typeface="Noto Sans CJK TC"/>
              </a:defRPr>
            </a:pPr>
            <a:r>
              <a:t>Client 2：A = 1, B = 2 → No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858768" y="3063240"/>
            <a:ext cx="576072" cy="0"/>
          </a:xfrm>
          <a:prstGeom prst="line">
            <a:avLst/>
          </a:prstGeom>
          <a:ln w="19050">
            <a:solidFill>
              <a:srgbClr val="607482"/>
            </a:solidFill>
            <a:tailEnd type="triangle"/>
          </a:ln>
        </p:spPr>
      </p:cxnSp>
      <p:sp>
        <p:nvSpPr>
          <p:cNvPr id="10" name="Rounded Rectangle 9"/>
          <p:cNvSpPr/>
          <p:nvPr/>
        </p:nvSpPr>
        <p:spPr>
          <a:xfrm>
            <a:off x="4572000" y="1783080"/>
            <a:ext cx="2944368" cy="2697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0" y="1783080"/>
            <a:ext cx="41148" cy="2697480"/>
          </a:xfrm>
          <a:prstGeom prst="rect">
            <a:avLst/>
          </a:prstGeom>
          <a:solidFill>
            <a:srgbClr val="2774A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36592" y="1920240"/>
            <a:ext cx="263347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300" b="1">
                <a:solidFill>
                  <a:srgbClr val="2774AE"/>
                </a:solidFill>
                <a:latin typeface="Noto Sans CJK TC"/>
              </a:defRPr>
            </a:pPr>
            <a:r>
              <a:t>UNION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36592" y="2450591"/>
            <a:ext cx="2633472" cy="1975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20394A"/>
                </a:solidFill>
                <a:latin typeface="Noto Sans CJK TC"/>
              </a:defRPr>
            </a:pPr>
            <a:r>
              <a:t>保留兩條不同規則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20394A"/>
                </a:solidFill>
                <a:latin typeface="Noto Sans CJK TC"/>
              </a:defRPr>
            </a:p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20394A"/>
                </a:solidFill>
                <a:latin typeface="Noto Sans CJK TC"/>
              </a:defRPr>
            </a:pPr>
            <a:r>
              <a:t>建立 Global Rule Set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635240" y="3063240"/>
            <a:ext cx="557784" cy="0"/>
          </a:xfrm>
          <a:prstGeom prst="line">
            <a:avLst/>
          </a:prstGeom>
          <a:ln w="19050">
            <a:solidFill>
              <a:srgbClr val="607482"/>
            </a:solidFill>
            <a:tailEnd type="triangle"/>
          </a:ln>
        </p:spPr>
      </p:cxnSp>
      <p:sp>
        <p:nvSpPr>
          <p:cNvPr id="15" name="Rounded Rectangle 14"/>
          <p:cNvSpPr/>
          <p:nvPr/>
        </p:nvSpPr>
        <p:spPr>
          <a:xfrm>
            <a:off x="8339327" y="1783080"/>
            <a:ext cx="3337560" cy="2697480"/>
          </a:xfrm>
          <a:prstGeom prst="roundRect">
            <a:avLst>
              <a:gd name="adj" fmla="val 12000"/>
            </a:avLst>
          </a:prstGeom>
          <a:solidFill>
            <a:srgbClr val="F8EC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339327" y="1783080"/>
            <a:ext cx="41148" cy="2697480"/>
          </a:xfrm>
          <a:prstGeom prst="rect">
            <a:avLst/>
          </a:prstGeom>
          <a:solidFill>
            <a:srgbClr val="C763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19" y="1920240"/>
            <a:ext cx="302666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300" b="1">
                <a:solidFill>
                  <a:srgbClr val="C76332"/>
                </a:solidFill>
                <a:latin typeface="Noto Sans CJK TC"/>
              </a:defRPr>
            </a:pPr>
            <a:r>
              <a:t>Test x = (1, 2)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19" y="2450591"/>
            <a:ext cx="3026664" cy="19751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20394A"/>
                </a:solidFill>
                <a:latin typeface="Noto Sans CJK TC"/>
              </a:defRPr>
            </a:pPr>
            <a:r>
              <a:t>同時命中 Yes 與 No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20394A"/>
                </a:solidFill>
                <a:latin typeface="Noto Sans CJK TC"/>
              </a:defRPr>
            </a:pP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20394A"/>
                </a:solidFill>
                <a:latin typeface="Noto Sans CJK TC"/>
              </a:defRPr>
            </a:pPr>
            <a:r>
              <a:t>需要預測策略決定類別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98348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200" b="1">
                <a:solidFill>
                  <a:srgbClr val="142D40"/>
                </a:solidFill>
                <a:latin typeface="Noto Sans CJK TC"/>
              </a:defRPr>
            </a:pPr>
            <a:r>
              <a:t>研究問題：固定相同規則證據，改變決策方式會帶來什麼差異？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099048"/>
            <a:ext cx="11173968" cy="10972"/>
          </a:xfrm>
          <a:prstGeom prst="rect">
            <a:avLst/>
          </a:prstGeom>
          <a:solidFill>
            <a:srgbClr val="D8E1E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6208776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607482"/>
                </a:solidFill>
                <a:latin typeface="Noto Sans CJK TC"/>
              </a:defRPr>
            </a:pPr>
            <a:r>
              <a:t>圖意｜UNION 建立全域規則集；不同決策的重疊需在推論時處理。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37960"/>
            <a:ext cx="107899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607482"/>
                </a:solidFill>
                <a:latin typeface="Noto Sans CJK TC"/>
              </a:defRPr>
            </a:pPr>
            <a:r>
              <a:t>來源：鎖定研究事實 §§2–5；Woźniak et al. (2026)；Lindgren (2004)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73968" y="6455664"/>
            <a:ext cx="5029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607482"/>
                </a:solidFill>
                <a:latin typeface="Noto Sans CJK TC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7F8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050" b="1">
                <a:solidFill>
                  <a:srgbClr val="007F82"/>
                </a:solidFill>
                <a:latin typeface="Noto Sans CJK TC"/>
              </a:defRPr>
            </a:pPr>
            <a:r>
              <a:t>RESEARCH MEETING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11556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42D40"/>
                </a:solidFill>
                <a:latin typeface="Noto Sans CJK TC"/>
              </a:defRPr>
            </a:pPr>
            <a:r>
              <a:t>全系統流程：先固定結構，再比較預測策略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691640"/>
            <a:ext cx="2240280" cy="530352"/>
          </a:xfrm>
          <a:prstGeom prst="roundRect">
            <a:avLst>
              <a:gd name="adj" fmla="val 12000"/>
            </a:avLst>
          </a:prstGeom>
          <a:solidFill>
            <a:srgbClr val="E5F2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792224"/>
            <a:ext cx="2057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1">
                <a:solidFill>
                  <a:srgbClr val="007F82"/>
                </a:solidFill>
                <a:latin typeface="Noto Sans CJK TC"/>
              </a:defRPr>
            </a:pPr>
            <a:r>
              <a:t>Decision Table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08960" y="1691640"/>
            <a:ext cx="2514600" cy="530352"/>
          </a:xfrm>
          <a:prstGeom prst="roundRect">
            <a:avLst>
              <a:gd name="adj" fmla="val 12000"/>
            </a:avLst>
          </a:prstGeom>
          <a:solidFill>
            <a:srgbClr val="E5F2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1792224"/>
            <a:ext cx="23317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1">
                <a:solidFill>
                  <a:srgbClr val="007F82"/>
                </a:solidFill>
                <a:latin typeface="Noto Sans CJK TC"/>
              </a:defRPr>
            </a:pPr>
            <a:r>
              <a:t>Train / Test Split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89320" y="1691640"/>
            <a:ext cx="5687568" cy="530352"/>
          </a:xfrm>
          <a:prstGeom prst="roundRect">
            <a:avLst>
              <a:gd name="adj" fmla="val 12000"/>
            </a:avLst>
          </a:prstGeom>
          <a:solidFill>
            <a:srgbClr val="E5F2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80759" y="1792224"/>
            <a:ext cx="5504688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1">
                <a:solidFill>
                  <a:srgbClr val="007F82"/>
                </a:solidFill>
                <a:latin typeface="Noto Sans CJK TC"/>
              </a:defRPr>
            </a:pPr>
            <a:r>
              <a:t>Client Partition   C = 2, 3, 4, 5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70632" y="1956816"/>
            <a:ext cx="283464" cy="0"/>
          </a:xfrm>
          <a:prstGeom prst="line">
            <a:avLst/>
          </a:prstGeom>
          <a:ln w="19050">
            <a:solidFill>
              <a:srgbClr val="607482"/>
            </a:solidFill>
            <a:tailEnd type="triangle"/>
          </a:ln>
        </p:spPr>
      </p:cxnSp>
      <p:cxnSp>
        <p:nvCxnSpPr>
          <p:cNvPr id="12" name="Connector 11"/>
          <p:cNvCxnSpPr/>
          <p:nvPr/>
        </p:nvCxnSpPr>
        <p:spPr>
          <a:xfrm>
            <a:off x="5650992" y="1956816"/>
            <a:ext cx="283464" cy="0"/>
          </a:xfrm>
          <a:prstGeom prst="line">
            <a:avLst/>
          </a:prstGeom>
          <a:ln w="19050">
            <a:solidFill>
              <a:srgbClr val="607482"/>
            </a:solidFill>
            <a:tailEnd type="triangle"/>
          </a:ln>
        </p:spPr>
      </p:cxnSp>
      <p:cxnSp>
        <p:nvCxnSpPr>
          <p:cNvPr id="13" name="Connector 12"/>
          <p:cNvCxnSpPr/>
          <p:nvPr/>
        </p:nvCxnSpPr>
        <p:spPr>
          <a:xfrm>
            <a:off x="8778240" y="2221992"/>
            <a:ext cx="0" cy="146304"/>
          </a:xfrm>
          <a:prstGeom prst="line">
            <a:avLst/>
          </a:prstGeom>
          <a:ln w="16510">
            <a:solidFill>
              <a:srgbClr val="607482"/>
            </a:solidFill>
          </a:ln>
        </p:spPr>
      </p:cxnSp>
      <p:cxnSp>
        <p:nvCxnSpPr>
          <p:cNvPr id="14" name="Connector 13"/>
          <p:cNvCxnSpPr/>
          <p:nvPr/>
        </p:nvCxnSpPr>
        <p:spPr>
          <a:xfrm>
            <a:off x="1810512" y="2368296"/>
            <a:ext cx="8558784" cy="0"/>
          </a:xfrm>
          <a:prstGeom prst="line">
            <a:avLst/>
          </a:prstGeom>
          <a:ln w="16510">
            <a:solidFill>
              <a:srgbClr val="607482"/>
            </a:solidFill>
          </a:ln>
        </p:spPr>
      </p:cxnSp>
      <p:cxnSp>
        <p:nvCxnSpPr>
          <p:cNvPr id="15" name="Connector 14"/>
          <p:cNvCxnSpPr/>
          <p:nvPr/>
        </p:nvCxnSpPr>
        <p:spPr>
          <a:xfrm>
            <a:off x="1810512" y="2368296"/>
            <a:ext cx="0" cy="164592"/>
          </a:xfrm>
          <a:prstGeom prst="line">
            <a:avLst/>
          </a:prstGeom>
          <a:ln w="19050">
            <a:solidFill>
              <a:srgbClr val="607482"/>
            </a:solidFill>
            <a:tailEnd type="triangle"/>
          </a:ln>
        </p:spPr>
      </p:cxnSp>
      <p:sp>
        <p:nvSpPr>
          <p:cNvPr id="16" name="Rounded Rectangle 15"/>
          <p:cNvSpPr/>
          <p:nvPr/>
        </p:nvSpPr>
        <p:spPr>
          <a:xfrm>
            <a:off x="502920" y="2560320"/>
            <a:ext cx="2615184" cy="9326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2560320"/>
            <a:ext cx="41148" cy="93268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7512" y="2697479"/>
            <a:ext cx="230428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1">
                <a:solidFill>
                  <a:srgbClr val="007F82"/>
                </a:solidFill>
                <a:latin typeface="Noto Sans CJK TC"/>
              </a:defRPr>
            </a:pPr>
            <a:r>
              <a:t>Client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" y="3227832"/>
            <a:ext cx="2304288" cy="2103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20394A"/>
                </a:solidFill>
                <a:latin typeface="Noto Sans CJK TC"/>
              </a:defRPr>
            </a:pPr>
            <a:r>
              <a:t>Train-only 處理 → Local LEM2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810512" y="3520440"/>
            <a:ext cx="4279392" cy="182880"/>
          </a:xfrm>
          <a:prstGeom prst="line">
            <a:avLst/>
          </a:prstGeom>
          <a:ln w="19050">
            <a:solidFill>
              <a:srgbClr val="607482"/>
            </a:solidFill>
            <a:tailEnd type="triangle"/>
          </a:ln>
        </p:spPr>
      </p:cxnSp>
      <p:cxnSp>
        <p:nvCxnSpPr>
          <p:cNvPr id="21" name="Connector 20"/>
          <p:cNvCxnSpPr/>
          <p:nvPr/>
        </p:nvCxnSpPr>
        <p:spPr>
          <a:xfrm>
            <a:off x="4663440" y="2368296"/>
            <a:ext cx="0" cy="164592"/>
          </a:xfrm>
          <a:prstGeom prst="line">
            <a:avLst/>
          </a:prstGeom>
          <a:ln w="19050">
            <a:solidFill>
              <a:srgbClr val="607482"/>
            </a:solidFill>
            <a:tailEnd type="triangle"/>
          </a:ln>
        </p:spPr>
      </p:cxnSp>
      <p:sp>
        <p:nvSpPr>
          <p:cNvPr id="22" name="Rounded Rectangle 21"/>
          <p:cNvSpPr/>
          <p:nvPr/>
        </p:nvSpPr>
        <p:spPr>
          <a:xfrm>
            <a:off x="3355848" y="2560320"/>
            <a:ext cx="2615184" cy="9326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55848" y="2560320"/>
            <a:ext cx="41148" cy="93268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20440" y="2697479"/>
            <a:ext cx="230428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1">
                <a:solidFill>
                  <a:srgbClr val="007F82"/>
                </a:solidFill>
                <a:latin typeface="Noto Sans CJK TC"/>
              </a:defRPr>
            </a:pPr>
            <a:r>
              <a:t>Client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3227832"/>
            <a:ext cx="2304288" cy="2103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20394A"/>
                </a:solidFill>
                <a:latin typeface="Noto Sans CJK TC"/>
              </a:defRPr>
            </a:pPr>
            <a:r>
              <a:t>Train-only 處理 → Local LEM2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663440" y="3520440"/>
            <a:ext cx="1426464" cy="182880"/>
          </a:xfrm>
          <a:prstGeom prst="line">
            <a:avLst/>
          </a:prstGeom>
          <a:ln w="19050">
            <a:solidFill>
              <a:srgbClr val="607482"/>
            </a:solidFill>
            <a:tailEnd type="triangle"/>
          </a:ln>
        </p:spPr>
      </p:cxnSp>
      <p:cxnSp>
        <p:nvCxnSpPr>
          <p:cNvPr id="27" name="Connector 26"/>
          <p:cNvCxnSpPr/>
          <p:nvPr/>
        </p:nvCxnSpPr>
        <p:spPr>
          <a:xfrm>
            <a:off x="7516368" y="2368296"/>
            <a:ext cx="0" cy="164592"/>
          </a:xfrm>
          <a:prstGeom prst="line">
            <a:avLst/>
          </a:prstGeom>
          <a:ln w="19050">
            <a:solidFill>
              <a:srgbClr val="607482"/>
            </a:solidFill>
            <a:tailEnd type="triangle"/>
          </a:ln>
        </p:spPr>
      </p:cxnSp>
      <p:sp>
        <p:nvSpPr>
          <p:cNvPr id="28" name="Rounded Rectangle 27"/>
          <p:cNvSpPr/>
          <p:nvPr/>
        </p:nvSpPr>
        <p:spPr>
          <a:xfrm>
            <a:off x="6208776" y="2560320"/>
            <a:ext cx="2615184" cy="9326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08776" y="2560320"/>
            <a:ext cx="41148" cy="93268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73368" y="2697479"/>
            <a:ext cx="230428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1">
                <a:solidFill>
                  <a:srgbClr val="007F82"/>
                </a:solidFill>
                <a:latin typeface="Noto Sans CJK TC"/>
              </a:defRPr>
            </a:pPr>
            <a:r>
              <a:t>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73368" y="3227832"/>
            <a:ext cx="2304288" cy="2103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20394A"/>
                </a:solidFill>
                <a:latin typeface="Noto Sans CJK TC"/>
              </a:defRPr>
            </a:pPr>
            <a:r>
              <a:t>相同訓練規約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6089904" y="3520440"/>
            <a:ext cx="1426464" cy="182880"/>
          </a:xfrm>
          <a:prstGeom prst="line">
            <a:avLst/>
          </a:prstGeom>
          <a:ln w="19050">
            <a:solidFill>
              <a:srgbClr val="607482"/>
            </a:solidFill>
            <a:tailEnd type="triangle"/>
          </a:ln>
        </p:spPr>
      </p:cxnSp>
      <p:cxnSp>
        <p:nvCxnSpPr>
          <p:cNvPr id="33" name="Connector 32"/>
          <p:cNvCxnSpPr/>
          <p:nvPr/>
        </p:nvCxnSpPr>
        <p:spPr>
          <a:xfrm>
            <a:off x="10369296" y="2368296"/>
            <a:ext cx="0" cy="164592"/>
          </a:xfrm>
          <a:prstGeom prst="line">
            <a:avLst/>
          </a:prstGeom>
          <a:ln w="19050">
            <a:solidFill>
              <a:srgbClr val="607482"/>
            </a:solidFill>
            <a:tailEnd type="triangle"/>
          </a:ln>
        </p:spPr>
      </p:cxnSp>
      <p:sp>
        <p:nvSpPr>
          <p:cNvPr id="34" name="Rounded Rectangle 33"/>
          <p:cNvSpPr/>
          <p:nvPr/>
        </p:nvSpPr>
        <p:spPr>
          <a:xfrm>
            <a:off x="9061704" y="2560320"/>
            <a:ext cx="2615184" cy="93268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061704" y="2560320"/>
            <a:ext cx="41148" cy="93268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26296" y="2697479"/>
            <a:ext cx="230428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1">
                <a:solidFill>
                  <a:srgbClr val="007F82"/>
                </a:solidFill>
                <a:latin typeface="Noto Sans CJK TC"/>
              </a:defRPr>
            </a:pPr>
            <a:r>
              <a:t>Client C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26296" y="3227832"/>
            <a:ext cx="2304288" cy="21031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20394A"/>
                </a:solidFill>
                <a:latin typeface="Noto Sans CJK TC"/>
              </a:defRPr>
            </a:pPr>
            <a:r>
              <a:t>Train-only 處理 → Local LEM2</a:t>
            </a:r>
          </a:p>
        </p:txBody>
      </p:sp>
      <p:cxnSp>
        <p:nvCxnSpPr>
          <p:cNvPr id="38" name="Connector 37"/>
          <p:cNvCxnSpPr/>
          <p:nvPr/>
        </p:nvCxnSpPr>
        <p:spPr>
          <a:xfrm flipH="1">
            <a:off x="6089904" y="3520440"/>
            <a:ext cx="4279392" cy="182880"/>
          </a:xfrm>
          <a:prstGeom prst="line">
            <a:avLst/>
          </a:prstGeom>
          <a:ln w="19050">
            <a:solidFill>
              <a:srgbClr val="607482"/>
            </a:solidFill>
            <a:tailEnd type="triangle"/>
          </a:ln>
        </p:spPr>
      </p:cxnSp>
      <p:sp>
        <p:nvSpPr>
          <p:cNvPr id="39" name="Rounded Rectangle 38"/>
          <p:cNvSpPr/>
          <p:nvPr/>
        </p:nvSpPr>
        <p:spPr>
          <a:xfrm>
            <a:off x="2880360" y="3730752"/>
            <a:ext cx="6428232" cy="548640"/>
          </a:xfrm>
          <a:prstGeom prst="roundRect">
            <a:avLst>
              <a:gd name="adj" fmla="val 12000"/>
            </a:avLst>
          </a:prstGeom>
          <a:solidFill>
            <a:srgbClr val="142D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971800" y="3840480"/>
            <a:ext cx="6245352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FFFFFF"/>
                </a:solidFill>
                <a:latin typeface="Noto Sans CJK TC"/>
              </a:defRPr>
            </a:pPr>
            <a:r>
              <a:t>UNION Aggregation  →  Global Rule Set R_G  →  Conflict Audit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6089904" y="4297680"/>
            <a:ext cx="0" cy="118872"/>
          </a:xfrm>
          <a:prstGeom prst="line">
            <a:avLst/>
          </a:prstGeom>
          <a:ln w="16510">
            <a:solidFill>
              <a:srgbClr val="607482"/>
            </a:solidFill>
          </a:ln>
        </p:spPr>
      </p:cxnSp>
      <p:cxnSp>
        <p:nvCxnSpPr>
          <p:cNvPr id="42" name="Connector 41"/>
          <p:cNvCxnSpPr/>
          <p:nvPr/>
        </p:nvCxnSpPr>
        <p:spPr>
          <a:xfrm>
            <a:off x="1810512" y="4416552"/>
            <a:ext cx="8558784" cy="0"/>
          </a:xfrm>
          <a:prstGeom prst="line">
            <a:avLst/>
          </a:prstGeom>
          <a:ln w="16510">
            <a:solidFill>
              <a:srgbClr val="607482"/>
            </a:solidFill>
          </a:ln>
        </p:spPr>
      </p:cxnSp>
      <p:cxnSp>
        <p:nvCxnSpPr>
          <p:cNvPr id="43" name="Connector 42"/>
          <p:cNvCxnSpPr/>
          <p:nvPr/>
        </p:nvCxnSpPr>
        <p:spPr>
          <a:xfrm>
            <a:off x="1810512" y="4416552"/>
            <a:ext cx="0" cy="118872"/>
          </a:xfrm>
          <a:prstGeom prst="line">
            <a:avLst/>
          </a:prstGeom>
          <a:ln w="19050">
            <a:solidFill>
              <a:srgbClr val="607482"/>
            </a:solidFill>
            <a:tailEnd type="triangle"/>
          </a:ln>
        </p:spPr>
      </p:cxnSp>
      <p:sp>
        <p:nvSpPr>
          <p:cNvPr id="44" name="Rounded Rectangle 43"/>
          <p:cNvSpPr/>
          <p:nvPr/>
        </p:nvSpPr>
        <p:spPr>
          <a:xfrm>
            <a:off x="502920" y="4562856"/>
            <a:ext cx="2615184" cy="7680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4360" y="4681728"/>
            <a:ext cx="243230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1">
                <a:solidFill>
                  <a:srgbClr val="C76332"/>
                </a:solidFill>
                <a:latin typeface="Noto Sans CJK TC"/>
              </a:defRPr>
            </a:pPr>
            <a:r>
              <a:t>FIRST_MATCH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360" y="5047488"/>
            <a:ext cx="243230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20394A"/>
                </a:solidFill>
                <a:latin typeface="Noto Sans CJK TC"/>
              </a:defRPr>
            </a:pPr>
            <a:r>
              <a:t>Order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1810512" y="5340096"/>
            <a:ext cx="0" cy="128016"/>
          </a:xfrm>
          <a:prstGeom prst="line">
            <a:avLst/>
          </a:prstGeom>
          <a:ln w="16510">
            <a:solidFill>
              <a:srgbClr val="607482"/>
            </a:solidFill>
          </a:ln>
        </p:spPr>
      </p:cxnSp>
      <p:cxnSp>
        <p:nvCxnSpPr>
          <p:cNvPr id="48" name="Connector 47"/>
          <p:cNvCxnSpPr/>
          <p:nvPr/>
        </p:nvCxnSpPr>
        <p:spPr>
          <a:xfrm>
            <a:off x="4663440" y="4416552"/>
            <a:ext cx="0" cy="118872"/>
          </a:xfrm>
          <a:prstGeom prst="line">
            <a:avLst/>
          </a:prstGeom>
          <a:ln w="19050">
            <a:solidFill>
              <a:srgbClr val="607482"/>
            </a:solidFill>
            <a:tailEnd type="triangle"/>
          </a:ln>
        </p:spPr>
      </p:cxnSp>
      <p:sp>
        <p:nvSpPr>
          <p:cNvPr id="49" name="Rounded Rectangle 48"/>
          <p:cNvSpPr/>
          <p:nvPr/>
        </p:nvSpPr>
        <p:spPr>
          <a:xfrm>
            <a:off x="3355848" y="4562856"/>
            <a:ext cx="2615184" cy="7680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447288" y="4681728"/>
            <a:ext cx="243230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1">
                <a:solidFill>
                  <a:srgbClr val="2774AE"/>
                </a:solidFill>
                <a:latin typeface="Noto Sans CJK TC"/>
              </a:defRPr>
            </a:pPr>
            <a:r>
              <a:t>SIMPLE_VOTING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447288" y="5047488"/>
            <a:ext cx="243230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20394A"/>
                </a:solidFill>
                <a:latin typeface="Noto Sans CJK TC"/>
              </a:defRPr>
            </a:pPr>
            <a:r>
              <a:t>Rule Count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4663440" y="5340096"/>
            <a:ext cx="0" cy="128016"/>
          </a:xfrm>
          <a:prstGeom prst="line">
            <a:avLst/>
          </a:prstGeom>
          <a:ln w="16510">
            <a:solidFill>
              <a:srgbClr val="607482"/>
            </a:solidFill>
          </a:ln>
        </p:spPr>
      </p:cxnSp>
      <p:cxnSp>
        <p:nvCxnSpPr>
          <p:cNvPr id="53" name="Connector 52"/>
          <p:cNvCxnSpPr/>
          <p:nvPr/>
        </p:nvCxnSpPr>
        <p:spPr>
          <a:xfrm>
            <a:off x="7516368" y="4416552"/>
            <a:ext cx="0" cy="118872"/>
          </a:xfrm>
          <a:prstGeom prst="line">
            <a:avLst/>
          </a:prstGeom>
          <a:ln w="19050">
            <a:solidFill>
              <a:srgbClr val="607482"/>
            </a:solidFill>
            <a:tailEnd type="triangle"/>
          </a:ln>
        </p:spPr>
      </p:cxnSp>
      <p:sp>
        <p:nvSpPr>
          <p:cNvPr id="54" name="Rounded Rectangle 53"/>
          <p:cNvSpPr/>
          <p:nvPr/>
        </p:nvSpPr>
        <p:spPr>
          <a:xfrm>
            <a:off x="6208776" y="4562856"/>
            <a:ext cx="2615184" cy="7680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300216" y="4681728"/>
            <a:ext cx="243230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1">
                <a:solidFill>
                  <a:srgbClr val="007F82"/>
                </a:solidFill>
                <a:latin typeface="Noto Sans CJK TC"/>
              </a:defRPr>
            </a:pPr>
            <a:r>
              <a:t>STANDARD_VOTING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300216" y="5047488"/>
            <a:ext cx="243230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20394A"/>
                </a:solidFill>
                <a:latin typeface="Noto Sans CJK TC"/>
              </a:defRPr>
            </a:pPr>
            <a:r>
              <a:t>Support Sum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7516368" y="5340096"/>
            <a:ext cx="0" cy="128016"/>
          </a:xfrm>
          <a:prstGeom prst="line">
            <a:avLst/>
          </a:prstGeom>
          <a:ln w="16510">
            <a:solidFill>
              <a:srgbClr val="607482"/>
            </a:solidFill>
          </a:ln>
        </p:spPr>
      </p:cxnSp>
      <p:cxnSp>
        <p:nvCxnSpPr>
          <p:cNvPr id="58" name="Connector 57"/>
          <p:cNvCxnSpPr/>
          <p:nvPr/>
        </p:nvCxnSpPr>
        <p:spPr>
          <a:xfrm>
            <a:off x="10369296" y="4416552"/>
            <a:ext cx="0" cy="118872"/>
          </a:xfrm>
          <a:prstGeom prst="line">
            <a:avLst/>
          </a:prstGeom>
          <a:ln w="19050">
            <a:solidFill>
              <a:srgbClr val="607482"/>
            </a:solidFill>
            <a:tailEnd type="triangle"/>
          </a:ln>
        </p:spPr>
      </p:cxnSp>
      <p:sp>
        <p:nvSpPr>
          <p:cNvPr id="59" name="Rounded Rectangle 58"/>
          <p:cNvSpPr/>
          <p:nvPr/>
        </p:nvSpPr>
        <p:spPr>
          <a:xfrm>
            <a:off x="9061704" y="4562856"/>
            <a:ext cx="2615184" cy="7680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153144" y="4681728"/>
            <a:ext cx="243230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1">
                <a:solidFill>
                  <a:srgbClr val="7C6799"/>
                </a:solidFill>
                <a:latin typeface="Noto Sans CJK TC"/>
              </a:defRPr>
            </a:pPr>
            <a:r>
              <a:t>GLOBAL_STRENGTH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9153144" y="5047488"/>
            <a:ext cx="243230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20394A"/>
                </a:solidFill>
                <a:latin typeface="Noto Sans CJK TC"/>
              </a:defRPr>
            </a:pPr>
            <a:r>
              <a:t>Unique Coverage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10369296" y="5340096"/>
            <a:ext cx="0" cy="128016"/>
          </a:xfrm>
          <a:prstGeom prst="line">
            <a:avLst/>
          </a:prstGeom>
          <a:ln w="16510">
            <a:solidFill>
              <a:srgbClr val="607482"/>
            </a:solidFill>
          </a:ln>
        </p:spPr>
      </p:cxnSp>
      <p:cxnSp>
        <p:nvCxnSpPr>
          <p:cNvPr id="63" name="Connector 62"/>
          <p:cNvCxnSpPr/>
          <p:nvPr/>
        </p:nvCxnSpPr>
        <p:spPr>
          <a:xfrm>
            <a:off x="1810512" y="5468112"/>
            <a:ext cx="8558784" cy="0"/>
          </a:xfrm>
          <a:prstGeom prst="line">
            <a:avLst/>
          </a:prstGeom>
          <a:ln w="16510">
            <a:solidFill>
              <a:srgbClr val="607482"/>
            </a:solidFill>
          </a:ln>
        </p:spPr>
      </p:cxnSp>
      <p:cxnSp>
        <p:nvCxnSpPr>
          <p:cNvPr id="64" name="Connector 63"/>
          <p:cNvCxnSpPr/>
          <p:nvPr/>
        </p:nvCxnSpPr>
        <p:spPr>
          <a:xfrm>
            <a:off x="6089904" y="5468112"/>
            <a:ext cx="0" cy="109728"/>
          </a:xfrm>
          <a:prstGeom prst="line">
            <a:avLst/>
          </a:prstGeom>
          <a:ln w="19050">
            <a:solidFill>
              <a:srgbClr val="607482"/>
            </a:solidFill>
            <a:tailEnd type="triangle"/>
          </a:ln>
        </p:spPr>
      </p:cxnSp>
      <p:sp>
        <p:nvSpPr>
          <p:cNvPr id="65" name="Rounded Rectangle 64"/>
          <p:cNvSpPr/>
          <p:nvPr/>
        </p:nvSpPr>
        <p:spPr>
          <a:xfrm>
            <a:off x="3474720" y="5596128"/>
            <a:ext cx="5212080" cy="347472"/>
          </a:xfrm>
          <a:prstGeom prst="roundRect">
            <a:avLst>
              <a:gd name="adj" fmla="val 12000"/>
            </a:avLst>
          </a:prstGeom>
          <a:solidFill>
            <a:srgbClr val="E5F2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3547872" y="5641848"/>
            <a:ext cx="506577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1">
                <a:solidFill>
                  <a:srgbClr val="007F82"/>
                </a:solidFill>
                <a:latin typeface="Noto Sans CJK TC"/>
              </a:defRPr>
            </a:pPr>
            <a:r>
              <a:t>Prediction → Established Evaluation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94360" y="562356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607482"/>
                </a:solidFill>
                <a:latin typeface="Noto Sans CJK TC"/>
              </a:defRPr>
            </a:pPr>
            <a:r>
              <a:t>C：實驗因素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607482"/>
                </a:solidFill>
                <a:latin typeface="Noto Sans CJK TC"/>
              </a:defRPr>
            </a:pPr>
            <a:r>
              <a:t>UNION：聚合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006840" y="5623560"/>
            <a:ext cx="2697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607482"/>
                </a:solidFill>
                <a:latin typeface="Noto Sans CJK TC"/>
              </a:defRPr>
            </a:pPr>
            <a:r>
              <a:t>Prediction Policy：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000" b="0">
                <a:solidFill>
                  <a:srgbClr val="607482"/>
                </a:solidFill>
                <a:latin typeface="Noto Sans CJK TC"/>
              </a:defRPr>
            </a:pPr>
            <a:r>
              <a:t>衝突個案的決策機制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02920" y="6099048"/>
            <a:ext cx="11173968" cy="10972"/>
          </a:xfrm>
          <a:prstGeom prst="rect">
            <a:avLst/>
          </a:prstGeom>
          <a:solidFill>
            <a:srgbClr val="D8E1E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02920" y="6208776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607482"/>
                </a:solidFill>
                <a:latin typeface="Noto Sans CJK TC"/>
              </a:defRPr>
            </a:pPr>
            <a:r>
              <a:t>圖意｜資料、規則學習、UNION、決策與評量是不同層次。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02920" y="6537960"/>
            <a:ext cx="107899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607482"/>
                </a:solidFill>
                <a:latin typeface="Noto Sans CJK TC"/>
              </a:defRPr>
            </a:pPr>
            <a:r>
              <a:t>來源：鎖定研究事實 §§1–5；主流程採 train-only preprocessing / reduct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173968" y="6455664"/>
            <a:ext cx="5029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607482"/>
                </a:solidFill>
                <a:latin typeface="Noto Sans CJK TC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7F8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050" b="1">
                <a:solidFill>
                  <a:srgbClr val="007F82"/>
                </a:solidFill>
                <a:latin typeface="Noto Sans CJK TC"/>
              </a:defRPr>
            </a:pPr>
            <a:r>
              <a:t>RESEARCH MEETING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11556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42D40"/>
                </a:solidFill>
                <a:latin typeface="Noto Sans CJK TC"/>
              </a:defRPr>
            </a:pPr>
            <a:r>
              <a:t>UNION 聚合保留規則身分，與決策層分開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56692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3600" b="1">
                <a:solidFill>
                  <a:srgbClr val="007F82"/>
                </a:solidFill>
                <a:latin typeface="Noto Sans CJK TC"/>
              </a:defRPr>
            </a:pPr>
            <a:r>
              <a:t>R_G = ⋃ R_c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706624"/>
            <a:ext cx="5257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000" b="1">
                <a:solidFill>
                  <a:srgbClr val="142D40"/>
                </a:solidFill>
                <a:latin typeface="Noto Sans CJK TC"/>
              </a:defRPr>
            </a:pPr>
            <a:r>
              <a:t>rule identity = antecedent + decision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3703320"/>
            <a:ext cx="5257800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3703320"/>
            <a:ext cx="41148" cy="155448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3840480"/>
            <a:ext cx="494690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100" b="1">
                <a:solidFill>
                  <a:srgbClr val="007F82"/>
                </a:solidFill>
                <a:latin typeface="Noto Sans CJK TC"/>
              </a:defRPr>
            </a:pPr>
            <a:r>
              <a:t>完整規則身分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" y="4370831"/>
            <a:ext cx="4946904" cy="8321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20394A"/>
                </a:solidFill>
                <a:latin typeface="Noto Sans CJK TC"/>
              </a:defRPr>
            </a:pPr>
            <a:r>
              <a:t>X → A 與 X → B 的 decision 不同，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20394A"/>
                </a:solidFill>
                <a:latin typeface="Noto Sans CJK TC"/>
              </a:defRPr>
            </a:pPr>
            <a:r>
              <a:t>因此是兩條不同規則。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783080"/>
            <a:ext cx="5257800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783080"/>
            <a:ext cx="41148" cy="1417320"/>
          </a:xfrm>
          <a:prstGeom prst="rect">
            <a:avLst/>
          </a:prstGeom>
          <a:solidFill>
            <a:srgbClr val="2774A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65392" y="1920240"/>
            <a:ext cx="494690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100" b="1">
                <a:solidFill>
                  <a:srgbClr val="2774AE"/>
                </a:solidFill>
                <a:latin typeface="Noto Sans CJK TC"/>
              </a:defRPr>
            </a:pPr>
            <a:r>
              <a:t>Aggregation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65392" y="2450591"/>
            <a:ext cx="4946904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900" b="0">
                <a:solidFill>
                  <a:srgbClr val="20394A"/>
                </a:solidFill>
                <a:latin typeface="Noto Sans CJK TC"/>
              </a:defRPr>
            </a:pPr>
            <a:r>
              <a:t>收集、合併、依完整身分去重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006840" y="3264408"/>
            <a:ext cx="0" cy="374904"/>
          </a:xfrm>
          <a:prstGeom prst="line">
            <a:avLst/>
          </a:prstGeom>
          <a:ln w="19050">
            <a:solidFill>
              <a:srgbClr val="607482"/>
            </a:solidFill>
            <a:tailEnd type="triangle"/>
          </a:ln>
        </p:spPr>
      </p:cxnSp>
      <p:sp>
        <p:nvSpPr>
          <p:cNvPr id="16" name="Rounded Rectangle 15"/>
          <p:cNvSpPr/>
          <p:nvPr/>
        </p:nvSpPr>
        <p:spPr>
          <a:xfrm>
            <a:off x="6400800" y="3730752"/>
            <a:ext cx="5257800" cy="1554480"/>
          </a:xfrm>
          <a:prstGeom prst="roundRect">
            <a:avLst>
              <a:gd name="adj" fmla="val 12000"/>
            </a:avLst>
          </a:prstGeom>
          <a:solidFill>
            <a:srgbClr val="F8EC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00800" y="3730752"/>
            <a:ext cx="41148" cy="1554480"/>
          </a:xfrm>
          <a:prstGeom prst="rect">
            <a:avLst/>
          </a:prstGeom>
          <a:solidFill>
            <a:srgbClr val="C763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65392" y="3867912"/>
            <a:ext cx="494690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100" b="1">
                <a:solidFill>
                  <a:srgbClr val="C76332"/>
                </a:solidFill>
                <a:latin typeface="Noto Sans CJK TC"/>
              </a:defRPr>
            </a:pPr>
            <a:r>
              <a:t>Prediction Policy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5392" y="4398264"/>
            <a:ext cx="4946904" cy="8321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20394A"/>
                </a:solidFill>
                <a:latin typeface="Noto Sans CJK TC"/>
              </a:defRPr>
            </a:pPr>
            <a:r>
              <a:t>對 matching rules 的證據做決策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20394A"/>
                </a:solidFill>
                <a:latin typeface="Noto Sans CJK TC"/>
              </a:defRPr>
            </a:pPr>
            <a:r>
              <a:t>再輸出 final class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099048"/>
            <a:ext cx="11173968" cy="10972"/>
          </a:xfrm>
          <a:prstGeom prst="rect">
            <a:avLst/>
          </a:prstGeom>
          <a:solidFill>
            <a:srgbClr val="D8E1E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6208776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607482"/>
                </a:solidFill>
                <a:latin typeface="Noto Sans CJK TC"/>
              </a:defRPr>
            </a:pPr>
            <a:r>
              <a:t>圖意｜完全相同的 antecedent 仍可能保留不同 decision；UNION 不會自動消除衝突。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37960"/>
            <a:ext cx="107899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607482"/>
                </a:solidFill>
                <a:latin typeface="Noto Sans CJK TC"/>
              </a:defRPr>
            </a:pPr>
            <a:r>
              <a:t>來源：鎖定研究事實 §2；來源核對版 §§4–5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73968" y="6455664"/>
            <a:ext cx="5029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607482"/>
                </a:solidFill>
                <a:latin typeface="Noto Sans CJK TC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7F8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050" b="1">
                <a:solidFill>
                  <a:srgbClr val="007F82"/>
                </a:solidFill>
                <a:latin typeface="Noto Sans CJK TC"/>
              </a:defRPr>
            </a:pPr>
            <a:r>
              <a:t>RESEARCH MEETING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11556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42D40"/>
                </a:solidFill>
                <a:latin typeface="Noto Sans CJK TC"/>
              </a:defRPr>
            </a:pPr>
            <a:r>
              <a:t>主要衝突定義：同一 x 命中多個 decisions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691640"/>
            <a:ext cx="3703320" cy="585216"/>
          </a:xfrm>
          <a:prstGeom prst="roundRect">
            <a:avLst>
              <a:gd name="adj" fmla="val 12000"/>
            </a:avLst>
          </a:prstGeom>
          <a:solidFill>
            <a:srgbClr val="142D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819656"/>
            <a:ext cx="347472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FFFFFF"/>
                </a:solidFill>
                <a:latin typeface="Noto Sans CJK TC"/>
              </a:defRPr>
            </a:pPr>
            <a:r>
              <a:t>Test x → Matching rules M(x)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395728" y="2331720"/>
            <a:ext cx="0" cy="347472"/>
          </a:xfrm>
          <a:prstGeom prst="line">
            <a:avLst/>
          </a:prstGeom>
          <a:ln w="19050">
            <a:solidFill>
              <a:srgbClr val="607482"/>
            </a:solidFill>
            <a:tailEnd type="triangle"/>
          </a:ln>
        </p:spPr>
      </p:cxnSp>
      <p:sp>
        <p:nvSpPr>
          <p:cNvPr id="8" name="Rounded Rectangle 7"/>
          <p:cNvSpPr/>
          <p:nvPr/>
        </p:nvSpPr>
        <p:spPr>
          <a:xfrm>
            <a:off x="548640" y="2715768"/>
            <a:ext cx="3703320" cy="768096"/>
          </a:xfrm>
          <a:prstGeom prst="roundRect">
            <a:avLst>
              <a:gd name="adj" fmla="val 12000"/>
            </a:avLst>
          </a:prstGeom>
          <a:solidFill>
            <a:srgbClr val="E5F2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907792"/>
            <a:ext cx="34290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000" b="1">
                <a:solidFill>
                  <a:srgbClr val="007F82"/>
                </a:solidFill>
                <a:latin typeface="Noto Sans CJK TC"/>
              </a:defRPr>
            </a:pPr>
            <a:r>
              <a:t>Distinct decisions 有幾種？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4325112" y="2066543"/>
            <a:ext cx="521208" cy="1024129"/>
          </a:xfrm>
          <a:prstGeom prst="line">
            <a:avLst/>
          </a:prstGeom>
          <a:ln w="19050">
            <a:solidFill>
              <a:srgbClr val="607482"/>
            </a:solidFill>
            <a:tailEnd type="triangle"/>
          </a:ln>
        </p:spPr>
      </p:cxnSp>
      <p:sp>
        <p:nvSpPr>
          <p:cNvPr id="11" name="Rounded Rectangle 10"/>
          <p:cNvSpPr/>
          <p:nvPr/>
        </p:nvSpPr>
        <p:spPr>
          <a:xfrm>
            <a:off x="4937760" y="1737360"/>
            <a:ext cx="6355080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20640" y="1892807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300" b="1">
                <a:solidFill>
                  <a:srgbClr val="607482"/>
                </a:solidFill>
                <a:latin typeface="Noto Sans CJK TC"/>
              </a:defRPr>
            </a:pPr>
            <a: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0" y="1920240"/>
            <a:ext cx="52578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607482"/>
                </a:solidFill>
                <a:latin typeface="Noto Sans CJK TC"/>
              </a:defRPr>
            </a:pPr>
            <a:r>
              <a:t>Default class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325112" y="3090672"/>
            <a:ext cx="521208" cy="109727"/>
          </a:xfrm>
          <a:prstGeom prst="line">
            <a:avLst/>
          </a:prstGeom>
          <a:ln w="19050">
            <a:solidFill>
              <a:srgbClr val="007F82"/>
            </a:solidFill>
            <a:tailEnd type="triangle"/>
          </a:ln>
        </p:spPr>
      </p:cxnSp>
      <p:sp>
        <p:nvSpPr>
          <p:cNvPr id="15" name="Rounded Rectangle 14"/>
          <p:cNvSpPr/>
          <p:nvPr/>
        </p:nvSpPr>
        <p:spPr>
          <a:xfrm>
            <a:off x="4937760" y="2871215"/>
            <a:ext cx="6355080" cy="7498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0" y="3026663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300" b="1">
                <a:solidFill>
                  <a:srgbClr val="007F82"/>
                </a:solidFill>
                <a:latin typeface="Noto Sans CJK TC"/>
              </a:defRPr>
            </a:pPr>
            <a: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52160" y="3054096"/>
            <a:ext cx="52578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007F82"/>
                </a:solidFill>
                <a:latin typeface="Noto Sans CJK TC"/>
              </a:defRPr>
            </a:pPr>
            <a:r>
              <a:t>Normal rule prediction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325112" y="3090672"/>
            <a:ext cx="521208" cy="1243584"/>
          </a:xfrm>
          <a:prstGeom prst="line">
            <a:avLst/>
          </a:prstGeom>
          <a:ln w="19050">
            <a:solidFill>
              <a:srgbClr val="C76332"/>
            </a:solidFill>
            <a:tailEnd type="triangle"/>
          </a:ln>
        </p:spPr>
      </p:cxnSp>
      <p:sp>
        <p:nvSpPr>
          <p:cNvPr id="19" name="Rounded Rectangle 18"/>
          <p:cNvSpPr/>
          <p:nvPr/>
        </p:nvSpPr>
        <p:spPr>
          <a:xfrm>
            <a:off x="4937760" y="4005072"/>
            <a:ext cx="6355080" cy="1188720"/>
          </a:xfrm>
          <a:prstGeom prst="roundRect">
            <a:avLst>
              <a:gd name="adj" fmla="val 12000"/>
            </a:avLst>
          </a:prstGeom>
          <a:solidFill>
            <a:srgbClr val="F8EC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0" y="4160520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300" b="1">
                <a:solidFill>
                  <a:srgbClr val="C76332"/>
                </a:solidFill>
                <a:latin typeface="Noto Sans CJK TC"/>
              </a:defRPr>
            </a:pPr>
            <a:r>
              <a:t>&gt; 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4187952"/>
            <a:ext cx="525780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1">
                <a:solidFill>
                  <a:srgbClr val="C76332"/>
                </a:solidFill>
                <a:latin typeface="Noto Sans CJK TC"/>
              </a:defRPr>
            </a:pPr>
            <a:r>
              <a:t>Inference conflict → Policy → Final class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52160" y="4626864"/>
            <a:ext cx="5257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20394A"/>
                </a:solidFill>
                <a:latin typeface="Noto Sans CJK TC"/>
              </a:defRPr>
            </a:pPr>
            <a:r>
              <a:t>FIRST_MATCH · SIMPLE_VOTING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20394A"/>
                </a:solidFill>
                <a:latin typeface="Noto Sans CJK TC"/>
              </a:defRPr>
            </a:pPr>
            <a:r>
              <a:t>STANDARD_VOTING · GLOBAL_STRENGTH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950208"/>
            <a:ext cx="370332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3950208"/>
            <a:ext cx="41148" cy="1600200"/>
          </a:xfrm>
          <a:prstGeom prst="rect">
            <a:avLst/>
          </a:prstGeom>
          <a:solidFill>
            <a:srgbClr val="2774A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4087368"/>
            <a:ext cx="339242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700" b="1">
                <a:solidFill>
                  <a:srgbClr val="2774AE"/>
                </a:solidFill>
                <a:latin typeface="Noto Sans CJK TC"/>
              </a:defRPr>
            </a:pPr>
            <a:r>
              <a:t>Supplementary audit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617720"/>
            <a:ext cx="3392424" cy="877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500" b="0">
                <a:solidFill>
                  <a:srgbClr val="20394A"/>
                </a:solidFill>
                <a:latin typeface="Noto Sans CJK TC"/>
              </a:defRPr>
            </a:pPr>
            <a:r>
              <a:t>Exact conflict：相同 antecedent、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500" b="0">
                <a:solidFill>
                  <a:srgbClr val="20394A"/>
                </a:solidFill>
                <a:latin typeface="Noto Sans CJK TC"/>
              </a:defRPr>
            </a:pPr>
            <a:r>
              <a:t>不同 decision；僅作結構稽核。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937760" y="5330952"/>
            <a:ext cx="6355080" cy="530352"/>
          </a:xfrm>
          <a:prstGeom prst="roundRect">
            <a:avLst>
              <a:gd name="adj" fmla="val 12000"/>
            </a:avLst>
          </a:prstGeom>
          <a:solidFill>
            <a:srgbClr val="E5F2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20640" y="5385816"/>
            <a:ext cx="59436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0394A"/>
                </a:solidFill>
                <a:latin typeface="Noto Sans CJK TC"/>
              </a:defRPr>
            </a:pPr>
            <a:r>
              <a:t>A = 1 → Yes     /     A = 1, B = 2 → No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0">
                <a:solidFill>
                  <a:srgbClr val="20394A"/>
                </a:solidFill>
                <a:latin typeface="Noto Sans CJK TC"/>
              </a:defRPr>
            </a:pPr>
            <a:r>
              <a:t>x = (A = 1, B = 2)：非 exact，但有 inference conflict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6099048"/>
            <a:ext cx="11173968" cy="10972"/>
          </a:xfrm>
          <a:prstGeom prst="rect">
            <a:avLst/>
          </a:prstGeom>
          <a:solidFill>
            <a:srgbClr val="D8E1E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6208776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607482"/>
                </a:solidFill>
                <a:latin typeface="Noto Sans CJK TC"/>
              </a:defRPr>
            </a:pPr>
            <a:r>
              <a:t>圖意｜Inference conflict 包含非完全相同條件的規則重疊。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537960"/>
            <a:ext cx="107899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607482"/>
                </a:solidFill>
                <a:latin typeface="Noto Sans CJK TC"/>
              </a:defRPr>
            </a:pPr>
            <a:r>
              <a:t>來源：鎖定研究事實 §3；Lindgren (2004)；Lindgren &amp; Boström (2002)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73968" y="6455664"/>
            <a:ext cx="5029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607482"/>
                </a:solidFill>
                <a:latin typeface="Noto Sans CJK TC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7F8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050" b="1">
                <a:solidFill>
                  <a:srgbClr val="007F82"/>
                </a:solidFill>
                <a:latin typeface="Noto Sans CJK TC"/>
              </a:defRPr>
            </a:pPr>
            <a:r>
              <a:t>RESEARCH MEETING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11556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42D40"/>
                </a:solidFill>
                <a:latin typeface="Noto Sans CJK TC"/>
              </a:defRPr>
            </a:pPr>
            <a:r>
              <a:t>C 改變資料碎片化，衝突工作量可能隨之改變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93392"/>
            <a:ext cx="2103120" cy="17556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993392"/>
            <a:ext cx="41148" cy="175564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130552"/>
            <a:ext cx="179222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3200" b="1">
                <a:solidFill>
                  <a:srgbClr val="007F82"/>
                </a:solidFill>
                <a:latin typeface="Noto Sans CJK TC"/>
              </a:defRPr>
            </a:pPr>
            <a:r>
              <a:t>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660904"/>
            <a:ext cx="1792223" cy="10332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20394A"/>
                </a:solidFill>
                <a:latin typeface="Noto Sans CJK TC"/>
              </a:defRPr>
            </a:pPr>
            <a:r>
              <a:t>Client count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679192" y="2880360"/>
            <a:ext cx="164592" cy="0"/>
          </a:xfrm>
          <a:prstGeom prst="line">
            <a:avLst/>
          </a:prstGeom>
          <a:ln w="19050">
            <a:solidFill>
              <a:srgbClr val="607482"/>
            </a:solidFill>
            <a:tailEnd type="triangle"/>
          </a:ln>
        </p:spPr>
      </p:cxnSp>
      <p:sp>
        <p:nvSpPr>
          <p:cNvPr id="10" name="Rounded Rectangle 9"/>
          <p:cNvSpPr/>
          <p:nvPr/>
        </p:nvSpPr>
        <p:spPr>
          <a:xfrm>
            <a:off x="2880360" y="1993392"/>
            <a:ext cx="2103120" cy="17556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880360" y="1993392"/>
            <a:ext cx="41148" cy="175564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44952" y="2130552"/>
            <a:ext cx="179222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007F82"/>
                </a:solidFill>
                <a:latin typeface="Noto Sans CJK TC"/>
              </a:defRPr>
            </a:pPr>
            <a:r>
              <a:t>Local fragmentation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4952" y="2660904"/>
            <a:ext cx="1792223" cy="10332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20394A"/>
                </a:solidFill>
                <a:latin typeface="Noto Sans CJK TC"/>
              </a:defRPr>
            </a:pPr>
            <a:r>
              <a:t>各 client 的樣本組成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010912" y="2880360"/>
            <a:ext cx="164592" cy="0"/>
          </a:xfrm>
          <a:prstGeom prst="line">
            <a:avLst/>
          </a:prstGeom>
          <a:ln w="19050">
            <a:solidFill>
              <a:srgbClr val="607482"/>
            </a:solidFill>
            <a:tailEnd type="triangle"/>
          </a:ln>
        </p:spPr>
      </p:cxnSp>
      <p:sp>
        <p:nvSpPr>
          <p:cNvPr id="15" name="Rounded Rectangle 14"/>
          <p:cNvSpPr/>
          <p:nvPr/>
        </p:nvSpPr>
        <p:spPr>
          <a:xfrm>
            <a:off x="5212079" y="1993392"/>
            <a:ext cx="2103120" cy="17556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212079" y="1993392"/>
            <a:ext cx="41148" cy="175564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76671" y="2130552"/>
            <a:ext cx="179222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007F82"/>
                </a:solidFill>
                <a:latin typeface="Noto Sans CJK TC"/>
              </a:defRPr>
            </a:pPr>
            <a:r>
              <a:t>Rule structure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76671" y="2660904"/>
            <a:ext cx="1792223" cy="10332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20394A"/>
                </a:solidFill>
                <a:latin typeface="Noto Sans CJK TC"/>
              </a:defRPr>
            </a:pPr>
            <a:r>
              <a:t>條件與規則集合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342631" y="2880360"/>
            <a:ext cx="164592" cy="0"/>
          </a:xfrm>
          <a:prstGeom prst="line">
            <a:avLst/>
          </a:prstGeom>
          <a:ln w="19050">
            <a:solidFill>
              <a:srgbClr val="607482"/>
            </a:solidFill>
            <a:tailEnd type="triangle"/>
          </a:ln>
        </p:spPr>
      </p:cxnSp>
      <p:sp>
        <p:nvSpPr>
          <p:cNvPr id="20" name="Rounded Rectangle 19"/>
          <p:cNvSpPr/>
          <p:nvPr/>
        </p:nvSpPr>
        <p:spPr>
          <a:xfrm>
            <a:off x="7543800" y="1993392"/>
            <a:ext cx="2103120" cy="17556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543800" y="1993392"/>
            <a:ext cx="41148" cy="1755648"/>
          </a:xfrm>
          <a:prstGeom prst="rect">
            <a:avLst/>
          </a:prstGeom>
          <a:solidFill>
            <a:srgbClr val="C763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08392" y="2130552"/>
            <a:ext cx="179222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C76332"/>
                </a:solidFill>
                <a:latin typeface="Noto Sans CJK TC"/>
              </a:defRPr>
            </a:pPr>
            <a:r>
              <a:t>Global overlap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08392" y="2660904"/>
            <a:ext cx="1792223" cy="10332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20394A"/>
                </a:solidFill>
                <a:latin typeface="Noto Sans CJK TC"/>
              </a:defRPr>
            </a:pPr>
            <a:r>
              <a:t>規則重疊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674352" y="2880360"/>
            <a:ext cx="164592" cy="0"/>
          </a:xfrm>
          <a:prstGeom prst="line">
            <a:avLst/>
          </a:prstGeom>
          <a:ln w="19050">
            <a:solidFill>
              <a:srgbClr val="607482"/>
            </a:solidFill>
            <a:tailEnd type="triangle"/>
          </a:ln>
        </p:spPr>
      </p:cxnSp>
      <p:sp>
        <p:nvSpPr>
          <p:cNvPr id="25" name="Rounded Rectangle 24"/>
          <p:cNvSpPr/>
          <p:nvPr/>
        </p:nvSpPr>
        <p:spPr>
          <a:xfrm>
            <a:off x="9875519" y="1993392"/>
            <a:ext cx="2103120" cy="17556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875519" y="1993392"/>
            <a:ext cx="41148" cy="1755648"/>
          </a:xfrm>
          <a:prstGeom prst="rect">
            <a:avLst/>
          </a:prstGeom>
          <a:solidFill>
            <a:srgbClr val="C763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40111" y="2130552"/>
            <a:ext cx="1792223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C76332"/>
                </a:solidFill>
                <a:latin typeface="Noto Sans CJK TC"/>
              </a:defRPr>
            </a:pPr>
            <a:r>
              <a:t>Conflict workload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40111" y="2660904"/>
            <a:ext cx="1792223" cy="103327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20394A"/>
                </a:solidFill>
                <a:latin typeface="Noto Sans CJK TC"/>
              </a:defRPr>
            </a:pPr>
            <a:r>
              <a:t>推論衝突比例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" y="4297680"/>
            <a:ext cx="6858000" cy="1143000"/>
          </a:xfrm>
          <a:prstGeom prst="roundRect">
            <a:avLst>
              <a:gd name="adj" fmla="val 12000"/>
            </a:avLst>
          </a:prstGeom>
          <a:solidFill>
            <a:srgbClr val="F8EC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4297680"/>
            <a:ext cx="41148" cy="1143000"/>
          </a:xfrm>
          <a:prstGeom prst="rect">
            <a:avLst/>
          </a:prstGeom>
          <a:solidFill>
            <a:srgbClr val="C763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13232" y="4434840"/>
            <a:ext cx="654710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000" b="1">
                <a:solidFill>
                  <a:srgbClr val="C76332"/>
                </a:solidFill>
                <a:latin typeface="Noto Sans CJK TC"/>
              </a:defRPr>
            </a:pPr>
            <a:r>
              <a:t>目前是研究假設／觀察鏈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" y="4965192"/>
            <a:ext cx="6547104" cy="42062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20394A"/>
                </a:solidFill>
                <a:latin typeface="Noto Sans CJK TC"/>
              </a:defRPr>
            </a:pPr>
            <a:r>
              <a:t>不推論 C 增加時，conflict 必定逐步、單調增加。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18120" y="4407408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900" b="1">
                <a:solidFill>
                  <a:srgbClr val="142D40"/>
                </a:solidFill>
                <a:latin typeface="Noto Sans CJK TC"/>
              </a:defRPr>
            </a:pPr>
            <a:r>
              <a:t>固定 split、partition 規約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900" b="1">
                <a:solidFill>
                  <a:srgbClr val="142D40"/>
                </a:solidFill>
                <a:latin typeface="Noto Sans CJK TC"/>
              </a:defRPr>
            </a:pPr>
            <a:r>
              <a:t>再比較 C = 2, 3, 4, 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6099048"/>
            <a:ext cx="11173968" cy="10972"/>
          </a:xfrm>
          <a:prstGeom prst="rect">
            <a:avLst/>
          </a:prstGeom>
          <a:solidFill>
            <a:srgbClr val="D8E1E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6208776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607482"/>
                </a:solidFill>
                <a:latin typeface="Noto Sans CJK TC"/>
              </a:defRPr>
            </a:pPr>
            <a:r>
              <a:t>圖意｜這是一條待重複實驗檢驗的機制鏈，不是單調性定理。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537960"/>
            <a:ext cx="107899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607482"/>
                </a:solidFill>
                <a:latin typeface="Noto Sans CJK TC"/>
              </a:defRPr>
            </a:pPr>
            <a:r>
              <a:t>來源：鎖定研究事實 §§1, 7；不提供未附原始數據的 conflict 趨勢圖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173968" y="6455664"/>
            <a:ext cx="5029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607482"/>
                </a:solidFill>
                <a:latin typeface="Noto Sans CJK TC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7F8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050" b="1">
                <a:solidFill>
                  <a:srgbClr val="007F82"/>
                </a:solidFill>
                <a:latin typeface="Noto Sans CJK TC"/>
              </a:defRPr>
            </a:pPr>
            <a:r>
              <a:t>RESEARCH MEETING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11556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42D40"/>
                </a:solidFill>
                <a:latin typeface="Noto Sans CJK TC"/>
              </a:defRPr>
            </a:pPr>
            <a:r>
              <a:t>四種 Prediction Policies：四種證據使用方式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19656"/>
            <a:ext cx="2615184" cy="35753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819656"/>
            <a:ext cx="2615184" cy="73152"/>
          </a:xfrm>
          <a:prstGeom prst="rect">
            <a:avLst/>
          </a:prstGeom>
          <a:solidFill>
            <a:srgbClr val="C763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" y="2084831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400" b="1">
                <a:solidFill>
                  <a:srgbClr val="C76332"/>
                </a:solidFill>
                <a:latin typeface="Noto Sans CJK TC"/>
              </a:defRPr>
            </a:pPr>
            <a:r>
              <a:t>FIRST_MATCH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" y="2761488"/>
            <a:ext cx="2331720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300" b="1">
                <a:solidFill>
                  <a:srgbClr val="142D40"/>
                </a:solidFill>
                <a:latin typeface="Noto Sans CJK TC"/>
              </a:defRPr>
            </a:pPr>
            <a:r>
              <a:t>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" y="3895344"/>
            <a:ext cx="23317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20394A"/>
                </a:solidFill>
                <a:latin typeface="Noto Sans CJK TC"/>
              </a:defRPr>
            </a:pPr>
            <a:r>
              <a:t>第一條 matching rule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" y="4800600"/>
            <a:ext cx="233172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607482"/>
                </a:solidFill>
                <a:latin typeface="Noto Sans CJK TC"/>
              </a:defRPr>
            </a:pPr>
            <a:r>
              <a:t>順序式 baseline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55848" y="1819656"/>
            <a:ext cx="2615184" cy="35753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55848" y="1819656"/>
            <a:ext cx="2615184" cy="73152"/>
          </a:xfrm>
          <a:prstGeom prst="rect">
            <a:avLst/>
          </a:prstGeom>
          <a:solidFill>
            <a:srgbClr val="2774A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02152" y="2084831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400" b="1">
                <a:solidFill>
                  <a:srgbClr val="2774AE"/>
                </a:solidFill>
                <a:latin typeface="Noto Sans CJK TC"/>
              </a:defRPr>
            </a:pPr>
            <a:r>
              <a:t>SIMPLE_VOTING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2152" y="2761488"/>
            <a:ext cx="2331720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300" b="1">
                <a:solidFill>
                  <a:srgbClr val="142D40"/>
                </a:solidFill>
                <a:latin typeface="Noto Sans CJK TC"/>
              </a:defRPr>
            </a:pPr>
            <a:r>
              <a:t>Rule Count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02152" y="3895344"/>
            <a:ext cx="23317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20394A"/>
                </a:solidFill>
                <a:latin typeface="Noto Sans CJK TC"/>
              </a:defRPr>
            </a:pPr>
            <a:r>
              <a:t>每條 matching rule 一票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2152" y="4800600"/>
            <a:ext cx="233172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607482"/>
                </a:solidFill>
                <a:latin typeface="Noto Sans CJK TC"/>
              </a:defRPr>
            </a:pPr>
            <a:r>
              <a:t>既有 voting 原理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8776" y="1819656"/>
            <a:ext cx="2615184" cy="35753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8776" y="1819656"/>
            <a:ext cx="2615184" cy="73152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80" y="2084831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400" b="1">
                <a:solidFill>
                  <a:srgbClr val="007F82"/>
                </a:solidFill>
                <a:latin typeface="Noto Sans CJK TC"/>
              </a:defRPr>
            </a:pPr>
            <a:r>
              <a:t>STANDARD_VOTING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2761488"/>
            <a:ext cx="2331720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300" b="1">
                <a:solidFill>
                  <a:srgbClr val="142D40"/>
                </a:solidFill>
                <a:latin typeface="Noto Sans CJK TC"/>
              </a:defRPr>
            </a:pPr>
            <a:r>
              <a:t>Rule Support Sum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55080" y="3895344"/>
            <a:ext cx="23317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20394A"/>
                </a:solidFill>
                <a:latin typeface="Noto Sans CJK TC"/>
              </a:defRPr>
            </a:pPr>
            <a:r>
              <a:t>逐條累加 rule support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4800600"/>
            <a:ext cx="233172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607482"/>
                </a:solidFill>
                <a:latin typeface="Noto Sans CJK TC"/>
              </a:defRPr>
            </a:pPr>
            <a:r>
              <a:t>Federated weight adaptation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61704" y="1819656"/>
            <a:ext cx="2615184" cy="357530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61704" y="1819656"/>
            <a:ext cx="2615184" cy="73152"/>
          </a:xfrm>
          <a:prstGeom prst="rect">
            <a:avLst/>
          </a:prstGeom>
          <a:solidFill>
            <a:srgbClr val="7C679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08008" y="2084831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400" b="1">
                <a:solidFill>
                  <a:srgbClr val="7C6799"/>
                </a:solidFill>
                <a:latin typeface="Noto Sans CJK TC"/>
              </a:defRPr>
            </a:pPr>
            <a:r>
              <a:t>GLOBAL_STRENGTH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08008" y="2761488"/>
            <a:ext cx="2331720" cy="859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300" b="1">
                <a:solidFill>
                  <a:srgbClr val="142D40"/>
                </a:solidFill>
                <a:latin typeface="Noto Sans CJK TC"/>
              </a:defRPr>
            </a:pPr>
            <a:r>
              <a:t>Unique Class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300" b="1">
                <a:solidFill>
                  <a:srgbClr val="142D40"/>
                </a:solidFill>
                <a:latin typeface="Noto Sans CJK TC"/>
              </a:defRPr>
            </a:pPr>
            <a:r>
              <a:t>Coverage Ratio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08008" y="3895344"/>
            <a:ext cx="233172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20394A"/>
                </a:solidFill>
                <a:latin typeface="Noto Sans CJK TC"/>
              </a:defRPr>
            </a:pPr>
            <a:r>
              <a:t>support 聯集／class size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08008" y="4800600"/>
            <a:ext cx="233172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607482"/>
                </a:solidFill>
                <a:latin typeface="Noto Sans CJK TC"/>
              </a:defRPr>
            </a:pPr>
            <a:r>
              <a:t>Federated support context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6099048"/>
            <a:ext cx="11173968" cy="10972"/>
          </a:xfrm>
          <a:prstGeom prst="rect">
            <a:avLst/>
          </a:prstGeom>
          <a:solidFill>
            <a:srgbClr val="D8E1E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6208776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607482"/>
                </a:solidFill>
                <a:latin typeface="Noto Sans CJK TC"/>
              </a:defRPr>
            </a:pPr>
            <a:r>
              <a:t>圖意｜共同名稱是預測策略；四種機制皆有既有方法來源。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537960"/>
            <a:ext cx="107899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607482"/>
                </a:solidFill>
                <a:latin typeface="Noto Sans CJK TC"/>
              </a:defRPr>
            </a:pPr>
            <a:r>
              <a:t>來源：來源核對版 §§1, 6；Woźniak 2026；Lazo-Cortés 2020；Bazan 2000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173968" y="6455664"/>
            <a:ext cx="5029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607482"/>
                </a:solidFill>
                <a:latin typeface="Noto Sans CJK TC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7F8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050" b="1">
                <a:solidFill>
                  <a:srgbClr val="007F82"/>
                </a:solidFill>
                <a:latin typeface="Noto Sans CJK TC"/>
              </a:defRPr>
            </a:pPr>
            <a:r>
              <a:t>RESEARCH MEETING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11556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42D40"/>
                </a:solidFill>
                <a:latin typeface="Noto Sans CJK TC"/>
              </a:defRPr>
            </a:pPr>
            <a:r>
              <a:t>FIRST_MATCH：第一條命中規則決定預測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10512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500" b="1">
                <a:solidFill>
                  <a:srgbClr val="142D40"/>
                </a:solidFill>
                <a:latin typeface="Noto Sans CJK TC"/>
              </a:defRPr>
            </a:pPr>
            <a:r>
              <a:t>k*(x) = min { k : x matches r_k }     →     ŷ(x) = d of r_k*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770632"/>
            <a:ext cx="1371600" cy="777240"/>
          </a:xfrm>
          <a:prstGeom prst="roundRect">
            <a:avLst>
              <a:gd name="adj" fmla="val 12000"/>
            </a:avLst>
          </a:prstGeom>
          <a:solidFill>
            <a:srgbClr val="F8EC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953512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700" b="1">
                <a:solidFill>
                  <a:srgbClr val="C76332"/>
                </a:solidFill>
                <a:latin typeface="Noto Sans CJK TC"/>
              </a:defRPr>
            </a:pPr>
            <a:r>
              <a:t>Order 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48840" y="2770632"/>
            <a:ext cx="7013448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31720" y="2889503"/>
            <a:ext cx="6629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20394A"/>
                </a:solidFill>
                <a:latin typeface="Noto Sans CJK TC"/>
              </a:defRPr>
            </a:pPr>
            <a:r>
              <a:t>r₁：A = 1 → Yes     ｜     r₂：A = 1, B = 2 → No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281160" y="3163824"/>
            <a:ext cx="502920" cy="0"/>
          </a:xfrm>
          <a:prstGeom prst="line">
            <a:avLst/>
          </a:prstGeom>
          <a:ln w="19050">
            <a:solidFill>
              <a:srgbClr val="607482"/>
            </a:solidFill>
            <a:tailEnd type="triangle"/>
          </a:ln>
        </p:spPr>
      </p:cxnSp>
      <p:sp>
        <p:nvSpPr>
          <p:cNvPr id="11" name="Rounded Rectangle 10"/>
          <p:cNvSpPr/>
          <p:nvPr/>
        </p:nvSpPr>
        <p:spPr>
          <a:xfrm>
            <a:off x="9921240" y="2770632"/>
            <a:ext cx="1664208" cy="777240"/>
          </a:xfrm>
          <a:prstGeom prst="roundRect">
            <a:avLst>
              <a:gd name="adj" fmla="val 12000"/>
            </a:avLst>
          </a:prstGeom>
          <a:solidFill>
            <a:srgbClr val="C763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12680" y="2926079"/>
            <a:ext cx="148132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300" b="1">
                <a:solidFill>
                  <a:srgbClr val="FFFFFF"/>
                </a:solidFill>
                <a:latin typeface="Noto Sans CJK TC"/>
              </a:defRPr>
            </a:pPr>
            <a:r>
              <a:t>Yes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941063"/>
            <a:ext cx="1371600" cy="777240"/>
          </a:xfrm>
          <a:prstGeom prst="roundRect">
            <a:avLst>
              <a:gd name="adj" fmla="val 12000"/>
            </a:avLst>
          </a:prstGeom>
          <a:solidFill>
            <a:srgbClr val="F8EC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4123944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700" b="1">
                <a:solidFill>
                  <a:srgbClr val="C76332"/>
                </a:solidFill>
                <a:latin typeface="Noto Sans CJK TC"/>
              </a:defRPr>
            </a:pPr>
            <a:r>
              <a:t>Order 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148840" y="3941063"/>
            <a:ext cx="7013448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331720" y="4059935"/>
            <a:ext cx="66294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20394A"/>
                </a:solidFill>
                <a:latin typeface="Noto Sans CJK TC"/>
              </a:defRPr>
            </a:pPr>
            <a:r>
              <a:t>r₂：A = 1, B = 2 → No     ｜     r₁：A = 1 → Yes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281160" y="4334255"/>
            <a:ext cx="502920" cy="0"/>
          </a:xfrm>
          <a:prstGeom prst="line">
            <a:avLst/>
          </a:prstGeom>
          <a:ln w="19050">
            <a:solidFill>
              <a:srgbClr val="607482"/>
            </a:solidFill>
            <a:tailEnd type="triangle"/>
          </a:ln>
        </p:spPr>
      </p:cxnSp>
      <p:sp>
        <p:nvSpPr>
          <p:cNvPr id="18" name="Rounded Rectangle 17"/>
          <p:cNvSpPr/>
          <p:nvPr/>
        </p:nvSpPr>
        <p:spPr>
          <a:xfrm>
            <a:off x="9921240" y="3941063"/>
            <a:ext cx="1664208" cy="777240"/>
          </a:xfrm>
          <a:prstGeom prst="roundRect">
            <a:avLst>
              <a:gd name="adj" fmla="val 12000"/>
            </a:avLst>
          </a:prstGeom>
          <a:solidFill>
            <a:srgbClr val="C763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12680" y="4096511"/>
            <a:ext cx="1481328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300" b="1">
                <a:solidFill>
                  <a:srgbClr val="FFFFFF"/>
                </a:solidFill>
                <a:latin typeface="Noto Sans CJK TC"/>
              </a:defRPr>
            </a:pPr>
            <a:r>
              <a:t>No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34924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000" b="1">
                <a:solidFill>
                  <a:srgbClr val="142D40"/>
                </a:solidFill>
                <a:latin typeface="Noto Sans CJK TC"/>
              </a:defRPr>
            </a:pPr>
            <a:r>
              <a:t>同一 x、同一組規則；只改順序，預測就可能改變。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6099048"/>
            <a:ext cx="11173968" cy="10972"/>
          </a:xfrm>
          <a:prstGeom prst="rect">
            <a:avLst/>
          </a:prstGeom>
          <a:solidFill>
            <a:srgbClr val="D8E1E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6208776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607482"/>
                </a:solidFill>
                <a:latin typeface="Noto Sans CJK TC"/>
              </a:defRPr>
            </a:pPr>
            <a:r>
              <a:t>圖意｜FIRST_MATCH 的 order sensitivity 是需要量化的機制。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37960"/>
            <a:ext cx="107899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607482"/>
                </a:solidFill>
                <a:latin typeface="Noto Sans CJK TC"/>
              </a:defRPr>
            </a:pPr>
            <a:r>
              <a:t>來源：鎖定研究事實 §4.1；來源核對版 §2；Woźniak et al. (2026)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73968" y="6455664"/>
            <a:ext cx="5029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607482"/>
                </a:solidFill>
                <a:latin typeface="Noto Sans CJK TC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7F8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050" b="1">
                <a:solidFill>
                  <a:srgbClr val="007F82"/>
                </a:solidFill>
                <a:latin typeface="Noto Sans CJK TC"/>
              </a:defRPr>
            </a:pPr>
            <a:r>
              <a:t>RESEARCH MEETING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11556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42D40"/>
                </a:solidFill>
                <a:latin typeface="Noto Sans CJK TC"/>
              </a:defRPr>
            </a:pPr>
            <a:r>
              <a:t>SIMPLE_VOTING：每一條 matching rule 一票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810512"/>
            <a:ext cx="1097280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700" b="1">
                <a:solidFill>
                  <a:srgbClr val="142D40"/>
                </a:solidFill>
                <a:latin typeface="Noto Sans CJK TC"/>
              </a:defRPr>
            </a:pPr>
            <a:r>
              <a:t>S_SV(d | x) = |M_d(x)|       →       arg max over decisions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054096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300" b="1">
                <a:solidFill>
                  <a:srgbClr val="2774AE"/>
                </a:solidFill>
                <a:latin typeface="Noto Sans CJK TC"/>
              </a:defRPr>
            </a:pPr>
            <a:r>
              <a:t>Decision 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761488" y="2926080"/>
            <a:ext cx="1353312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2774A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07208" y="3063240"/>
            <a:ext cx="12618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000" b="1">
                <a:solidFill>
                  <a:srgbClr val="2774AE"/>
                </a:solidFill>
                <a:latin typeface="Noto Sans CJK TC"/>
              </a:defRPr>
            </a:pPr>
            <a:r>
              <a:t>r₁ :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61688" y="2926080"/>
            <a:ext cx="1353312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2774A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07408" y="3063240"/>
            <a:ext cx="12618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000" b="1">
                <a:solidFill>
                  <a:srgbClr val="2774AE"/>
                </a:solidFill>
                <a:latin typeface="Noto Sans CJK TC"/>
              </a:defRPr>
            </a:pPr>
            <a:r>
              <a:t>r₂ : 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61888" y="2926080"/>
            <a:ext cx="1353312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2774A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007608" y="3063240"/>
            <a:ext cx="12618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000" b="1">
                <a:solidFill>
                  <a:srgbClr val="2774AE"/>
                </a:solidFill>
                <a:latin typeface="Noto Sans CJK TC"/>
              </a:defRPr>
            </a:pPr>
            <a:r>
              <a:t>r₃ :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3044952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500" b="1">
                <a:solidFill>
                  <a:srgbClr val="2774AE"/>
                </a:solidFill>
                <a:latin typeface="Noto Sans CJK TC"/>
              </a:defRPr>
            </a:pPr>
            <a:r>
              <a:t>3 votes → 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178807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300" b="1">
                <a:solidFill>
                  <a:srgbClr val="C76332"/>
                </a:solidFill>
                <a:latin typeface="Noto Sans CJK TC"/>
              </a:defRPr>
            </a:pPr>
            <a:r>
              <a:t>Decision 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61488" y="4050791"/>
            <a:ext cx="1353312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C7633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07208" y="4187952"/>
            <a:ext cx="12618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000" b="1">
                <a:solidFill>
                  <a:srgbClr val="C76332"/>
                </a:solidFill>
                <a:latin typeface="Noto Sans CJK TC"/>
              </a:defRPr>
            </a:pPr>
            <a:r>
              <a:t>r₄ : 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61688" y="4050791"/>
            <a:ext cx="1353312" cy="713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C7633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07408" y="4187952"/>
            <a:ext cx="126187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000" b="1">
                <a:solidFill>
                  <a:srgbClr val="C76332"/>
                </a:solidFill>
                <a:latin typeface="Noto Sans CJK TC"/>
              </a:defRPr>
            </a:pPr>
            <a:r>
              <a:t>r₅ :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60" y="4169663"/>
            <a:ext cx="27432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500" b="1">
                <a:solidFill>
                  <a:srgbClr val="C76332"/>
                </a:solidFill>
                <a:latin typeface="Noto Sans CJK TC"/>
              </a:defRPr>
            </a:pPr>
            <a:r>
              <a:t>2 votes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358384"/>
            <a:ext cx="108813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800" b="0">
                <a:solidFill>
                  <a:srgbClr val="20394A"/>
                </a:solidFill>
                <a:latin typeface="Noto Sans CJK TC"/>
              </a:defRPr>
            </a:pPr>
            <a:r>
              <a:t>計算單位是 rule；沒有使用 support 大小，也沒有 class-size normalization。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6099048"/>
            <a:ext cx="11173968" cy="10972"/>
          </a:xfrm>
          <a:prstGeom prst="rect">
            <a:avLst/>
          </a:prstGeom>
          <a:solidFill>
            <a:srgbClr val="D8E1E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6208776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607482"/>
                </a:solidFill>
                <a:latin typeface="Noto Sans CJK TC"/>
              </a:defRPr>
            </a:pPr>
            <a:r>
              <a:t>圖意｜Simple Voting 只比較 matching-rule count；示例假設五條規則都命中 x。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37960"/>
            <a:ext cx="107899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607482"/>
                </a:solidFill>
                <a:latin typeface="Noto Sans CJK TC"/>
              </a:defRPr>
            </a:pPr>
            <a:r>
              <a:t>來源：來源核對版 §3；Lazo-Cortés et al. (2020)；RSES 2.2 Guide (2005)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73968" y="6455664"/>
            <a:ext cx="5029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607482"/>
                </a:solidFill>
                <a:latin typeface="Noto Sans CJK TC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7F8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050" b="1">
                <a:solidFill>
                  <a:srgbClr val="007F82"/>
                </a:solidFill>
                <a:latin typeface="Noto Sans CJK TC"/>
              </a:defRPr>
            </a:pPr>
            <a:r>
              <a:t>RESEARCH MEETING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11556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42D40"/>
                </a:solidFill>
                <a:latin typeface="Noto Sans CJK TC"/>
              </a:defRPr>
            </a:pPr>
            <a:r>
              <a:t>STANDARD 與 GLOBAL：重複加總，或先去重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664208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607482"/>
                </a:solidFill>
                <a:latin typeface="Noto Sans CJK TC"/>
              </a:defRPr>
            </a:pPr>
            <a:r>
              <a:t>假設兩條規則皆命中 x、皆預測 A；support 為 decision-consistent pooled training objects。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240280"/>
            <a:ext cx="5349240" cy="3337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423160"/>
            <a:ext cx="4983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100" b="1">
                <a:solidFill>
                  <a:srgbClr val="007F82"/>
                </a:solidFill>
                <a:latin typeface="Noto Sans CJK TC"/>
              </a:defRPr>
            </a:pPr>
            <a:r>
              <a:t>STANDARD_VOTING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240280"/>
            <a:ext cx="5349240" cy="3337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2423160"/>
            <a:ext cx="498348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100" b="1">
                <a:solidFill>
                  <a:srgbClr val="C76332"/>
                </a:solidFill>
                <a:latin typeface="Noto Sans CJK TC"/>
              </a:defRPr>
            </a:pPr>
            <a:r>
              <a:t>GLOBAL_STRENGTH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127248"/>
            <a:ext cx="594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1">
                <a:solidFill>
                  <a:srgbClr val="20394A"/>
                </a:solidFill>
                <a:latin typeface="Noto Sans CJK TC"/>
              </a:defRPr>
            </a:pPr>
            <a:r>
              <a:t>r1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08760" y="3063240"/>
            <a:ext cx="795528" cy="402336"/>
          </a:xfrm>
          <a:prstGeom prst="roundRect">
            <a:avLst>
              <a:gd name="adj" fmla="val 12000"/>
            </a:avLst>
          </a:prstGeom>
          <a:solidFill>
            <a:srgbClr val="E5F2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36192" y="3108960"/>
            <a:ext cx="740664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007F82"/>
                </a:solidFill>
                <a:latin typeface="Noto Sans CJK TC"/>
              </a:defRPr>
            </a:pPr>
            <a:r>
              <a:t>u₁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468880" y="3063240"/>
            <a:ext cx="795528" cy="402336"/>
          </a:xfrm>
          <a:prstGeom prst="roundRect">
            <a:avLst>
              <a:gd name="adj" fmla="val 12000"/>
            </a:avLst>
          </a:prstGeom>
          <a:solidFill>
            <a:srgbClr val="E5F2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96312" y="3108960"/>
            <a:ext cx="740664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007F82"/>
                </a:solidFill>
                <a:latin typeface="Noto Sans CJK TC"/>
              </a:defRPr>
            </a:pPr>
            <a:r>
              <a:t>u₂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3063240"/>
            <a:ext cx="795528" cy="402336"/>
          </a:xfrm>
          <a:prstGeom prst="roundRect">
            <a:avLst>
              <a:gd name="adj" fmla="val 12000"/>
            </a:avLst>
          </a:prstGeom>
          <a:solidFill>
            <a:srgbClr val="E5F2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56432" y="3108960"/>
            <a:ext cx="740664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007F82"/>
                </a:solidFill>
                <a:latin typeface="Noto Sans CJK TC"/>
              </a:defRPr>
            </a:pPr>
            <a:r>
              <a:t>u₃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703320"/>
            <a:ext cx="5943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1">
                <a:solidFill>
                  <a:srgbClr val="20394A"/>
                </a:solidFill>
                <a:latin typeface="Noto Sans CJK TC"/>
              </a:defRPr>
            </a:pPr>
            <a:r>
              <a:t>r2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508760" y="3639312"/>
            <a:ext cx="795528" cy="402336"/>
          </a:xfrm>
          <a:prstGeom prst="roundRect">
            <a:avLst>
              <a:gd name="adj" fmla="val 12000"/>
            </a:avLst>
          </a:prstGeom>
          <a:solidFill>
            <a:srgbClr val="E5F2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536192" y="3685032"/>
            <a:ext cx="740664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007F82"/>
                </a:solidFill>
                <a:latin typeface="Noto Sans CJK TC"/>
              </a:defRPr>
            </a:pPr>
            <a:r>
              <a:t>u₂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468880" y="3639312"/>
            <a:ext cx="795528" cy="402336"/>
          </a:xfrm>
          <a:prstGeom prst="roundRect">
            <a:avLst>
              <a:gd name="adj" fmla="val 12000"/>
            </a:avLst>
          </a:prstGeom>
          <a:solidFill>
            <a:srgbClr val="E5F2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96312" y="3685032"/>
            <a:ext cx="740664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007F82"/>
                </a:solidFill>
                <a:latin typeface="Noto Sans CJK TC"/>
              </a:defRPr>
            </a:pPr>
            <a:r>
              <a:t>u₃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29000" y="3639312"/>
            <a:ext cx="795528" cy="402336"/>
          </a:xfrm>
          <a:prstGeom prst="roundRect">
            <a:avLst>
              <a:gd name="adj" fmla="val 12000"/>
            </a:avLst>
          </a:prstGeom>
          <a:solidFill>
            <a:srgbClr val="E5F2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56432" y="3685032"/>
            <a:ext cx="740664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500" b="1">
                <a:solidFill>
                  <a:srgbClr val="007F82"/>
                </a:solidFill>
                <a:latin typeface="Noto Sans CJK TC"/>
              </a:defRPr>
            </a:pPr>
            <a:r>
              <a:t>u₄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645152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300" b="1">
                <a:solidFill>
                  <a:srgbClr val="007F82"/>
                </a:solidFill>
                <a:latin typeface="Noto Sans CJK TC"/>
              </a:defRPr>
            </a:pPr>
            <a:r>
              <a:t>|S(r₁)| + |S(r₂)| = 3 + 3 = 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108960"/>
            <a:ext cx="493776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800" b="1">
                <a:solidFill>
                  <a:srgbClr val="20394A"/>
                </a:solidFill>
                <a:latin typeface="Noto Sans CJK TC"/>
              </a:defRPr>
            </a:pPr>
            <a:r>
              <a:t>S(r₁) ∪ S(r₂) = {u₁, u₂, u₃, u₄}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519672" y="3685032"/>
            <a:ext cx="822960" cy="457200"/>
          </a:xfrm>
          <a:prstGeom prst="roundRect">
            <a:avLst>
              <a:gd name="adj" fmla="val 12000"/>
            </a:avLst>
          </a:prstGeom>
          <a:solidFill>
            <a:srgbClr val="F8EC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47104" y="3758184"/>
            <a:ext cx="76809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1">
                <a:solidFill>
                  <a:srgbClr val="C76332"/>
                </a:solidFill>
                <a:latin typeface="Noto Sans CJK TC"/>
              </a:defRPr>
            </a:pPr>
            <a:r>
              <a:t>u₁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543800" y="3685032"/>
            <a:ext cx="822960" cy="457200"/>
          </a:xfrm>
          <a:prstGeom prst="roundRect">
            <a:avLst>
              <a:gd name="adj" fmla="val 12000"/>
            </a:avLst>
          </a:prstGeom>
          <a:solidFill>
            <a:srgbClr val="F8EC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71232" y="3758184"/>
            <a:ext cx="76809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1">
                <a:solidFill>
                  <a:srgbClr val="C76332"/>
                </a:solidFill>
                <a:latin typeface="Noto Sans CJK TC"/>
              </a:defRPr>
            </a:pPr>
            <a:r>
              <a:t>u₂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567928" y="3685032"/>
            <a:ext cx="822960" cy="457200"/>
          </a:xfrm>
          <a:prstGeom prst="roundRect">
            <a:avLst>
              <a:gd name="adj" fmla="val 12000"/>
            </a:avLst>
          </a:prstGeom>
          <a:solidFill>
            <a:srgbClr val="F8EC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95360" y="3758184"/>
            <a:ext cx="76809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1">
                <a:solidFill>
                  <a:srgbClr val="C76332"/>
                </a:solidFill>
                <a:latin typeface="Noto Sans CJK TC"/>
              </a:defRPr>
            </a:pPr>
            <a:r>
              <a:t>u₃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592056" y="3685032"/>
            <a:ext cx="822960" cy="457200"/>
          </a:xfrm>
          <a:prstGeom prst="roundRect">
            <a:avLst>
              <a:gd name="adj" fmla="val 12000"/>
            </a:avLst>
          </a:prstGeom>
          <a:solidFill>
            <a:srgbClr val="F8EC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19488" y="3758184"/>
            <a:ext cx="768096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1">
                <a:solidFill>
                  <a:srgbClr val="C76332"/>
                </a:solidFill>
                <a:latin typeface="Noto Sans CJK TC"/>
              </a:defRPr>
            </a:pPr>
            <a:r>
              <a:t>u₄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92240" y="4645152"/>
            <a:ext cx="48920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200" b="1">
                <a:solidFill>
                  <a:srgbClr val="C76332"/>
                </a:solidFill>
                <a:latin typeface="Noto Sans CJK TC"/>
              </a:defRPr>
            </a:pPr>
            <a:r>
              <a:t>|S(r₁) ∪ S(r₂)| / N_A = 4 / N_A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6099048"/>
            <a:ext cx="11173968" cy="10972"/>
          </a:xfrm>
          <a:prstGeom prst="rect">
            <a:avLst/>
          </a:prstGeom>
          <a:solidFill>
            <a:srgbClr val="D8E1E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6208776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607482"/>
                </a:solidFill>
                <a:latin typeface="Noto Sans CJK TC"/>
              </a:defRPr>
            </a:pPr>
            <a:r>
              <a:t>圖意｜Standard 以 rule support 加總；Global 對物件去重，再除以 training class size。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537960"/>
            <a:ext cx="107899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607482"/>
                </a:solidFill>
                <a:latin typeface="Noto Sans CJK TC"/>
              </a:defRPr>
            </a:pPr>
            <a:r>
              <a:t>來源：鎖定研究事實 §§4.3–4.4；來源核對版 §§4–5；Bazan et al. (2000), Eq. 23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73968" y="6455664"/>
            <a:ext cx="5029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607482"/>
                </a:solidFill>
                <a:latin typeface="Noto Sans CJK TC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7F8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050" b="1">
                <a:solidFill>
                  <a:srgbClr val="007F82"/>
                </a:solidFill>
                <a:latin typeface="Noto Sans CJK TC"/>
              </a:defRPr>
            </a:pPr>
            <a:r>
              <a:t>RESEARCH MEETING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11556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42D40"/>
                </a:solidFill>
                <a:latin typeface="Noto Sans CJK TC"/>
              </a:defRPr>
            </a:pPr>
            <a:r>
              <a:t>公平比較：固定 artifact，分開衡量機制與表現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37360"/>
            <a:ext cx="11064240" cy="640080"/>
          </a:xfrm>
          <a:prstGeom prst="roundRect">
            <a:avLst>
              <a:gd name="adj" fmla="val 12000"/>
            </a:avLst>
          </a:prstGeom>
          <a:solidFill>
            <a:srgbClr val="142D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901952"/>
            <a:ext cx="10698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000" b="1">
                <a:solidFill>
                  <a:srgbClr val="FFFFFF"/>
                </a:solidFill>
                <a:latin typeface="Noto Sans CJK TC"/>
              </a:defRPr>
            </a:pPr>
            <a:r>
              <a:t>固定 split／partition／reduct／rules／UNION／conflict cases／default class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788920"/>
            <a:ext cx="356616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788920"/>
            <a:ext cx="41148" cy="1828800"/>
          </a:xfrm>
          <a:prstGeom prst="rect">
            <a:avLst/>
          </a:prstGeom>
          <a:solidFill>
            <a:srgbClr val="2774A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2926079"/>
            <a:ext cx="325526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200" b="1">
                <a:solidFill>
                  <a:srgbClr val="2774AE"/>
                </a:solidFill>
                <a:latin typeface="Noto Sans CJK TC"/>
              </a:defRPr>
            </a:pPr>
            <a:r>
              <a:t>分類表現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456432"/>
            <a:ext cx="3255264" cy="11064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20394A"/>
                </a:solidFill>
                <a:latin typeface="Noto Sans CJK TC"/>
              </a:defRPr>
            </a:pPr>
            <a:r>
              <a:t>Balanced Accuracy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20394A"/>
                </a:solidFill>
                <a:latin typeface="Noto Sans CJK TC"/>
              </a:defRPr>
            </a:pPr>
            <a:r>
              <a:t>Macro-F1 · Coverage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79" y="2788920"/>
            <a:ext cx="356616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297679" y="2788920"/>
            <a:ext cx="41148" cy="1828800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62271" y="2926079"/>
            <a:ext cx="325526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200" b="1">
                <a:solidFill>
                  <a:srgbClr val="007F82"/>
                </a:solidFill>
                <a:latin typeface="Noto Sans CJK TC"/>
              </a:defRPr>
            </a:pPr>
            <a:r>
              <a:t>規則結構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62271" y="3456432"/>
            <a:ext cx="3255264" cy="11064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20394A"/>
                </a:solidFill>
                <a:latin typeface="Noto Sans CJK TC"/>
              </a:defRPr>
            </a:pPr>
            <a:r>
              <a:t>Ruleset size · Mean conditions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20394A"/>
                </a:solidFill>
                <a:latin typeface="Noto Sans CJK TC"/>
              </a:defRPr>
            </a:pPr>
            <a:r>
              <a:t>Pairwise antecedent Jaccard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19" y="2788920"/>
            <a:ext cx="3566160" cy="1828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19" y="2788920"/>
            <a:ext cx="41148" cy="1828800"/>
          </a:xfrm>
          <a:prstGeom prst="rect">
            <a:avLst/>
          </a:prstGeom>
          <a:solidFill>
            <a:srgbClr val="C763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11311" y="2926079"/>
            <a:ext cx="325526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200" b="1">
                <a:solidFill>
                  <a:srgbClr val="C76332"/>
                </a:solidFill>
                <a:latin typeface="Noto Sans CJK TC"/>
              </a:defRPr>
            </a:pPr>
            <a:r>
              <a:t>衝突與順序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11311" y="3456432"/>
            <a:ext cx="3255264" cy="11064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20394A"/>
                </a:solidFill>
                <a:latin typeface="Noto Sans CJK TC"/>
              </a:defRPr>
            </a:pPr>
            <a:r>
              <a:t>Conflict count / proportion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20394A"/>
                </a:solidFill>
                <a:latin typeface="Noto Sans CJK TC"/>
              </a:defRPr>
            </a:pPr>
            <a:r>
              <a:t>Conflict-set BA / F1 · Variation Ratio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98348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20394A"/>
                </a:solidFill>
                <a:latin typeface="Noto Sans CJK TC"/>
              </a:defRPr>
            </a:pPr>
            <a:r>
              <a:t>VR(x) = 1 − modal prediction frequency / number of evaluated orders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20394A"/>
                </a:solidFill>
                <a:latin typeface="Noto Sans CJK TC"/>
              </a:defRPr>
            </a:pPr>
            <a:r>
              <a:t>重複實驗後：Friedman + post-hoc ／ paired Wilcoxon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6099048"/>
            <a:ext cx="11173968" cy="10972"/>
          </a:xfrm>
          <a:prstGeom prst="rect">
            <a:avLst/>
          </a:prstGeom>
          <a:solidFill>
            <a:srgbClr val="D8E1E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6208776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607482"/>
                </a:solidFill>
                <a:latin typeface="Noto Sans CJK TC"/>
              </a:defRPr>
            </a:pPr>
            <a:r>
              <a:t>圖意｜先固定比較條件，再把分類品質、衝突工作量與順序變動分開評量。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537960"/>
            <a:ext cx="107899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607482"/>
                </a:solidFill>
                <a:latin typeface="Noto Sans CJK TC"/>
              </a:defRPr>
            </a:pPr>
            <a:r>
              <a:t>來源：鎖定研究事實 §§5–6；Brodersen 2010；Sokolova 2009；Gal 2016；Demšar 2006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73968" y="6455664"/>
            <a:ext cx="5029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607482"/>
                </a:solidFill>
                <a:latin typeface="Noto Sans CJK TC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7F8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050" b="1">
                <a:solidFill>
                  <a:srgbClr val="007F82"/>
                </a:solidFill>
                <a:latin typeface="Noto Sans CJK TC"/>
              </a:defRPr>
            </a:pPr>
            <a:r>
              <a:t>RESEARCH MEETING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11556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42D40"/>
                </a:solidFill>
                <a:latin typeface="Noto Sans CJK TC"/>
              </a:defRPr>
            </a:pPr>
            <a:r>
              <a:t>Frozen UCI3：不同資料與 C，對應不同優勢策略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46504"/>
            <a:ext cx="356616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200" b="1">
                <a:solidFill>
                  <a:srgbClr val="142D40"/>
                </a:solidFill>
                <a:latin typeface="Noto Sans CJK TC"/>
              </a:defRPr>
            </a:pPr>
            <a:r>
              <a:t>Hayes-Roth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2350008"/>
            <a:ext cx="74066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607482"/>
                </a:solidFill>
                <a:latin typeface="Noto Sans CJK TC"/>
              </a:defRPr>
            </a:pPr>
            <a:r>
              <a:t>FM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64792" y="2350008"/>
            <a:ext cx="74066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607482"/>
                </a:solidFill>
                <a:latin typeface="Noto Sans CJK TC"/>
              </a:defRPr>
            </a:pPr>
            <a:r>
              <a:t>SIMPLE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42032" y="2350008"/>
            <a:ext cx="74066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607482"/>
                </a:solidFill>
                <a:latin typeface="Noto Sans CJK TC"/>
              </a:defRPr>
            </a:pPr>
            <a:r>
              <a:t>STD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19272" y="2350008"/>
            <a:ext cx="74066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607482"/>
                </a:solidFill>
                <a:latin typeface="Noto Sans CJK TC"/>
              </a:defRPr>
            </a:pPr>
            <a:r>
              <a:t>GLOBAL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907792"/>
            <a:ext cx="39319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1">
                <a:solidFill>
                  <a:srgbClr val="20394A"/>
                </a:solidFill>
                <a:latin typeface="Noto Sans CJK TC"/>
              </a:defRPr>
            </a:pPr>
            <a:r>
              <a:t>C2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87552" y="2816352"/>
            <a:ext cx="740664" cy="429768"/>
          </a:xfrm>
          <a:prstGeom prst="rect">
            <a:avLst/>
          </a:prstGeom>
          <a:solidFill>
            <a:srgbClr val="49809A"/>
          </a:solidFill>
          <a:ln w="15240">
            <a:solidFill>
              <a:srgbClr val="C7633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96696" y="2892247"/>
            <a:ext cx="72237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200" b="1">
                <a:solidFill>
                  <a:srgbClr val="FFFFFF"/>
                </a:solidFill>
                <a:latin typeface="Noto Sans CJK TC"/>
              </a:defRPr>
            </a:pPr>
            <a:r>
              <a:t>0.7667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64792" y="2816352"/>
            <a:ext cx="740664" cy="429768"/>
          </a:xfrm>
          <a:prstGeom prst="rect">
            <a:avLst/>
          </a:prstGeom>
          <a:solidFill>
            <a:srgbClr val="83A8B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73936" y="2892247"/>
            <a:ext cx="72237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20394A"/>
                </a:solidFill>
                <a:latin typeface="Noto Sans CJK TC"/>
              </a:defRPr>
            </a:pPr>
            <a:r>
              <a:t>0.6556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42032" y="2816352"/>
            <a:ext cx="740664" cy="429768"/>
          </a:xfrm>
          <a:prstGeom prst="rect">
            <a:avLst/>
          </a:prstGeom>
          <a:solidFill>
            <a:srgbClr val="49809A"/>
          </a:solidFill>
          <a:ln w="15240">
            <a:solidFill>
              <a:srgbClr val="C7633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51176" y="2892247"/>
            <a:ext cx="72237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200" b="1">
                <a:solidFill>
                  <a:srgbClr val="FFFFFF"/>
                </a:solidFill>
                <a:latin typeface="Noto Sans CJK TC"/>
              </a:defRPr>
            </a:pPr>
            <a:r>
              <a:t>0.7667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19272" y="2816352"/>
            <a:ext cx="740664" cy="429768"/>
          </a:xfrm>
          <a:prstGeom prst="rect">
            <a:avLst/>
          </a:prstGeom>
          <a:solidFill>
            <a:srgbClr val="49809A"/>
          </a:solidFill>
          <a:ln w="15240">
            <a:solidFill>
              <a:srgbClr val="C7633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28415" y="2892247"/>
            <a:ext cx="72237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200" b="1">
                <a:solidFill>
                  <a:srgbClr val="FFFFFF"/>
                </a:solidFill>
                <a:latin typeface="Noto Sans CJK TC"/>
              </a:defRPr>
            </a:pPr>
            <a:r>
              <a:t>0.7667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419856"/>
            <a:ext cx="39319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1">
                <a:solidFill>
                  <a:srgbClr val="20394A"/>
                </a:solidFill>
                <a:latin typeface="Noto Sans CJK TC"/>
              </a:defRPr>
            </a:pPr>
            <a:r>
              <a:t>C3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7552" y="3328416"/>
            <a:ext cx="740664" cy="429768"/>
          </a:xfrm>
          <a:prstGeom prst="rect">
            <a:avLst/>
          </a:prstGeom>
          <a:solidFill>
            <a:srgbClr val="266787"/>
          </a:solidFill>
          <a:ln w="15240">
            <a:solidFill>
              <a:srgbClr val="C7633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6696" y="3404311"/>
            <a:ext cx="72237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200" b="1">
                <a:solidFill>
                  <a:srgbClr val="FFFFFF"/>
                </a:solidFill>
                <a:latin typeface="Noto Sans CJK TC"/>
              </a:defRPr>
            </a:pPr>
            <a:r>
              <a:t>0.8333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764792" y="3328416"/>
            <a:ext cx="740664" cy="429768"/>
          </a:xfrm>
          <a:prstGeom prst="rect">
            <a:avLst/>
          </a:prstGeom>
          <a:solidFill>
            <a:srgbClr val="9AB9C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773936" y="3404311"/>
            <a:ext cx="72237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20394A"/>
                </a:solidFill>
                <a:latin typeface="Noto Sans CJK TC"/>
              </a:defRPr>
            </a:pPr>
            <a:r>
              <a:t>0.6111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42032" y="3328416"/>
            <a:ext cx="740664" cy="429768"/>
          </a:xfrm>
          <a:prstGeom prst="rect">
            <a:avLst/>
          </a:prstGeom>
          <a:solidFill>
            <a:srgbClr val="5488A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51176" y="3404311"/>
            <a:ext cx="72237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FFFFFF"/>
                </a:solidFill>
                <a:latin typeface="Noto Sans CJK TC"/>
              </a:defRPr>
            </a:pPr>
            <a:r>
              <a:t>0.7444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19272" y="3328416"/>
            <a:ext cx="740664" cy="429768"/>
          </a:xfrm>
          <a:prstGeom prst="rect">
            <a:avLst/>
          </a:prstGeom>
          <a:solidFill>
            <a:srgbClr val="5A8CA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28415" y="3404311"/>
            <a:ext cx="72237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FFFFFF"/>
                </a:solidFill>
                <a:latin typeface="Noto Sans CJK TC"/>
              </a:defRPr>
            </a:pPr>
            <a:r>
              <a:t>0.7333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931920"/>
            <a:ext cx="39319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1">
                <a:solidFill>
                  <a:srgbClr val="20394A"/>
                </a:solidFill>
                <a:latin typeface="Noto Sans CJK TC"/>
              </a:defRPr>
            </a:pPr>
            <a:r>
              <a:t>C4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87552" y="3840480"/>
            <a:ext cx="740664" cy="429768"/>
          </a:xfrm>
          <a:prstGeom prst="rect">
            <a:avLst/>
          </a:prstGeom>
          <a:solidFill>
            <a:srgbClr val="437C97"/>
          </a:solidFill>
          <a:ln w="15240">
            <a:solidFill>
              <a:srgbClr val="C7633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6696" y="3916375"/>
            <a:ext cx="72237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200" b="1">
                <a:solidFill>
                  <a:srgbClr val="FFFFFF"/>
                </a:solidFill>
                <a:latin typeface="Noto Sans CJK TC"/>
              </a:defRPr>
            </a:pPr>
            <a:r>
              <a:t>0.7778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764792" y="3840480"/>
            <a:ext cx="740664" cy="429768"/>
          </a:xfrm>
          <a:prstGeom prst="rect">
            <a:avLst/>
          </a:prstGeom>
          <a:solidFill>
            <a:srgbClr val="B2C9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773936" y="3916375"/>
            <a:ext cx="72237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20394A"/>
                </a:solidFill>
                <a:latin typeface="Noto Sans CJK TC"/>
              </a:defRPr>
            </a:pPr>
            <a:r>
              <a:t>0.5667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542032" y="3840480"/>
            <a:ext cx="740664" cy="429768"/>
          </a:xfrm>
          <a:prstGeom prst="rect">
            <a:avLst/>
          </a:prstGeom>
          <a:solidFill>
            <a:srgbClr val="95B5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51176" y="3916375"/>
            <a:ext cx="72237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20394A"/>
                </a:solidFill>
                <a:latin typeface="Noto Sans CJK TC"/>
              </a:defRPr>
            </a:pPr>
            <a:r>
              <a:t>0.6222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319272" y="3840480"/>
            <a:ext cx="740664" cy="429768"/>
          </a:xfrm>
          <a:prstGeom prst="rect">
            <a:avLst/>
          </a:prstGeom>
          <a:solidFill>
            <a:srgbClr val="5A8CA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328415" y="3916375"/>
            <a:ext cx="72237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FFFFFF"/>
                </a:solidFill>
                <a:latin typeface="Noto Sans CJK TC"/>
              </a:defRPr>
            </a:pPr>
            <a:r>
              <a:t>0.7333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4443983"/>
            <a:ext cx="39319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1">
                <a:solidFill>
                  <a:srgbClr val="20394A"/>
                </a:solidFill>
                <a:latin typeface="Noto Sans CJK TC"/>
              </a:defRPr>
            </a:pPr>
            <a:r>
              <a:t>C5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87552" y="4352544"/>
            <a:ext cx="740664" cy="429768"/>
          </a:xfrm>
          <a:prstGeom prst="rect">
            <a:avLst/>
          </a:prstGeom>
          <a:solidFill>
            <a:srgbClr val="266787"/>
          </a:solidFill>
          <a:ln w="15240">
            <a:solidFill>
              <a:srgbClr val="C7633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96696" y="4428439"/>
            <a:ext cx="72237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200" b="1">
                <a:solidFill>
                  <a:srgbClr val="FFFFFF"/>
                </a:solidFill>
                <a:latin typeface="Noto Sans CJK TC"/>
              </a:defRPr>
            </a:pPr>
            <a:r>
              <a:t>0.8333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764792" y="4352544"/>
            <a:ext cx="740664" cy="429768"/>
          </a:xfrm>
          <a:prstGeom prst="rect">
            <a:avLst/>
          </a:prstGeom>
          <a:solidFill>
            <a:srgbClr val="C9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773936" y="4428439"/>
            <a:ext cx="72237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20394A"/>
                </a:solidFill>
                <a:latin typeface="Noto Sans CJK TC"/>
              </a:defRPr>
            </a:pPr>
            <a:r>
              <a:t>0.5222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542032" y="4352544"/>
            <a:ext cx="740664" cy="429768"/>
          </a:xfrm>
          <a:prstGeom prst="rect">
            <a:avLst/>
          </a:prstGeom>
          <a:solidFill>
            <a:srgbClr val="ACC5D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551176" y="4428439"/>
            <a:ext cx="72237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20394A"/>
                </a:solidFill>
                <a:latin typeface="Noto Sans CJK TC"/>
              </a:defRPr>
            </a:pPr>
            <a:r>
              <a:t>0.5778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319272" y="4352544"/>
            <a:ext cx="740664" cy="429768"/>
          </a:xfrm>
          <a:prstGeom prst="rect">
            <a:avLst/>
          </a:prstGeom>
          <a:solidFill>
            <a:srgbClr val="5A8CA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328415" y="4428439"/>
            <a:ext cx="72237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FFFFFF"/>
                </a:solidFill>
                <a:latin typeface="Noto Sans CJK TC"/>
              </a:defRPr>
            </a:pPr>
            <a:r>
              <a:t>0.7333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15968" y="1746504"/>
            <a:ext cx="356616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200" b="1">
                <a:solidFill>
                  <a:srgbClr val="142D40"/>
                </a:solidFill>
                <a:latin typeface="Noto Sans CJK TC"/>
              </a:defRPr>
            </a:pPr>
            <a:r>
              <a:t>Car Evaluation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754879" y="2350008"/>
            <a:ext cx="74066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607482"/>
                </a:solidFill>
                <a:latin typeface="Noto Sans CJK TC"/>
              </a:defRPr>
            </a:pPr>
            <a:r>
              <a:t>FM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532119" y="2350008"/>
            <a:ext cx="74066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607482"/>
                </a:solidFill>
                <a:latin typeface="Noto Sans CJK TC"/>
              </a:defRPr>
            </a:pPr>
            <a:r>
              <a:t>SIMPLE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309359" y="2350008"/>
            <a:ext cx="74066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607482"/>
                </a:solidFill>
                <a:latin typeface="Noto Sans CJK TC"/>
              </a:defRPr>
            </a:pPr>
            <a:r>
              <a:t>STD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086599" y="2350008"/>
            <a:ext cx="74066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607482"/>
                </a:solidFill>
                <a:latin typeface="Noto Sans CJK TC"/>
              </a:defRPr>
            </a:pPr>
            <a:r>
              <a:t>GLOBAL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15968" y="2907792"/>
            <a:ext cx="39319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1">
                <a:solidFill>
                  <a:srgbClr val="20394A"/>
                </a:solidFill>
                <a:latin typeface="Noto Sans CJK TC"/>
              </a:defRPr>
            </a:pPr>
            <a:r>
              <a:t>C2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754879" y="2816352"/>
            <a:ext cx="740664" cy="429768"/>
          </a:xfrm>
          <a:prstGeom prst="rect">
            <a:avLst/>
          </a:prstGeom>
          <a:solidFill>
            <a:srgbClr val="7FA5B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764023" y="2892247"/>
            <a:ext cx="72237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20394A"/>
                </a:solidFill>
                <a:latin typeface="Noto Sans CJK TC"/>
              </a:defRPr>
            </a:pPr>
            <a:r>
              <a:t>0.6639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532119" y="2816352"/>
            <a:ext cx="740664" cy="429768"/>
          </a:xfrm>
          <a:prstGeom prst="rect">
            <a:avLst/>
          </a:prstGeom>
          <a:solidFill>
            <a:srgbClr val="95B5C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5541263" y="2892247"/>
            <a:ext cx="72237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20394A"/>
                </a:solidFill>
                <a:latin typeface="Noto Sans CJK TC"/>
              </a:defRPr>
            </a:pPr>
            <a:r>
              <a:t>0.6215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309359" y="2816352"/>
            <a:ext cx="740664" cy="429768"/>
          </a:xfrm>
          <a:prstGeom prst="rect">
            <a:avLst/>
          </a:prstGeom>
          <a:solidFill>
            <a:srgbClr val="7CA3B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18503" y="2892247"/>
            <a:ext cx="72237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20394A"/>
                </a:solidFill>
                <a:latin typeface="Noto Sans CJK TC"/>
              </a:defRPr>
            </a:pPr>
            <a:r>
              <a:t>0.6694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086599" y="2816352"/>
            <a:ext cx="740664" cy="429768"/>
          </a:xfrm>
          <a:prstGeom prst="rect">
            <a:avLst/>
          </a:prstGeom>
          <a:solidFill>
            <a:srgbClr val="6392A8"/>
          </a:solidFill>
          <a:ln w="15240">
            <a:solidFill>
              <a:srgbClr val="C7633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095743" y="2892247"/>
            <a:ext cx="72237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200" b="1">
                <a:solidFill>
                  <a:srgbClr val="FFFFFF"/>
                </a:solidFill>
                <a:latin typeface="Noto Sans CJK TC"/>
              </a:defRPr>
            </a:pPr>
            <a:r>
              <a:t>0.7174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315968" y="3419856"/>
            <a:ext cx="39319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1">
                <a:solidFill>
                  <a:srgbClr val="20394A"/>
                </a:solidFill>
                <a:latin typeface="Noto Sans CJK TC"/>
              </a:defRPr>
            </a:pPr>
            <a:r>
              <a:t>C3</a:t>
            </a:r>
          </a:p>
        </p:txBody>
      </p:sp>
      <p:sp>
        <p:nvSpPr>
          <p:cNvPr id="61" name="Rectangle 60"/>
          <p:cNvSpPr/>
          <p:nvPr/>
        </p:nvSpPr>
        <p:spPr>
          <a:xfrm>
            <a:off x="4754879" y="3328416"/>
            <a:ext cx="740664" cy="429768"/>
          </a:xfrm>
          <a:prstGeom prst="rect">
            <a:avLst/>
          </a:prstGeom>
          <a:solidFill>
            <a:srgbClr val="79A2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764023" y="3404311"/>
            <a:ext cx="72237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FFFFFF"/>
                </a:solidFill>
                <a:latin typeface="Noto Sans CJK TC"/>
              </a:defRPr>
            </a:pPr>
            <a:r>
              <a:t>0.6740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532119" y="3328416"/>
            <a:ext cx="740664" cy="429768"/>
          </a:xfrm>
          <a:prstGeom prst="rect">
            <a:avLst/>
          </a:prstGeom>
          <a:solidFill>
            <a:srgbClr val="6694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541263" y="3404311"/>
            <a:ext cx="72237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FFFFFF"/>
                </a:solidFill>
                <a:latin typeface="Noto Sans CJK TC"/>
              </a:defRPr>
            </a:pPr>
            <a:r>
              <a:t>0.7103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309359" y="3328416"/>
            <a:ext cx="740664" cy="429768"/>
          </a:xfrm>
          <a:prstGeom prst="rect">
            <a:avLst/>
          </a:prstGeom>
          <a:solidFill>
            <a:srgbClr val="6795A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18503" y="3404311"/>
            <a:ext cx="72237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FFFFFF"/>
                </a:solidFill>
                <a:latin typeface="Noto Sans CJK TC"/>
              </a:defRPr>
            </a:pPr>
            <a:r>
              <a:t>0.7089</a:t>
            </a:r>
          </a:p>
        </p:txBody>
      </p:sp>
      <p:sp>
        <p:nvSpPr>
          <p:cNvPr id="67" name="Rectangle 66"/>
          <p:cNvSpPr/>
          <p:nvPr/>
        </p:nvSpPr>
        <p:spPr>
          <a:xfrm>
            <a:off x="7086599" y="3328416"/>
            <a:ext cx="740664" cy="429768"/>
          </a:xfrm>
          <a:prstGeom prst="rect">
            <a:avLst/>
          </a:prstGeom>
          <a:solidFill>
            <a:srgbClr val="387491"/>
          </a:solidFill>
          <a:ln w="15240">
            <a:solidFill>
              <a:srgbClr val="C7633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095743" y="3404311"/>
            <a:ext cx="72237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200" b="1">
                <a:solidFill>
                  <a:srgbClr val="FFFFFF"/>
                </a:solidFill>
                <a:latin typeface="Noto Sans CJK TC"/>
              </a:defRPr>
            </a:pPr>
            <a:r>
              <a:t>0.7985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315968" y="3931920"/>
            <a:ext cx="39319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1">
                <a:solidFill>
                  <a:srgbClr val="20394A"/>
                </a:solidFill>
                <a:latin typeface="Noto Sans CJK TC"/>
              </a:defRPr>
            </a:pPr>
            <a:r>
              <a:t>C4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754879" y="3840480"/>
            <a:ext cx="740664" cy="429768"/>
          </a:xfrm>
          <a:prstGeom prst="rect">
            <a:avLst/>
          </a:prstGeom>
          <a:solidFill>
            <a:srgbClr val="90B1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764023" y="3916375"/>
            <a:ext cx="72237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20394A"/>
                </a:solidFill>
                <a:latin typeface="Noto Sans CJK TC"/>
              </a:defRPr>
            </a:pPr>
            <a:r>
              <a:t>0.6314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532119" y="3840480"/>
            <a:ext cx="740664" cy="429768"/>
          </a:xfrm>
          <a:prstGeom prst="rect">
            <a:avLst/>
          </a:prstGeom>
          <a:solidFill>
            <a:srgbClr val="AAC4D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541263" y="3916375"/>
            <a:ext cx="72237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20394A"/>
                </a:solidFill>
                <a:latin typeface="Noto Sans CJK TC"/>
              </a:defRPr>
            </a:pPr>
            <a:r>
              <a:t>0.5815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309359" y="3840480"/>
            <a:ext cx="740664" cy="429768"/>
          </a:xfrm>
          <a:prstGeom prst="rect">
            <a:avLst/>
          </a:prstGeom>
          <a:solidFill>
            <a:srgbClr val="A4C0C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318503" y="3916375"/>
            <a:ext cx="72237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20394A"/>
                </a:solidFill>
                <a:latin typeface="Noto Sans CJK TC"/>
              </a:defRPr>
            </a:pPr>
            <a:r>
              <a:t>0.5927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086599" y="3840480"/>
            <a:ext cx="740664" cy="429768"/>
          </a:xfrm>
          <a:prstGeom prst="rect">
            <a:avLst/>
          </a:prstGeom>
          <a:solidFill>
            <a:srgbClr val="759EB2"/>
          </a:solidFill>
          <a:ln w="15240">
            <a:solidFill>
              <a:srgbClr val="C7633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095743" y="3916375"/>
            <a:ext cx="72237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200" b="1">
                <a:solidFill>
                  <a:srgbClr val="FFFFFF"/>
                </a:solidFill>
                <a:latin typeface="Noto Sans CJK TC"/>
              </a:defRPr>
            </a:pPr>
            <a:r>
              <a:t>0.6832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4315968" y="4443983"/>
            <a:ext cx="39319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1">
                <a:solidFill>
                  <a:srgbClr val="20394A"/>
                </a:solidFill>
                <a:latin typeface="Noto Sans CJK TC"/>
              </a:defRPr>
            </a:pPr>
            <a:r>
              <a:t>C5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754879" y="4352544"/>
            <a:ext cx="740664" cy="429768"/>
          </a:xfrm>
          <a:prstGeom prst="rect">
            <a:avLst/>
          </a:prstGeom>
          <a:solidFill>
            <a:srgbClr val="A2BEC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764023" y="4428439"/>
            <a:ext cx="72237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20394A"/>
                </a:solidFill>
                <a:latin typeface="Noto Sans CJK TC"/>
              </a:defRPr>
            </a:pPr>
            <a:r>
              <a:t>0.5964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532119" y="4352544"/>
            <a:ext cx="740664" cy="429768"/>
          </a:xfrm>
          <a:prstGeom prst="rect">
            <a:avLst/>
          </a:prstGeom>
          <a:solidFill>
            <a:srgbClr val="C0D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541263" y="4428439"/>
            <a:ext cx="72237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20394A"/>
                </a:solidFill>
                <a:latin typeface="Noto Sans CJK TC"/>
              </a:defRPr>
            </a:pPr>
            <a:r>
              <a:t>0.5399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309359" y="4352544"/>
            <a:ext cx="740664" cy="429768"/>
          </a:xfrm>
          <a:prstGeom prst="rect">
            <a:avLst/>
          </a:prstGeom>
          <a:solidFill>
            <a:srgbClr val="BED2D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318503" y="4428439"/>
            <a:ext cx="72237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20394A"/>
                </a:solidFill>
                <a:latin typeface="Noto Sans CJK TC"/>
              </a:defRPr>
            </a:pPr>
            <a:r>
              <a:t>0.5435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086599" y="4352544"/>
            <a:ext cx="740664" cy="429768"/>
          </a:xfrm>
          <a:prstGeom prst="rect">
            <a:avLst/>
          </a:prstGeom>
          <a:solidFill>
            <a:srgbClr val="94B4C4"/>
          </a:solidFill>
          <a:ln w="15240">
            <a:solidFill>
              <a:srgbClr val="C7633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095743" y="4428439"/>
            <a:ext cx="72237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200" b="1">
                <a:solidFill>
                  <a:srgbClr val="20394A"/>
                </a:solidFill>
                <a:latin typeface="Noto Sans CJK TC"/>
              </a:defRPr>
            </a:pPr>
            <a:r>
              <a:t>0.6236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083296" y="1746504"/>
            <a:ext cx="356616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200" b="1">
                <a:solidFill>
                  <a:srgbClr val="142D40"/>
                </a:solidFill>
                <a:latin typeface="Noto Sans CJK TC"/>
              </a:defRPr>
            </a:pPr>
            <a:r>
              <a:t>Balance Scale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522208" y="2350008"/>
            <a:ext cx="74066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607482"/>
                </a:solidFill>
                <a:latin typeface="Noto Sans CJK TC"/>
              </a:defRPr>
            </a:pPr>
            <a:r>
              <a:t>FM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9299448" y="2350008"/>
            <a:ext cx="74066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607482"/>
                </a:solidFill>
                <a:latin typeface="Noto Sans CJK TC"/>
              </a:defRPr>
            </a:pPr>
            <a:r>
              <a:t>SIMPLE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076688" y="2350008"/>
            <a:ext cx="74066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607482"/>
                </a:solidFill>
                <a:latin typeface="Noto Sans CJK TC"/>
              </a:defRPr>
            </a:pPr>
            <a:r>
              <a:t>STD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0853928" y="2350008"/>
            <a:ext cx="740664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100" b="1">
                <a:solidFill>
                  <a:srgbClr val="607482"/>
                </a:solidFill>
                <a:latin typeface="Noto Sans CJK TC"/>
              </a:defRPr>
            </a:pPr>
            <a:r>
              <a:t>GLOBAL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8083296" y="2907792"/>
            <a:ext cx="39319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1">
                <a:solidFill>
                  <a:srgbClr val="20394A"/>
                </a:solidFill>
                <a:latin typeface="Noto Sans CJK TC"/>
              </a:defRPr>
            </a:pPr>
            <a:r>
              <a:t>C2</a:t>
            </a:r>
          </a:p>
        </p:txBody>
      </p:sp>
      <p:sp>
        <p:nvSpPr>
          <p:cNvPr id="93" name="Rectangle 92"/>
          <p:cNvSpPr/>
          <p:nvPr/>
        </p:nvSpPr>
        <p:spPr>
          <a:xfrm>
            <a:off x="8522208" y="2816352"/>
            <a:ext cx="740664" cy="429768"/>
          </a:xfrm>
          <a:prstGeom prst="rect">
            <a:avLst/>
          </a:prstGeom>
          <a:solidFill>
            <a:srgbClr val="DBE6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531352" y="2892247"/>
            <a:ext cx="72237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20394A"/>
                </a:solidFill>
                <a:latin typeface="Noto Sans CJK TC"/>
              </a:defRPr>
            </a:pPr>
            <a:r>
              <a:t>0.4885</a:t>
            </a:r>
          </a:p>
        </p:txBody>
      </p:sp>
      <p:sp>
        <p:nvSpPr>
          <p:cNvPr id="95" name="Rectangle 94"/>
          <p:cNvSpPr/>
          <p:nvPr/>
        </p:nvSpPr>
        <p:spPr>
          <a:xfrm>
            <a:off x="9299448" y="2816352"/>
            <a:ext cx="740664" cy="429768"/>
          </a:xfrm>
          <a:prstGeom prst="rect">
            <a:avLst/>
          </a:prstGeom>
          <a:solidFill>
            <a:srgbClr val="C9D9E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9308592" y="2892247"/>
            <a:ext cx="72237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20394A"/>
                </a:solidFill>
                <a:latin typeface="Noto Sans CJK TC"/>
              </a:defRPr>
            </a:pPr>
            <a:r>
              <a:t>0.5230</a:t>
            </a:r>
          </a:p>
        </p:txBody>
      </p:sp>
      <p:sp>
        <p:nvSpPr>
          <p:cNvPr id="97" name="Rectangle 96"/>
          <p:cNvSpPr/>
          <p:nvPr/>
        </p:nvSpPr>
        <p:spPr>
          <a:xfrm>
            <a:off x="10076688" y="2816352"/>
            <a:ext cx="740664" cy="429768"/>
          </a:xfrm>
          <a:prstGeom prst="rect">
            <a:avLst/>
          </a:prstGeom>
          <a:solidFill>
            <a:srgbClr val="B7CCD7"/>
          </a:solidFill>
          <a:ln w="15240">
            <a:solidFill>
              <a:srgbClr val="C7633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10085832" y="2892247"/>
            <a:ext cx="72237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200" b="1">
                <a:solidFill>
                  <a:srgbClr val="20394A"/>
                </a:solidFill>
                <a:latin typeface="Noto Sans CJK TC"/>
              </a:defRPr>
            </a:pPr>
            <a:r>
              <a:t>0.5575</a:t>
            </a:r>
          </a:p>
        </p:txBody>
      </p:sp>
      <p:sp>
        <p:nvSpPr>
          <p:cNvPr id="99" name="Rectangle 98"/>
          <p:cNvSpPr/>
          <p:nvPr/>
        </p:nvSpPr>
        <p:spPr>
          <a:xfrm>
            <a:off x="10853928" y="2816352"/>
            <a:ext cx="740664" cy="429768"/>
          </a:xfrm>
          <a:prstGeom prst="rect">
            <a:avLst/>
          </a:prstGeom>
          <a:solidFill>
            <a:srgbClr val="C3D5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10863072" y="2892247"/>
            <a:ext cx="72237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20394A"/>
                </a:solidFill>
                <a:latin typeface="Noto Sans CJK TC"/>
              </a:defRPr>
            </a:pPr>
            <a:r>
              <a:t>0.5345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8083296" y="3419856"/>
            <a:ext cx="39319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1">
                <a:solidFill>
                  <a:srgbClr val="20394A"/>
                </a:solidFill>
                <a:latin typeface="Noto Sans CJK TC"/>
              </a:defRPr>
            </a:pPr>
            <a:r>
              <a:t>C3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522208" y="3328416"/>
            <a:ext cx="740664" cy="429768"/>
          </a:xfrm>
          <a:prstGeom prst="rect">
            <a:avLst/>
          </a:prstGeom>
          <a:solidFill>
            <a:srgbClr val="E4ECF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531352" y="3404311"/>
            <a:ext cx="72237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20394A"/>
                </a:solidFill>
                <a:latin typeface="Noto Sans CJK TC"/>
              </a:defRPr>
            </a:pPr>
            <a:r>
              <a:t>0.4713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9299448" y="3328416"/>
            <a:ext cx="740664" cy="429768"/>
          </a:xfrm>
          <a:prstGeom prst="rect">
            <a:avLst/>
          </a:prstGeom>
          <a:solidFill>
            <a:srgbClr val="C3D5D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308592" y="3404311"/>
            <a:ext cx="72237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20394A"/>
                </a:solidFill>
                <a:latin typeface="Noto Sans CJK TC"/>
              </a:defRPr>
            </a:pPr>
            <a:r>
              <a:t>0.5345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0076688" y="3328416"/>
            <a:ext cx="740664" cy="429768"/>
          </a:xfrm>
          <a:prstGeom prst="rect">
            <a:avLst/>
          </a:prstGeom>
          <a:solidFill>
            <a:srgbClr val="A7C2CF"/>
          </a:solidFill>
          <a:ln w="15240">
            <a:solidFill>
              <a:srgbClr val="C7633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0085832" y="3404311"/>
            <a:ext cx="72237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200" b="1">
                <a:solidFill>
                  <a:srgbClr val="20394A"/>
                </a:solidFill>
                <a:latin typeface="Noto Sans CJK TC"/>
              </a:defRPr>
            </a:pPr>
            <a:r>
              <a:t>0.5862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10853928" y="3328416"/>
            <a:ext cx="740664" cy="429768"/>
          </a:xfrm>
          <a:prstGeom prst="rect">
            <a:avLst/>
          </a:prstGeom>
          <a:solidFill>
            <a:srgbClr val="B1C8D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10863072" y="3404311"/>
            <a:ext cx="72237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20394A"/>
                </a:solidFill>
                <a:latin typeface="Noto Sans CJK TC"/>
              </a:defRPr>
            </a:pPr>
            <a:r>
              <a:t>0.5690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083296" y="3931920"/>
            <a:ext cx="39319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1">
                <a:solidFill>
                  <a:srgbClr val="20394A"/>
                </a:solidFill>
                <a:latin typeface="Noto Sans CJK TC"/>
              </a:defRPr>
            </a:pPr>
            <a:r>
              <a:t>C4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8522208" y="3840480"/>
            <a:ext cx="740664" cy="429768"/>
          </a:xfrm>
          <a:prstGeom prst="rect">
            <a:avLst/>
          </a:prstGeom>
          <a:solidFill>
            <a:srgbClr val="CFDDE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8531352" y="3916375"/>
            <a:ext cx="72237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20394A"/>
                </a:solidFill>
                <a:latin typeface="Noto Sans CJK TC"/>
              </a:defRPr>
            </a:pPr>
            <a:r>
              <a:t>0.5115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9299448" y="3840480"/>
            <a:ext cx="740664" cy="429768"/>
          </a:xfrm>
          <a:prstGeom prst="rect">
            <a:avLst/>
          </a:prstGeom>
          <a:solidFill>
            <a:srgbClr val="AEC6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9308592" y="3916375"/>
            <a:ext cx="72237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20394A"/>
                </a:solidFill>
                <a:latin typeface="Noto Sans CJK TC"/>
              </a:defRPr>
            </a:pPr>
            <a:r>
              <a:t>0.5747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0076688" y="3840480"/>
            <a:ext cx="740664" cy="429768"/>
          </a:xfrm>
          <a:prstGeom prst="rect">
            <a:avLst/>
          </a:prstGeom>
          <a:solidFill>
            <a:srgbClr val="A1BECB"/>
          </a:solidFill>
          <a:ln w="15240">
            <a:solidFill>
              <a:srgbClr val="C7633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0085832" y="3916375"/>
            <a:ext cx="72237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200" b="1">
                <a:solidFill>
                  <a:srgbClr val="20394A"/>
                </a:solidFill>
                <a:latin typeface="Noto Sans CJK TC"/>
              </a:defRPr>
            </a:pPr>
            <a:r>
              <a:t>0.5977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10853928" y="3840480"/>
            <a:ext cx="740664" cy="429768"/>
          </a:xfrm>
          <a:prstGeom prst="rect">
            <a:avLst/>
          </a:prstGeom>
          <a:solidFill>
            <a:srgbClr val="A7C2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10863072" y="3916375"/>
            <a:ext cx="72237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20394A"/>
                </a:solidFill>
                <a:latin typeface="Noto Sans CJK TC"/>
              </a:defRPr>
            </a:pPr>
            <a:r>
              <a:t>0.5862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083296" y="4443983"/>
            <a:ext cx="39319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300" b="1">
                <a:solidFill>
                  <a:srgbClr val="20394A"/>
                </a:solidFill>
                <a:latin typeface="Noto Sans CJK TC"/>
              </a:defRPr>
            </a:pPr>
            <a:r>
              <a:t>C5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8522208" y="4352544"/>
            <a:ext cx="740664" cy="429768"/>
          </a:xfrm>
          <a:prstGeom prst="rect">
            <a:avLst/>
          </a:prstGeom>
          <a:solidFill>
            <a:srgbClr val="DBE6E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8531352" y="4428439"/>
            <a:ext cx="72237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20394A"/>
                </a:solidFill>
                <a:latin typeface="Noto Sans CJK TC"/>
              </a:defRPr>
            </a:pPr>
            <a:r>
              <a:t>0.4885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9299448" y="4352544"/>
            <a:ext cx="740664" cy="429768"/>
          </a:xfrm>
          <a:prstGeom prst="rect">
            <a:avLst/>
          </a:prstGeom>
          <a:solidFill>
            <a:srgbClr val="C0D3D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9308592" y="4428439"/>
            <a:ext cx="72237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20394A"/>
                </a:solidFill>
                <a:latin typeface="Noto Sans CJK TC"/>
              </a:defRPr>
            </a:pPr>
            <a:r>
              <a:t>0.5402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0076688" y="4352544"/>
            <a:ext cx="740664" cy="429768"/>
          </a:xfrm>
          <a:prstGeom prst="rect">
            <a:avLst/>
          </a:prstGeom>
          <a:solidFill>
            <a:srgbClr val="B4CA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10085832" y="4428439"/>
            <a:ext cx="72237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200" b="0">
                <a:solidFill>
                  <a:srgbClr val="20394A"/>
                </a:solidFill>
                <a:latin typeface="Noto Sans CJK TC"/>
              </a:defRPr>
            </a:pPr>
            <a:r>
              <a:t>0.5632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10853928" y="4352544"/>
            <a:ext cx="740664" cy="429768"/>
          </a:xfrm>
          <a:prstGeom prst="rect">
            <a:avLst/>
          </a:prstGeom>
          <a:solidFill>
            <a:srgbClr val="A5C0CD"/>
          </a:solidFill>
          <a:ln w="15240">
            <a:solidFill>
              <a:srgbClr val="C7633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10863072" y="4428439"/>
            <a:ext cx="722376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200" b="1">
                <a:solidFill>
                  <a:srgbClr val="20394A"/>
                </a:solidFill>
                <a:latin typeface="Noto Sans CJK TC"/>
              </a:defRPr>
            </a:pPr>
            <a:r>
              <a:t>0.5908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548640" y="5148072"/>
            <a:ext cx="429768" cy="128016"/>
          </a:xfrm>
          <a:prstGeom prst="rect">
            <a:avLst/>
          </a:prstGeom>
          <a:solidFill>
            <a:srgbClr val="EFF4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987552" y="5148072"/>
            <a:ext cx="429768" cy="128016"/>
          </a:xfrm>
          <a:prstGeom prst="rect">
            <a:avLst/>
          </a:prstGeom>
          <a:solidFill>
            <a:srgbClr val="BACFD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1426464" y="5148072"/>
            <a:ext cx="429768" cy="128016"/>
          </a:xfrm>
          <a:prstGeom prst="rect">
            <a:avLst/>
          </a:prstGeom>
          <a:solidFill>
            <a:srgbClr val="86AAB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1865376" y="5148072"/>
            <a:ext cx="429768" cy="128016"/>
          </a:xfrm>
          <a:prstGeom prst="rect">
            <a:avLst/>
          </a:prstGeom>
          <a:solidFill>
            <a:srgbClr val="52869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2304288" y="5148072"/>
            <a:ext cx="429768" cy="128016"/>
          </a:xfrm>
          <a:prstGeom prst="rect">
            <a:avLst/>
          </a:prstGeom>
          <a:solidFill>
            <a:srgbClr val="1D61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548640" y="5376672"/>
            <a:ext cx="3657600" cy="3017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607482"/>
                </a:solidFill>
                <a:latin typeface="Noto Sans CJK TC"/>
              </a:defRPr>
            </a:pPr>
            <a:r>
              <a:t>BA 0.45 → 0.85；橘框：列內最高（含並列）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4617720" y="5010912"/>
            <a:ext cx="690372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700" b="1">
                <a:solidFill>
                  <a:srgbClr val="142D40"/>
                </a:solidFill>
                <a:latin typeface="Noto Sans CJK TC"/>
              </a:defRPr>
            </a:pPr>
            <a:r>
              <a:t>Hayes：FM 常最佳或並列｜Car：Global 最佳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700" b="1">
                <a:solidFill>
                  <a:srgbClr val="142D40"/>
                </a:solidFill>
                <a:latin typeface="Noto Sans CJK TC"/>
              </a:defRPr>
            </a:pPr>
            <a:r>
              <a:t>Balance：STD 在 C2–4 最佳，C5 改為 Global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502920" y="6099048"/>
            <a:ext cx="11173968" cy="10972"/>
          </a:xfrm>
          <a:prstGeom prst="rect">
            <a:avLst/>
          </a:prstGeom>
          <a:solidFill>
            <a:srgbClr val="D8E1E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502920" y="6208776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607482"/>
                </a:solidFill>
                <a:latin typeface="Noto Sans CJK TC"/>
              </a:defRPr>
            </a:pPr>
            <a:r>
              <a:t>圖意｜在這三個 frozen datasets 與四個 C 設定中，沒有 universal winner。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502920" y="6537960"/>
            <a:ext cx="107899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607482"/>
                </a:solidFill>
                <a:latin typeface="Noto Sans CJK TC"/>
              </a:defRPr>
            </a:pPr>
            <a:r>
              <a:t>來源：鎖定研究事實 §8；48 個 BA 數值直接轉錄，非本次重新訓練；無誤差棒或顯著性結論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1173968" y="6455664"/>
            <a:ext cx="5029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607482"/>
                </a:solidFill>
                <a:latin typeface="Noto Sans CJK TC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D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142D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050" b="1">
                <a:solidFill>
                  <a:srgbClr val="8ED4CF"/>
                </a:solidFill>
                <a:latin typeface="Noto Sans CJK TC"/>
              </a:defRPr>
            </a:pPr>
            <a:r>
              <a:t>RESEARCH MEETING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11556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FFFFFF"/>
                </a:solidFill>
                <a:latin typeface="Noto Sans CJK TC"/>
              </a:defRPr>
            </a:pPr>
            <a:r>
              <a:t>目前貢獻：共同證據上的系統性比較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901952"/>
            <a:ext cx="1097280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700" b="1">
                <a:solidFill>
                  <a:srgbClr val="8ED4CF"/>
                </a:solidFill>
                <a:latin typeface="Noto Sans CJK TC"/>
              </a:defRPr>
            </a:pPr>
            <a:r>
              <a:t>Policy* = f(Dataset, Rule Structure,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700" b="1">
                <a:solidFill>
                  <a:srgbClr val="8ED4CF"/>
                </a:solidFill>
                <a:latin typeface="Noto Sans CJK TC"/>
              </a:defRPr>
            </a:pPr>
            <a:r>
              <a:t>                    Conflict Workload, Client Configuration)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29000"/>
            <a:ext cx="1088136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500" b="1">
                <a:solidFill>
                  <a:srgbClr val="FFFFFF"/>
                </a:solidFill>
                <a:latin typeface="Noto Sans CJK TC"/>
              </a:defRPr>
            </a:pPr>
            <a:r>
              <a:t>將既有 prediction／conflict mechanisms 整合到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500" b="1">
                <a:solidFill>
                  <a:srgbClr val="FFFFFF"/>
                </a:solidFill>
                <a:latin typeface="Noto Sans CJK TC"/>
              </a:defRPr>
            </a:pPr>
            <a:r>
              <a:t>同一個 frozen Federated LEM2 artifact，研究 client fragmentation。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965192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700" b="0">
                <a:solidFill>
                  <a:srgbClr val="D0E2EA"/>
                </a:solidFill>
                <a:latin typeface="Noto Sans CJK TC"/>
              </a:defRPr>
            </a:pPr>
            <a:r>
              <a:t>證據邊界：目前 frozen UCI3；不宣稱新發明四種策略，也不宣稱普遍最佳。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099048"/>
            <a:ext cx="11173968" cy="10972"/>
          </a:xfrm>
          <a:prstGeom prst="rect">
            <a:avLst/>
          </a:prstGeom>
          <a:solidFill>
            <a:srgbClr val="4360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208776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B8CFD9"/>
                </a:solidFill>
                <a:latin typeface="Noto Sans CJK TC"/>
              </a:defRPr>
            </a:pPr>
            <a:r>
              <a:t>圖意｜貢獻定位在研究設計與機制比較，結論隨資料與設定而定。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37960"/>
            <a:ext cx="107899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A5BFCD"/>
                </a:solidFill>
                <a:latin typeface="Noto Sans CJK TC"/>
              </a:defRPr>
            </a:pPr>
            <a:r>
              <a:t>來源：鎖定研究事實 §§5–9；Policy* 為研究概念表達，並非已擬合的預測模型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73968" y="6455664"/>
            <a:ext cx="5029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B8CFD9"/>
                </a:solidFill>
                <a:latin typeface="Noto Sans CJK TC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F7F8F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050" b="1">
                <a:solidFill>
                  <a:srgbClr val="007F82"/>
                </a:solidFill>
                <a:latin typeface="Noto Sans CJK TC"/>
              </a:defRPr>
            </a:pPr>
            <a:r>
              <a:t>RESEARCH MEETING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11556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142D40"/>
                </a:solidFill>
                <a:latin typeface="Noto Sans CJK TC"/>
              </a:defRPr>
            </a:pPr>
            <a:r>
              <a:t>可重現性：研究快照與本機驗證各自標示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792224"/>
            <a:ext cx="6510528" cy="1837943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792224"/>
            <a:ext cx="41148" cy="1837943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1929384"/>
            <a:ext cx="619963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100" b="1">
                <a:solidFill>
                  <a:srgbClr val="007F82"/>
                </a:solidFill>
                <a:latin typeface="Noto Sans CJK TC"/>
              </a:defRPr>
            </a:pPr>
            <a:r>
              <a:t>Canonical research snapshot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459736"/>
            <a:ext cx="6199632" cy="11155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20394A"/>
                </a:solidFill>
                <a:latin typeface="Noto Sans CJK TC"/>
              </a:defRPr>
            </a:pPr>
            <a:r>
              <a:t>Branch：research/conflict-client-sweep-20261020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20394A"/>
                </a:solidFill>
                <a:latin typeface="Noto Sans CJK TC"/>
              </a:defRPr>
            </a:pPr>
            <a:r>
              <a:t>Head：b12730d0a777…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20394A"/>
                </a:solidFill>
                <a:latin typeface="Noto Sans CJK TC"/>
              </a:defRPr>
            </a:pPr>
            <a:r>
              <a:t>PR #5：Draft / Open / Not merged（備份記錄）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42631" y="1792224"/>
            <a:ext cx="4261104" cy="1837943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42631" y="1792224"/>
            <a:ext cx="41148" cy="1837943"/>
          </a:xfrm>
          <a:prstGeom prst="rect">
            <a:avLst/>
          </a:prstGeom>
          <a:solidFill>
            <a:srgbClr val="2774A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07223" y="1929384"/>
            <a:ext cx="395020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100" b="1">
                <a:solidFill>
                  <a:srgbClr val="2774AE"/>
                </a:solidFill>
                <a:latin typeface="Noto Sans CJK TC"/>
              </a:defRPr>
            </a:pPr>
            <a:r>
              <a:t>備份記錄的 CI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07223" y="2459736"/>
            <a:ext cx="3950208" cy="11155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20394A"/>
                </a:solidFill>
                <a:latin typeface="Noto Sans CJK TC"/>
              </a:defRPr>
            </a:pPr>
            <a:r>
              <a:t>Python 3.12 · compile PASS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20394A"/>
                </a:solidFill>
                <a:latin typeface="Noto Sans CJK TC"/>
              </a:defRPr>
            </a:pPr>
            <a:r>
              <a:t>pytest：105 passed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600" b="0">
                <a:solidFill>
                  <a:srgbClr val="20394A"/>
                </a:solidFill>
                <a:latin typeface="Noto Sans CJK TC"/>
              </a:defRPr>
            </a:pPr>
            <a:r>
              <a:t>Linux CI ≠ Windows 實機雙擊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941063"/>
            <a:ext cx="6510528" cy="148132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3941063"/>
            <a:ext cx="41148" cy="1481328"/>
          </a:xfrm>
          <a:prstGeom prst="rect">
            <a:avLst/>
          </a:prstGeom>
          <a:solidFill>
            <a:srgbClr val="007F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" y="4078224"/>
            <a:ext cx="6199632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000" b="1">
                <a:solidFill>
                  <a:srgbClr val="007F82"/>
                </a:solidFill>
                <a:latin typeface="Noto Sans CJK TC"/>
              </a:defRPr>
            </a:pPr>
            <a:r>
              <a:t>實作入口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4608575"/>
            <a:ext cx="6199632" cy="758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20394A"/>
                </a:solidFill>
                <a:latin typeface="Noto Sans CJK TC"/>
              </a:defRPr>
            </a:pPr>
            <a:r>
              <a:t>roughset/evaluation.py::predict_with_policy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20394A"/>
                </a:solidFill>
                <a:latin typeface="Noto Sans CJK TC"/>
              </a:defRPr>
            </a:pPr>
            <a:r>
              <a:t>reference/policies/ · established_metrics.py · batch.py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42631" y="3941063"/>
            <a:ext cx="4261104" cy="1481328"/>
          </a:xfrm>
          <a:prstGeom prst="roundRect">
            <a:avLst>
              <a:gd name="adj" fmla="val 12000"/>
            </a:avLst>
          </a:prstGeom>
          <a:solidFill>
            <a:srgbClr val="F8ECE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42631" y="3941063"/>
            <a:ext cx="41148" cy="1481328"/>
          </a:xfrm>
          <a:prstGeom prst="rect">
            <a:avLst/>
          </a:prstGeom>
          <a:solidFill>
            <a:srgbClr val="C7633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07223" y="4078224"/>
            <a:ext cx="395020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900" b="1">
                <a:solidFill>
                  <a:srgbClr val="C76332"/>
                </a:solidFill>
                <a:latin typeface="Noto Sans CJK TC"/>
              </a:defRPr>
            </a:pPr>
            <a:r>
              <a:t>本次既有 main 環境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07223" y="4608575"/>
            <a:ext cx="3950208" cy="7589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20394A"/>
                </a:solidFill>
                <a:latin typeface="Noto Sans CJK TC"/>
              </a:defRPr>
            </a:pPr>
            <a:r>
              <a:t>Python 3.13.5 · 100 tests passed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400" b="0">
                <a:solidFill>
                  <a:srgbClr val="20394A"/>
                </a:solidFill>
                <a:latin typeface="Noto Sans CJK TC"/>
              </a:defRPr>
            </a:pPr>
            <a:r>
              <a:t>UCI 網路驗證受阻；未重跑表中數據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6099048"/>
            <a:ext cx="11173968" cy="10972"/>
          </a:xfrm>
          <a:prstGeom prst="rect">
            <a:avLst/>
          </a:prstGeom>
          <a:solidFill>
            <a:srgbClr val="D8E1E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6208776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607482"/>
                </a:solidFill>
                <a:latin typeface="Noto Sans CJK TC"/>
              </a:defRPr>
            </a:pPr>
            <a:r>
              <a:t>圖意｜105 tests 屬備份研究分支；100 tests 屬本次 main，兩者不是同一份驗證。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37960"/>
            <a:ext cx="107899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607482"/>
                </a:solidFill>
                <a:latin typeface="Noto Sans CJK TC"/>
              </a:defRPr>
            </a:pPr>
            <a:r>
              <a:t>來源：repository_state.json；鎖定事實 §10；本次環境驗證記錄（main 31b078bb…）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73968" y="6455664"/>
            <a:ext cx="5029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607482"/>
                </a:solidFill>
                <a:latin typeface="Noto Sans CJK TC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D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609" cy="6858000"/>
          </a:xfrm>
          <a:prstGeom prst="rect">
            <a:avLst/>
          </a:prstGeom>
          <a:solidFill>
            <a:srgbClr val="142D4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37744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050" b="1">
                <a:solidFill>
                  <a:srgbClr val="8ED4CF"/>
                </a:solidFill>
                <a:latin typeface="Noto Sans CJK TC"/>
              </a:defRPr>
            </a:pPr>
            <a:r>
              <a:t>RESEARCH MEETING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11556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900" b="1">
                <a:solidFill>
                  <a:srgbClr val="FFFFFF"/>
                </a:solidFill>
                <a:latin typeface="Noto Sans CJK TC"/>
              </a:defRPr>
            </a:pPr>
            <a:r>
              <a:t>下一步：把機制證據推進到統計證據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01368"/>
            <a:ext cx="777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3100" b="1">
                <a:solidFill>
                  <a:srgbClr val="8ED4CF"/>
                </a:solidFill>
                <a:latin typeface="Noto Sans CJK TC"/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801368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300" b="1">
                <a:solidFill>
                  <a:srgbClr val="FFFFFF"/>
                </a:solidFill>
                <a:latin typeface="Noto Sans CJK TC"/>
              </a:defRPr>
            </a:pPr>
            <a:r>
              <a:t>Research 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1801368"/>
            <a:ext cx="6537960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000" b="0">
                <a:solidFill>
                  <a:srgbClr val="D5E7ED"/>
                </a:solidFill>
                <a:latin typeface="Noto Sans CJK TC"/>
              </a:defRPr>
            </a:pPr>
            <a:r>
              <a:t>是否以 client fragmentation → conflict workload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000" b="0">
                <a:solidFill>
                  <a:srgbClr val="D5E7ED"/>
                </a:solidFill>
                <a:latin typeface="Noto Sans CJK TC"/>
              </a:defRPr>
            </a:pPr>
            <a:r>
              <a:t>→ policy performance 作為正式主線？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81528"/>
            <a:ext cx="777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3100" b="1">
                <a:solidFill>
                  <a:srgbClr val="8ED4CF"/>
                </a:solidFill>
                <a:latin typeface="Noto Sans CJK TC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3081528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300" b="1">
                <a:solidFill>
                  <a:srgbClr val="FFFFFF"/>
                </a:solidFill>
                <a:latin typeface="Noto Sans CJK TC"/>
              </a:defRPr>
            </a:pPr>
            <a:r>
              <a:t>Dataset scope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3081528"/>
            <a:ext cx="6537960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000" b="0">
                <a:solidFill>
                  <a:srgbClr val="D5E7ED"/>
                </a:solidFill>
                <a:latin typeface="Noto Sans CJK TC"/>
              </a:defRPr>
            </a:pPr>
            <a:r>
              <a:t>擴充哪些資料集？如何涵蓋不同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000" b="0">
                <a:solidFill>
                  <a:srgbClr val="D5E7ED"/>
                </a:solidFill>
                <a:latin typeface="Noto Sans CJK TC"/>
              </a:defRPr>
            </a:pPr>
            <a:r>
              <a:t>類別不平衡與規則重疊型態？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361688"/>
            <a:ext cx="7772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3100" b="1">
                <a:solidFill>
                  <a:srgbClr val="8ED4CF"/>
                </a:solidFill>
                <a:latin typeface="Noto Sans CJK TC"/>
              </a:defRPr>
            </a:pPr>
            <a: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4361688"/>
            <a:ext cx="3246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300" b="1">
                <a:solidFill>
                  <a:srgbClr val="FFFFFF"/>
                </a:solidFill>
                <a:latin typeface="Noto Sans CJK TC"/>
              </a:defRPr>
            </a:pPr>
            <a:r>
              <a:t>Statistics scope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4361688"/>
            <a:ext cx="6537960" cy="8412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000" b="0">
                <a:solidFill>
                  <a:srgbClr val="D5E7ED"/>
                </a:solidFill>
                <a:latin typeface="Noto Sans CJK TC"/>
              </a:defRPr>
            </a:pPr>
            <a:r>
              <a:t>先收集多個 seeds／splits，再規劃</a:t>
            </a:r>
          </a:p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2000" b="0">
                <a:solidFill>
                  <a:srgbClr val="D5E7ED"/>
                </a:solidFill>
                <a:latin typeface="Noto Sans CJK TC"/>
              </a:defRPr>
            </a:pPr>
            <a:r>
              <a:t>Friedman + post-hoc／paired Wilcoxon。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6099048"/>
            <a:ext cx="11173968" cy="10972"/>
          </a:xfrm>
          <a:prstGeom prst="rect">
            <a:avLst/>
          </a:prstGeom>
          <a:solidFill>
            <a:srgbClr val="4360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6208776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B8CFD9"/>
                </a:solidFill>
                <a:latin typeface="Noto Sans CJK TC"/>
              </a:defRPr>
            </a:pPr>
            <a:r>
              <a:t>圖意｜需要共同決定研究問題、資料範圍與重複實驗的統計設計。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37960"/>
            <a:ext cx="1078992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900" b="0">
                <a:solidFill>
                  <a:srgbClr val="A5BFCD"/>
                </a:solidFill>
                <a:latin typeface="Noto Sans CJK TC"/>
              </a:defRPr>
            </a:pPr>
            <a:r>
              <a:t>來源：鎖定研究事實 §§6–7；會議講法收尾；Demšar (2006)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73968" y="6455664"/>
            <a:ext cx="50292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Bef>
                <a:spcPts val="0"/>
              </a:spcBef>
              <a:spcAft>
                <a:spcPts val="300"/>
              </a:spcAft>
              <a:defRPr sz="1100" b="0">
                <a:solidFill>
                  <a:srgbClr val="B8CFD9"/>
                </a:solidFill>
                <a:latin typeface="Noto Sans CJK TC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Federated LEM2｜Client fragmentation 與預測策略</dc:title>
  <dc:subject>2026-10-22 研究會議｜依提供備份鎖定事實製作</dc:subject>
  <dc:creator>LEM2 Research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zh-TW</dc:language>
</cp:coreProperties>
</file>