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9" r:id="rId30"/>
    <p:sldId id="280" r:id="rId31"/>
    <p:sldId id="281" r:id="rId32"/>
    <p:sldId id="282" r:id="rId33"/>
    <p:sldId id="283" r:id="rId34"/>
    <p:sldId id="271" r:id="rId22"/>
    <p:sldId id="272" r:id="rId23"/>
    <p:sldId id="273" r:id="rId24"/>
    <p:sldId id="284" r:id="rId35"/>
    <p:sldId id="285" r:id="rId36"/>
    <p:sldId id="289" r:id="rId40"/>
    <p:sldId id="290" r:id="rId41"/>
    <p:sldId id="291" r:id="rId42"/>
    <p:sldId id="286" r:id="rId37"/>
    <p:sldId id="292" r:id="rId43"/>
    <p:sldId id="293" r:id="rId44"/>
    <p:sldId id="287" r:id="rId38"/>
    <p:sldId id="288" r:id="rId39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9.xml"/><Relationship Id="rId26" Type="http://schemas.openxmlformats.org/officeDocument/2006/relationships/slide" Target="slides/slide30.xml"/><Relationship Id="rId27" Type="http://schemas.openxmlformats.org/officeDocument/2006/relationships/slide" Target="slides/slide31.xml"/><Relationship Id="rId28" Type="http://schemas.openxmlformats.org/officeDocument/2006/relationships/slide" Target="slides/slide32.xml"/><Relationship Id="rId29" Type="http://schemas.openxmlformats.org/officeDocument/2006/relationships/slide" Target="slides/slide33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4.xml"/><Relationship Id="rId36" Type="http://schemas.openxmlformats.org/officeDocument/2006/relationships/slide" Target="slides/slide25.xml"/><Relationship Id="rId37" Type="http://schemas.openxmlformats.org/officeDocument/2006/relationships/slide" Target="slides/slide26.xml"/><Relationship Id="rId38" Type="http://schemas.openxmlformats.org/officeDocument/2006/relationships/slide" Target="slides/slide27.xml"/><Relationship Id="rId39" Type="http://schemas.openxmlformats.org/officeDocument/2006/relationships/slide" Target="slides/slide28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438912"/>
            <a:ext cx="5029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B7780"/>
                </a:solidFill>
                <a:latin typeface="Noto Sans CJK TC"/>
              </a:rPr>
              <a:t>PROFESSOR QUESTION CLOSURE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78992"/>
            <a:ext cx="10881360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1F2933"/>
                </a:solidFill>
                <a:latin typeface="Noto Sans CJK TC"/>
              </a:rPr>
              <a:t>Federated LEM2：把上次老師的問題逐題回答完整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057400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2B7A78"/>
                </a:solidFill>
                <a:latin typeface="Noto Sans CJK TC"/>
              </a:rPr>
              <a:t>資料規模 → 80/20 → 六方法 → Coverage → Standard / Global 改前改後 → 3×5 Target 回查 → 錯誤分解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520440"/>
            <a:ext cx="2377440" cy="1234440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70332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4A78A8"/>
                </a:solidFill>
                <a:latin typeface="Noto Sans CJK TC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4187952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F2933"/>
                </a:solidFill>
                <a:latin typeface="Noto Sans CJK TC"/>
              </a:rPr>
              <a:t>UCI datasets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8728" y="3520440"/>
            <a:ext cx="2377440" cy="123444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30168" y="370332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4C8A61"/>
                </a:solidFill>
                <a:latin typeface="Noto Sans CJK TC"/>
              </a:rPr>
              <a:t>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456" y="4187952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F2933"/>
                </a:solidFill>
                <a:latin typeface="Noto Sans CJK TC"/>
              </a:rPr>
              <a:t>prediction methods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0216" y="3520440"/>
            <a:ext cx="2377440" cy="1234440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1655" y="370332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C96A3D"/>
                </a:solidFill>
                <a:latin typeface="Noto Sans CJK TC"/>
              </a:rPr>
              <a:t>15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9944" y="4187952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F2933"/>
                </a:solidFill>
                <a:latin typeface="Noto Sans CJK TC"/>
              </a:rPr>
              <a:t>target backtraces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61704" y="3520440"/>
            <a:ext cx="2377440" cy="123444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53144" y="3703320"/>
            <a:ext cx="21945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800" b="1">
                <a:solidFill>
                  <a:srgbClr val="B65252"/>
                </a:solidFill>
                <a:latin typeface="Noto Sans CJK TC"/>
              </a:rPr>
              <a:t>908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71432" y="4187952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0">
                <a:solidFill>
                  <a:srgbClr val="1F2933"/>
                </a:solidFill>
                <a:latin typeface="Noto Sans CJK TC"/>
              </a:rPr>
              <a:t>conflict occurrences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30368"/>
            <a:ext cx="103327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F2933"/>
                </a:solidFill>
                <a:latin typeface="Noto Sans CJK TC"/>
              </a:rPr>
              <a:t>這一版不先談「新發現」，而是先把老師上次每一題用 code → evidence → result 回答完。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80">
                <a:solidFill>
                  <a:srgbClr val="6B7780"/>
                </a:solidFill>
                <a:latin typeface="Noto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老師上次到底問了什麼？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本版簡報的順序完全照這張 checklist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98448"/>
            <a:ext cx="420624" cy="42062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B7A78"/>
                </a:solidFill>
                <a:latin typeface="Noto Sans CJK T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89888" y="1362456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Noto Sans CJK TC"/>
              </a:rPr>
              <a:t>三份資料有幾筆？幾個 headers / factors？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920240"/>
            <a:ext cx="420624" cy="42062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B7A78"/>
                </a:solidFill>
                <a:latin typeface="Noto Sans CJK TC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89888" y="198424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Noto Sans CJK TC"/>
              </a:rPr>
              <a:t>80/20 怎麼切？20% 有沒有參與建模？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542032"/>
            <a:ext cx="420624" cy="42062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615184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B7A78"/>
                </a:solidFill>
                <a:latin typeface="Noto Sans CJK TC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89888" y="2606040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Noto Sans CJK TC"/>
              </a:rPr>
              <a:t>同一資料跑六種方法，Acc / Recall / F1 到底是多少？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3163824"/>
            <a:ext cx="420624" cy="42062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236976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B7A78"/>
                </a:solidFill>
                <a:latin typeface="Noto Sans CJK TC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89888" y="3227832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Noto Sans CJK TC"/>
              </a:rPr>
              <a:t>Overall Coverage、Target Coverage 到底是多少？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85616"/>
            <a:ext cx="420624" cy="42062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58768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B7A78"/>
                </a:solidFill>
                <a:latin typeface="Noto Sans CJK TC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3849624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3"/>
                </a:solidFill>
                <a:latin typeface="Noto Sans CJK TC"/>
              </a:rPr>
              <a:t>Standard 的 3+3 為什麼有問題？改完 A/B 誰贏？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407408"/>
            <a:ext cx="420624" cy="42062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80560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B7A78"/>
                </a:solidFill>
                <a:latin typeface="Noto Sans CJK TC"/>
              </a:rP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4471416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3"/>
                </a:solidFill>
                <a:latin typeface="Noto Sans CJK TC"/>
              </a:rPr>
              <a:t>Global 改法和原 GlobalStrength 差在哪？winner 怎麼變？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029200"/>
            <a:ext cx="420624" cy="42062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102352"/>
            <a:ext cx="42062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2B7A78"/>
                </a:solidFill>
                <a:latin typeface="Noto Sans CJK TC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5093208"/>
            <a:ext cx="9875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3"/>
                </a:solidFill>
                <a:latin typeface="Noto Sans CJK TC"/>
              </a:rPr>
              <a:t>每個 dataset 的 Target 1–5 回查後，差別到底在哪？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後面的 Redundancy Asymmetry 只能放在「回答完老師」之後，不能反過來取代老師的問題。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80">
                <a:solidFill>
                  <a:srgbClr val="6B7780"/>
                </a:solidFill>
                <a:latin typeface="Noto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1. 資料規模：Rows、Headers、Factors 全部明列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Headers = condition attributes + 1 decision column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老師問的「資料比數＋標頭量」現在由程式自動輸出，不再只寫 Attrs。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80">
                <a:solidFill>
                  <a:srgbClr val="6B7780"/>
                </a:solidFill>
                <a:latin typeface="Noto Sans"/>
              </a:rPr>
              <a:t>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1417320"/>
            <a:ext cx="315468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" y="1572768"/>
            <a:ext cx="64008" cy="3246120"/>
          </a:xfrm>
          <a:prstGeom prst="rect">
            <a:avLst/>
          </a:prstGeom>
          <a:solidFill>
            <a:srgbClr val="5882A4"/>
          </a:solidFill>
          <a:ln w="10160">
            <a:solidFill>
              <a:srgbClr val="5882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1" y="1572768"/>
            <a:ext cx="2606040" cy="3840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5882A4"/>
                </a:solidFill>
                <a:latin typeface="Noto Sans CJK TC"/>
              </a:rPr>
              <a:t>Hayes-Roth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1" y="2057400"/>
            <a:ext cx="2606040" cy="4389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2100" b="1">
                <a:solidFill>
                  <a:srgbClr val="273A4C"/>
                </a:solidFill>
                <a:latin typeface="Noto Sans CJK TC"/>
              </a:rPr>
              <a:t>132 rows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33271" y="2697480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Headers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40864" y="2697480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3271" y="3118104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Factors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340864" y="3118104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33271" y="3538728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Classes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340864" y="3538728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3271" y="3959352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Train 80%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40864" y="3959352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106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3271" y="4379976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Test 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40864" y="4379976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26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3271" y="4590288"/>
            <a:ext cx="260604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30" b="0">
                <a:solidFill>
                  <a:srgbClr val="667580"/>
                </a:solidFill>
                <a:latin typeface="Noto Sans CJK TC"/>
              </a:rPr>
              <a:t>Headers = factors + 1 decision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133087" y="1417320"/>
            <a:ext cx="315468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42816" y="1572768"/>
            <a:ext cx="64008" cy="3246120"/>
          </a:xfrm>
          <a:prstGeom prst="rect">
            <a:avLst/>
          </a:prstGeom>
          <a:solidFill>
            <a:srgbClr val="36756C"/>
          </a:solidFill>
          <a:ln w="10160">
            <a:solidFill>
              <a:srgbClr val="3675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53127" y="1572768"/>
            <a:ext cx="2606040" cy="3840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36756C"/>
                </a:solidFill>
                <a:latin typeface="Noto Sans CJK TC"/>
              </a:rPr>
              <a:t>Car Evaluation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53127" y="2057400"/>
            <a:ext cx="2606040" cy="4389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2100" b="1">
                <a:solidFill>
                  <a:srgbClr val="273A4C"/>
                </a:solidFill>
                <a:latin typeface="Noto Sans CJK TC"/>
              </a:rPr>
              <a:t>1728 rows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453127" y="2697480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Headers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760720" y="2697480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453127" y="3118104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Factors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760720" y="3118104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453127" y="3538728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Classes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60720" y="3538728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53127" y="3959352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Train 80%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60720" y="3959352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1382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53127" y="4379976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Test 20%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760720" y="4379976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346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453127" y="4590288"/>
            <a:ext cx="260604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30" b="0">
                <a:solidFill>
                  <a:srgbClr val="667580"/>
                </a:solidFill>
                <a:latin typeface="Noto Sans CJK TC"/>
              </a:rPr>
              <a:t>Headers = factors + 1 decision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552944" y="1417320"/>
            <a:ext cx="315468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7662671" y="1572768"/>
            <a:ext cx="64008" cy="3246120"/>
          </a:xfrm>
          <a:prstGeom prst="rect">
            <a:avLst/>
          </a:prstGeom>
          <a:solidFill>
            <a:srgbClr val="937737"/>
          </a:solidFill>
          <a:ln w="10160">
            <a:solidFill>
              <a:srgbClr val="937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872983" y="1572768"/>
            <a:ext cx="2606040" cy="3840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500" b="1">
                <a:solidFill>
                  <a:srgbClr val="937737"/>
                </a:solidFill>
                <a:latin typeface="Noto Sans CJK TC"/>
              </a:rPr>
              <a:t>Balance Scale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872983" y="2057400"/>
            <a:ext cx="2606040" cy="4389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2100" b="1">
                <a:solidFill>
                  <a:srgbClr val="273A4C"/>
                </a:solidFill>
                <a:latin typeface="Noto Sans CJK TC"/>
              </a:rPr>
              <a:t>625 rows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872983" y="2697480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Headers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80576" y="2697480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72983" y="3118104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Factors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80576" y="3118104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72983" y="3538728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Classes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180576" y="3538728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872983" y="3959352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Train 80%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180576" y="3959352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499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72983" y="4379976"/>
            <a:ext cx="123444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19" b="0">
                <a:solidFill>
                  <a:srgbClr val="667580"/>
                </a:solidFill>
                <a:latin typeface="Noto Sans CJK TC"/>
              </a:rPr>
              <a:t>Test 20%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180576" y="4379976"/>
            <a:ext cx="960120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r"/>
            <a:r>
              <a:rPr sz="1120" b="1">
                <a:solidFill>
                  <a:srgbClr val="36454F"/>
                </a:solidFill>
                <a:latin typeface="Noto Sans CJK TC"/>
              </a:rPr>
              <a:t>126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872983" y="4590288"/>
            <a:ext cx="260604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30" b="0">
                <a:solidFill>
                  <a:srgbClr val="667580"/>
                </a:solidFill>
                <a:latin typeface="Noto Sans CJK TC"/>
              </a:rPr>
              <a:t>Headers = factors + 1 decision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2. 80 / 20：最後 20% 完全不參與前面建模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同一 split 被六種方法共用；這是 final prediction set，不是 training accuracy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1600200" cy="1371600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76072" y="2084831"/>
            <a:ext cx="14538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6B7780"/>
                </a:solidFill>
                <a:latin typeface="Noto Sans CJK TC"/>
              </a:rPr>
              <a:t>100%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76072" y="2542032"/>
            <a:ext cx="14538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F2933"/>
                </a:solidFill>
                <a:latin typeface="Noto Sans CJK TC"/>
              </a:rPr>
              <a:t>原始 decision table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157984" y="2523744"/>
            <a:ext cx="292608" cy="0"/>
          </a:xfrm>
          <a:prstGeom prst="line">
            <a:avLst/>
          </a:prstGeom>
          <a:ln w="1905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514600" y="1828800"/>
            <a:ext cx="1600200" cy="1371600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87752" y="2084831"/>
            <a:ext cx="145389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4A78A8"/>
                </a:solidFill>
                <a:latin typeface="Noto Sans CJK TC"/>
              </a:rPr>
              <a:t>80% Train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87752" y="2542032"/>
            <a:ext cx="145389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F2933"/>
                </a:solidFill>
                <a:latin typeface="Noto Sans CJK TC"/>
              </a:rPr>
              <a:t>唯一可以學習的資料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169663" y="2523744"/>
            <a:ext cx="338329" cy="0"/>
          </a:xfrm>
          <a:prstGeom prst="line">
            <a:avLst/>
          </a:prstGeom>
          <a:ln w="1905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0" y="1828800"/>
            <a:ext cx="3154680" cy="1371600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2" y="2084831"/>
            <a:ext cx="30083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2B7A78"/>
                </a:solidFill>
                <a:latin typeface="Noto Sans CJK TC"/>
              </a:rPr>
              <a:t>Reduct → Clients → LEM2 → UNION → Support / Weight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542032"/>
            <a:ext cx="30083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F2933"/>
                </a:solidFill>
                <a:latin typeface="Noto Sans CJK TC"/>
              </a:rPr>
              <a:t>全部在 80% 內完成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781544" y="2523744"/>
            <a:ext cx="384048" cy="0"/>
          </a:xfrm>
          <a:prstGeom prst="line">
            <a:avLst/>
          </a:prstGeom>
          <a:ln w="1905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229600" y="1828800"/>
            <a:ext cx="1417320" cy="1371600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2084831"/>
            <a:ext cx="12710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C96A3D"/>
                </a:solidFill>
                <a:latin typeface="Noto Sans CJK TC"/>
              </a:rPr>
              <a:t>20% Holdout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542032"/>
            <a:ext cx="127101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F2933"/>
                </a:solidFill>
                <a:latin typeface="Noto Sans CJK TC"/>
              </a:rPr>
              <a:t>最後才拿來 prediction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701784" y="2523744"/>
            <a:ext cx="292608" cy="0"/>
          </a:xfrm>
          <a:prstGeom prst="line">
            <a:avLst/>
          </a:prstGeom>
          <a:ln w="1905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058400" y="1828800"/>
            <a:ext cx="1554480" cy="137160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131552" y="2084831"/>
            <a:ext cx="14081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4C8A61"/>
                </a:solidFill>
                <a:latin typeface="Noto Sans CJK TC"/>
              </a:rPr>
              <a:t>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31552" y="2542032"/>
            <a:ext cx="140817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0">
                <a:solidFill>
                  <a:srgbClr val="1F2933"/>
                </a:solidFill>
                <a:latin typeface="Noto Sans CJK TC"/>
              </a:rPr>
              <a:t>Acc · Recall · F1 · BA · Coverage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794760"/>
            <a:ext cx="5074920" cy="146304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32688" y="3931920"/>
            <a:ext cx="50292" cy="1188720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15568" y="3931920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20% 不可以做的事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5568" y="4306824"/>
            <a:ext cx="461772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3"/>
                </a:solidFill>
                <a:latin typeface="Noto Sans CJK TC"/>
              </a:rPr>
              <a:t>× reduct selection
× local LEM2 induction
× UNION support construction
× voting weight fitting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63640" y="3794760"/>
            <a:ext cx="5074920" cy="146304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73368" y="3931920"/>
            <a:ext cx="50292" cy="1188720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56248" y="3931920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20% 唯一做的事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6248" y="4306824"/>
            <a:ext cx="4617720" cy="8595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>
                <a:solidFill>
                  <a:srgbClr val="1F2933"/>
                </a:solidFill>
                <a:latin typeface="Noto Sans CJK TC"/>
              </a:rPr>
              <a:t>✓ matching / prediction
✓ Accuracy / Recall / Macro-F1 / Balanced Accuracy
✓ Overall / Target / Target Candidate Coverage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所有 reported prediction metrics 都只看 final 20%；不存在 test leakage。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80">
                <a:solidFill>
                  <a:srgbClr val="6B7780"/>
                </a:solidFill>
                <a:latin typeface="Noto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3. 同一個 frozen rule artifact 跑六種方法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前四個是既有 baseline；後兩個是本研究的 experimental variants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25880"/>
            <a:ext cx="5074920" cy="1069848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968" y="1463039"/>
            <a:ext cx="50292" cy="795527"/>
          </a:xfrm>
          <a:prstGeom prst="rect">
            <a:avLst/>
          </a:prstGeom>
          <a:solidFill>
            <a:srgbClr val="C96A3D"/>
          </a:solidFill>
          <a:ln>
            <a:solidFill>
              <a:srgbClr val="C96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463039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F2933"/>
                </a:solidFill>
                <a:latin typeface="Noto Sans CJK TC"/>
              </a:rPr>
              <a:t>FIRST_MATCH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1837943"/>
            <a:ext cx="4617720" cy="466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>
                <a:solidFill>
                  <a:srgbClr val="1F2933"/>
                </a:solidFill>
                <a:latin typeface="Noto Sans CJK TC"/>
              </a:rPr>
              <a:t>順序：第一條 matching rule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59" y="1325880"/>
            <a:ext cx="5074920" cy="1069848"/>
          </a:xfrm>
          <a:prstGeom prst="roundRect">
            <a:avLst/>
          </a:prstGeom>
          <a:solidFill>
            <a:srgbClr val="F6F0DC"/>
          </a:solidFill>
          <a:ln>
            <a:solidFill>
              <a:srgbClr val="F6F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19088" y="1463039"/>
            <a:ext cx="50292" cy="795527"/>
          </a:xfrm>
          <a:prstGeom prst="rect">
            <a:avLst/>
          </a:prstGeom>
          <a:solidFill>
            <a:srgbClr val="A98025"/>
          </a:solidFill>
          <a:ln>
            <a:solidFill>
              <a:srgbClr val="A9802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1968" y="1463039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F2933"/>
                </a:solidFill>
                <a:latin typeface="Noto Sans CJK TC"/>
              </a:rPr>
              <a:t>SIMPLE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837943"/>
            <a:ext cx="4617720" cy="466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>
                <a:solidFill>
                  <a:srgbClr val="1F2933"/>
                </a:solidFill>
                <a:latin typeface="Noto Sans CJK TC"/>
              </a:rPr>
              <a:t>rule count：一條 rule 一票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679191"/>
            <a:ext cx="5074920" cy="1069848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6968" y="2816351"/>
            <a:ext cx="50292" cy="795527"/>
          </a:xfrm>
          <a:prstGeom prst="rect">
            <a:avLst/>
          </a:prstGeom>
          <a:solidFill>
            <a:srgbClr val="4A78A8"/>
          </a:solidFill>
          <a:ln>
            <a:solidFill>
              <a:srgbClr val="4A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69848" y="2816351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F2933"/>
                </a:solidFill>
                <a:latin typeface="Noto Sans CJK TC"/>
              </a:rPr>
              <a:t>STANDARD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3191256"/>
            <a:ext cx="4617720" cy="466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>
                <a:solidFill>
                  <a:srgbClr val="1F2933"/>
                </a:solidFill>
                <a:latin typeface="Noto Sans CJK TC"/>
              </a:rPr>
              <a:t>support occurrences：Σ|S(r)|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2679191"/>
            <a:ext cx="5074920" cy="1069848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19088" y="2816351"/>
            <a:ext cx="50292" cy="795527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2816351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F2933"/>
                </a:solidFill>
                <a:latin typeface="Noto Sans CJK TC"/>
              </a:rPr>
              <a:t>GLOBAL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3191256"/>
            <a:ext cx="4617720" cy="466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>
                <a:solidFill>
                  <a:srgbClr val="1F2933"/>
                </a:solidFill>
                <a:latin typeface="Noto Sans CJK TC"/>
              </a:rPr>
              <a:t>unique class coverage：|∪S(r)|/N_d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032504"/>
            <a:ext cx="5074920" cy="1069848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6968" y="4169664"/>
            <a:ext cx="50292" cy="795527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4169664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F2933"/>
                </a:solidFill>
                <a:latin typeface="Noto Sans CJK TC"/>
              </a:rPr>
              <a:t>POPULATION STANDARD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9848" y="4544568"/>
            <a:ext cx="4617720" cy="466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>
                <a:solidFill>
                  <a:srgbClr val="1F2933"/>
                </a:solidFill>
                <a:latin typeface="Noto Sans CJK TC"/>
              </a:rPr>
              <a:t>unique population：U_d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09359" y="4032504"/>
            <a:ext cx="5074920" cy="1069848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19088" y="4169664"/>
            <a:ext cx="50292" cy="795527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1968" y="4169664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F2933"/>
                </a:solidFill>
                <a:latin typeface="Noto Sans CJK TC"/>
              </a:rPr>
              <a:t>POPULATION GLOBAL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4544568"/>
            <a:ext cx="4617720" cy="46634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>
                <a:solidFill>
                  <a:srgbClr val="1F2933"/>
                </a:solidFill>
                <a:latin typeface="Noto Sans CJK TC"/>
              </a:rPr>
              <a:t>(U_d/N_d) × (U_d/T_d)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44068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6B7780"/>
                </a:solidFill>
                <a:latin typeface="Noto Sans CJK TC"/>
              </a:rPr>
              <a:t>Established baselines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440680"/>
            <a:ext cx="4389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B65252"/>
                </a:solidFill>
                <a:latin typeface="Noto Sans CJK TC"/>
              </a:rPr>
              <a:t>Project-defined variants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六種方法的比較必須在相同 20% test、相同 global rules、相同 conflict cases 上進行。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80">
                <a:solidFill>
                  <a:srgbClr val="6B7780"/>
                </a:solidFill>
                <a:latin typeface="Noto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4. Hayes-Roth：六種方法的 20% Prediction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每個 cell = Accuracy / Balanced Accuracy(=Macro Recall) / Macro-F1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30952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780"/>
                </a:solidFill>
                <a:latin typeface="Noto Sans CJK TC"/>
              </a:rPr>
              <a:t>cell 順序：Acc / BA(=Recall_macro) / Macro-F1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5285232"/>
            <a:ext cx="5532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2B7A78"/>
                </a:solidFill>
                <a:latin typeface="Noto Sans CJK TC"/>
              </a:rPr>
              <a:t>BA best → C2: FIRST/STD/GS/PS/PG 0.767 · C3: FIRST 0.833 · C4: FIRST 0.778 · C5: FIRST 0.833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Accuracy 與 class-balanced 指標可能選出不同 winner；不能只報一個 Accuracy。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80">
                <a:solidFill>
                  <a:srgbClr val="6B7780"/>
                </a:solidFill>
                <a:latin typeface="Noto Sans"/>
              </a:rPr>
              <a:t>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298448"/>
            <a:ext cx="1417320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307592"/>
            <a:ext cx="1380744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Method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75688" y="1298448"/>
            <a:ext cx="2368296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93976" y="1307592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C=2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43983" y="1298448"/>
            <a:ext cx="2368296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2271" y="1307592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C=3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79" y="1298448"/>
            <a:ext cx="2368296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7" y="1307592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C=4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0576" y="1298448"/>
            <a:ext cx="2368296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3" y="1307592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C=5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1773936"/>
            <a:ext cx="141732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1783080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Noto Sans CJK TC"/>
              </a:rPr>
              <a:t>FIRST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75688" y="1773936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93976" y="178308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0.731  ·  BA 0.767  ·  F1 0.766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43983" y="1773936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1" y="178308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0.808  ·  BA 0.833  ·  F1 0.833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79" y="1773936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0567" y="178308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0.769  ·  BA 0.778  ·  F1 0.791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0576" y="1773936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98863" y="178308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0.808  ·  BA 0.833  ·  F1 0.829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2286000"/>
            <a:ext cx="1417320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" y="2295144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Noto Sans CJK TC"/>
              </a:rPr>
              <a:t>SIMPLE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75688" y="2286000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93976" y="2295144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0.654  ·  BA 0.656  ·  F1 0.679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43983" y="2286000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62271" y="2295144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0.654  ·  BA 0.611  ·  F1 0.617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12279" y="2286000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30567" y="2295144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0.577  ·  BA 0.567  ·  F1 0.595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80576" y="2286000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98863" y="2295144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0.577  ·  BA 0.522  ·  F1 0.503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2798064"/>
            <a:ext cx="141732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656" y="2807208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Noto Sans CJK TC"/>
              </a:rPr>
              <a:t>STD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75688" y="2798064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93976" y="2807208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0.731  ·  BA 0.767  ·  F1 0.766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43983" y="2798064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62271" y="2807208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0.731  ·  BA 0.744  ·  F1 0.756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12279" y="2798064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30567" y="2807208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0.615  ·  BA 0.622  ·  F1 0.646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80576" y="2798064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98863" y="2807208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0.615  ·  BA 0.578  ·  F1 0.583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" y="3310128"/>
            <a:ext cx="1417320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6656" y="3319272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Noto Sans CJK TC"/>
              </a:rPr>
              <a:t>GS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75688" y="3310128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93976" y="3319272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0.731  ·  BA 0.767  ·  F1 0.766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43983" y="3310128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62271" y="3319272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0.692  ·  BA 0.733  ·  F1 0.733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12279" y="3310128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30567" y="3319272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0.692  ·  BA 0.733  ·  F1 0.731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80576" y="3310128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98863" y="3319272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0.692  ·  BA 0.733  ·  F1 0.731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" y="3822191"/>
            <a:ext cx="1417320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6656" y="3831335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BF675E"/>
                </a:solidFill>
                <a:latin typeface="Noto Sans CJK TC"/>
              </a:rPr>
              <a:t>PS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75688" y="3822191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93976" y="3831335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0.731  ·  BA 0.767  ·  F1 0.766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43983" y="3822191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62271" y="3831335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0.654  ·  BA 0.678  ·  F1 0.694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12279" y="3822191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30567" y="3831335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0.615  ·  BA 0.622  ·  F1 0.646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80576" y="3822191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98863" y="3831335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0.577  ·  BA 0.567  ·  F1 0.592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8368" y="4334256"/>
            <a:ext cx="1417320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76656" y="4343400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BF675E"/>
                </a:solidFill>
                <a:latin typeface="Noto Sans CJK TC"/>
              </a:rPr>
              <a:t>PG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75688" y="4334256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93976" y="434340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0.731  ·  BA 0.767  ·  F1 0.766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443983" y="4334256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462271" y="434340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0.692  ·  BA 0.733  ·  F1 0.733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812279" y="4334256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30567" y="434340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0.654  ·  BA 0.700  ·  F1 0.699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80576" y="4334256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98863" y="434340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0.577  ·  BA 0.633  ·  F1 0.625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22960" y="4736592"/>
            <a:ext cx="10561320" cy="384048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CF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87552" y="4782312"/>
            <a:ext cx="1024128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50" b="1">
                <a:solidFill>
                  <a:srgbClr val="5882A4"/>
                </a:solidFill>
                <a:latin typeface="Noto Sans CJK TC"/>
              </a:rPr>
              <a:t>每個 cell 固定為單行：Accuracy · Balanced Accuracy (= Macro Recall) · Macro-F1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4. Car Evaluation：六種方法的 20% Prediction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每個 cell = Accuracy / Balanced Accuracy(=Macro Recall) / Macro-F1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30952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780"/>
                </a:solidFill>
                <a:latin typeface="Noto Sans CJK TC"/>
              </a:rPr>
              <a:t>cell 順序：Acc / BA(=Recall_macro) / Macro-F1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5285232"/>
            <a:ext cx="5532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2B7A78"/>
                </a:solidFill>
                <a:latin typeface="Noto Sans CJK TC"/>
              </a:rPr>
              <a:t>BA best → C2: GS/PG 0.717 · C3: PG 0.801 · C4: GS 0.683 · C5: PG 0.634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Accuracy 與 class-balanced 指標可能選出不同 winner；不能只報一個 Accuracy。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80">
                <a:solidFill>
                  <a:srgbClr val="6B7780"/>
                </a:solidFill>
                <a:latin typeface="Noto Sans"/>
              </a:rPr>
              <a:t>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298448"/>
            <a:ext cx="1417320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307592"/>
            <a:ext cx="1380744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Method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75688" y="1298448"/>
            <a:ext cx="2368296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93976" y="1307592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C=2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43983" y="1298448"/>
            <a:ext cx="2368296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2271" y="1307592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C=3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79" y="1298448"/>
            <a:ext cx="2368296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7" y="1307592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C=4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0576" y="1298448"/>
            <a:ext cx="2368296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3" y="1307592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C=5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1773936"/>
            <a:ext cx="141732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1783080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Noto Sans CJK TC"/>
              </a:rPr>
              <a:t>FIRST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75688" y="1773936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93976" y="178308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0.899  ·  BA 0.664  ·  F1 0.658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43983" y="1773936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1" y="178308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0.905  ·  BA 0.674  ·  F1 0.682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79" y="1773936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0567" y="178308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0.887  ·  BA 0.631  ·  F1 0.630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0576" y="1773936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98863" y="178308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0.873  ·  BA 0.596  ·  F1 0.607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2286000"/>
            <a:ext cx="1417320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" y="2295144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Noto Sans CJK TC"/>
              </a:rPr>
              <a:t>SIMPLE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75688" y="2286000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93976" y="2295144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0.876  ·  BA 0.621  ·  F1 0.629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43983" y="2286000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62271" y="2295144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0.887  ·  BA 0.710  ·  F1 0.714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12279" y="2286000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30567" y="2295144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0.841  ·  BA 0.582  ·  F1 0.598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80576" y="2286000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98863" y="2295144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0.806  ·  BA 0.540  ·  F1 0.527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2798064"/>
            <a:ext cx="141732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656" y="2807208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Noto Sans CJK TC"/>
              </a:rPr>
              <a:t>STD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75688" y="2798064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93976" y="2807208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0.902  ·  BA 0.669  ·  F1 0.672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43983" y="2798064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62271" y="2807208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0.910  ·  BA 0.709  ·  F1 0.708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12279" y="2798064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30567" y="2807208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0.879  ·  BA 0.593  ·  F1 0.635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80576" y="2798064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98863" y="2807208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0.858  ·  BA 0.544  ·  F1 0.568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" y="3310128"/>
            <a:ext cx="1417320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6656" y="3319272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Noto Sans CJK TC"/>
              </a:rPr>
              <a:t>GS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75688" y="3310128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93976" y="3319272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0.887  ·  BA 0.717  ·  F1 0.676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43983" y="3310128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62271" y="3319272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0.887  ·  BA 0.798  ·  F1 0.735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12279" y="3310128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30567" y="3319272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0.853  ·  BA 0.683  ·  F1 0.630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80576" y="3310128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98863" y="3319272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0.829  ·  BA 0.624  ·  F1 0.572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" y="3822191"/>
            <a:ext cx="1417320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6656" y="3831335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BF675E"/>
                </a:solidFill>
                <a:latin typeface="Noto Sans CJK TC"/>
              </a:rPr>
              <a:t>PS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75688" y="3822191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93976" y="3831335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0.905  ·  BA 0.689  ·  F1 0.687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43983" y="3822191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62271" y="3831335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0.908  ·  BA 0.706  ·  F1 0.700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12279" y="3822191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30567" y="3831335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0.879  ·  BA 0.591  ·  F1 0.628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80576" y="3822191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98863" y="3831335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0.853  ·  BA 0.537  ·  F1 0.562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8368" y="4334256"/>
            <a:ext cx="1417320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76656" y="4343400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BF675E"/>
                </a:solidFill>
                <a:latin typeface="Noto Sans CJK TC"/>
              </a:rPr>
              <a:t>PG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75688" y="4334256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93976" y="434340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0.887  ·  BA 0.717  ·  F1 0.676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443983" y="4334256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462271" y="434340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0.893  ·  BA 0.801  ·  F1 0.735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812279" y="4334256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30567" y="434340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0.850  ·  BA 0.678  ·  F1 0.621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80576" y="4334256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98863" y="434340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0.829  ·  BA 0.634  ·  F1 0.586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22960" y="4736592"/>
            <a:ext cx="10561320" cy="384048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CF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87552" y="4782312"/>
            <a:ext cx="1024128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50" b="1">
                <a:solidFill>
                  <a:srgbClr val="5882A4"/>
                </a:solidFill>
                <a:latin typeface="Noto Sans CJK TC"/>
              </a:rPr>
              <a:t>每個 cell 固定為單行：Accuracy · Balanced Accuracy (= Macro Recall) · Macro-F1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4. Balance Scale：六種方法的 20% Prediction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每個 cell = Accuracy / Balanced Accuracy(=Macro Recall) / Macro-F1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330952"/>
            <a:ext cx="4846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6B7780"/>
                </a:solidFill>
                <a:latin typeface="Noto Sans CJK TC"/>
              </a:rPr>
              <a:t>cell 順序：Acc / BA(=Recall_macro) / Macro-F1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77840" y="5285232"/>
            <a:ext cx="5532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50" b="1">
                <a:solidFill>
                  <a:srgbClr val="2B7A78"/>
                </a:solidFill>
                <a:latin typeface="Noto Sans CJK TC"/>
              </a:rPr>
              <a:t>BA best → C2: PS 0.563 · C3: STD/PS 0.586 · C4: STD/PS 0.598 · C5: GS/PG 0.591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Accuracy 與 class-balanced 指標可能選出不同 winner；不能只報一個 Accuracy。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80">
                <a:solidFill>
                  <a:srgbClr val="6B7780"/>
                </a:solidFill>
                <a:latin typeface="Noto Sans"/>
              </a:rPr>
              <a:t>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1298448"/>
            <a:ext cx="1417320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307592"/>
            <a:ext cx="1380744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Method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75688" y="1298448"/>
            <a:ext cx="2368296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093976" y="1307592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C=2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443983" y="1298448"/>
            <a:ext cx="2368296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62271" y="1307592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C=3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79" y="1298448"/>
            <a:ext cx="2368296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7" y="1307592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C=4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0576" y="1298448"/>
            <a:ext cx="2368296" cy="475488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3" y="1307592"/>
            <a:ext cx="2331720" cy="45720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50" b="1">
                <a:solidFill>
                  <a:srgbClr val="36756C"/>
                </a:solidFill>
                <a:latin typeface="Noto Sans CJK TC"/>
              </a:rPr>
              <a:t>C=5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8368" y="1773936"/>
            <a:ext cx="141732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" y="1783080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Noto Sans CJK TC"/>
              </a:rPr>
              <a:t>FIRST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75688" y="1773936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93976" y="178308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0.675  ·  BA 0.489  ·  F1 0.504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43983" y="1773936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62271" y="178308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0.651  ·  BA 0.471  ·  F1 0.488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812279" y="1773936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30567" y="178308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0.706  ·  BA 0.511  ·  F1 0.510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80576" y="1773936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98863" y="178308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0.675  ·  BA 0.489  ·  F1 0.484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368" y="2286000"/>
            <a:ext cx="1417320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6656" y="2295144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Noto Sans CJK TC"/>
              </a:rPr>
              <a:t>SIMPLE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75688" y="2286000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93976" y="2295144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0.722  ·  BA 0.523  ·  F1 0.523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443983" y="2286000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462271" y="2295144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0.738  ·  BA 0.534  ·  F1 0.529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812279" y="2286000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30567" y="2295144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0.794  ·  BA 0.575  ·  F1 0.558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80576" y="2286000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98863" y="2295144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0.746  ·  BA 0.540  ·  F1 0.525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368" y="2798064"/>
            <a:ext cx="1417320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6656" y="2807208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Noto Sans CJK TC"/>
              </a:rPr>
              <a:t>STD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75688" y="2798064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93976" y="2807208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0.770  ·  BA 0.557  ·  F1 0.544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443983" y="2798064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62271" y="2807208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0.810  ·  BA 0.586  ·  F1 0.564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12279" y="2798064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830567" y="2807208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0.825  ·  BA 0.598  ·  F1 0.573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180576" y="2798064"/>
            <a:ext cx="2368296" cy="512064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198863" y="2807208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0.778  ·  BA 0.563  ·  F1 0.542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58368" y="3310128"/>
            <a:ext cx="1417320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76656" y="3319272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36454F"/>
                </a:solidFill>
                <a:latin typeface="Noto Sans CJK TC"/>
              </a:rPr>
              <a:t>GS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75688" y="3310128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93976" y="3319272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0.738  ·  BA 0.534  ·  F1 0.537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443983" y="3310128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62271" y="3319272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0.786  ·  BA 0.569  ·  F1 0.555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812279" y="3310128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830567" y="3319272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0.810  ·  BA 0.586  ·  F1 0.571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80576" y="3310128"/>
            <a:ext cx="2368296" cy="512064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98863" y="3319272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0.778  ·  BA 0.591  ·  F1 0.591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58368" y="3822191"/>
            <a:ext cx="1417320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76656" y="3831335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BF675E"/>
                </a:solidFill>
                <a:latin typeface="Noto Sans CJK TC"/>
              </a:rPr>
              <a:t>PS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75688" y="3822191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93976" y="3831335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0.778  ·  BA 0.563  ·  F1 0.550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443983" y="3822191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462271" y="3831335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0.810  ·  BA 0.586  ·  F1 0.564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12279" y="3822191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830567" y="3831335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0.825  ·  BA 0.598  ·  F1 0.573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180576" y="3822191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198863" y="3831335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0.786  ·  BA 0.569  ·  F1 0.548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8368" y="4334256"/>
            <a:ext cx="1417320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76656" y="4343400"/>
            <a:ext cx="1380744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100" b="1">
                <a:solidFill>
                  <a:srgbClr val="BF675E"/>
                </a:solidFill>
                <a:latin typeface="Noto Sans CJK TC"/>
              </a:rPr>
              <a:t>PG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075688" y="4334256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093976" y="434340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0.738  ·  BA 0.534  ·  F1 0.537</a:t>
            </a:r>
          </a:p>
        </p:txBody>
      </p:sp>
      <p:sp>
        <p:nvSpPr>
          <p:cNvPr id="77" name="Rectangle 76"/>
          <p:cNvSpPr/>
          <p:nvPr/>
        </p:nvSpPr>
        <p:spPr>
          <a:xfrm>
            <a:off x="4443983" y="4334256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4462271" y="434340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0.794  ·  BA 0.575  ·  F1 0.560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812279" y="4334256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830567" y="434340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0.802  ·  BA 0.580  ·  F1 0.565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180576" y="4334256"/>
            <a:ext cx="2368296" cy="512064"/>
          </a:xfrm>
          <a:prstGeom prst="rect">
            <a:avLst/>
          </a:prstGeom>
          <a:solidFill>
            <a:srgbClr val="FAEBE9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9198863" y="4343400"/>
            <a:ext cx="2331720" cy="493776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40" b="0">
                <a:solidFill>
                  <a:srgbClr val="36454F"/>
                </a:solidFill>
                <a:latin typeface="Noto Sans CJK TC"/>
              </a:rPr>
              <a:t>Acc 0.778  ·  BA 0.591  ·  F1 0.590</a:t>
            </a:r>
          </a:p>
        </p:txBody>
      </p:sp>
      <p:sp>
        <p:nvSpPr>
          <p:cNvPr id="83" name="Rounded Rectangle 82"/>
          <p:cNvSpPr/>
          <p:nvPr/>
        </p:nvSpPr>
        <p:spPr>
          <a:xfrm>
            <a:off x="822960" y="4736592"/>
            <a:ext cx="10561320" cy="384048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CF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987552" y="4782312"/>
            <a:ext cx="10241280" cy="25603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1050" b="1">
                <a:solidFill>
                  <a:srgbClr val="5882A4"/>
                </a:solidFill>
                <a:latin typeface="Noto Sans CJK TC"/>
              </a:rPr>
              <a:t>每個 cell 固定為單行：Accuracy · Balanced Accuracy (= Macro Recall) · Macro-F1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5. Coverage：要拆成三個問題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這是本次補 code 後最重要的新區分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337560" cy="1920240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528" y="1463039"/>
            <a:ext cx="50292" cy="1645920"/>
          </a:xfrm>
          <a:prstGeom prst="rect">
            <a:avLst/>
          </a:prstGeom>
          <a:solidFill>
            <a:srgbClr val="4A78A8"/>
          </a:solidFill>
          <a:ln>
            <a:solidFill>
              <a:srgbClr val="4A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463039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Overall Coverage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1837943"/>
            <a:ext cx="2880360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3"/>
                </a:solidFill>
                <a:latin typeface="Noto Sans CJK TC"/>
              </a:rPr>
              <a:t>整個 20% test 中，有沒有任何 rule match？
|{x : M(x)≠∅}| / |U_test|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337560" cy="1920240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44568" y="1463039"/>
            <a:ext cx="50292" cy="1645920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463039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Target Coverage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1837943"/>
            <a:ext cx="2880360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>
                <a:solidFill>
                  <a:srgbClr val="1F2933"/>
                </a:solidFill>
                <a:latin typeface="Noto Sans CJK TC"/>
              </a:rPr>
              <a:t>真實屬於 class d 的 test cases 中，有沒有任何 rule match？
不要求 matching rule 的 decision=d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325880"/>
            <a:ext cx="3337560" cy="1920240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93607" y="1463039"/>
            <a:ext cx="50292" cy="1645920"/>
          </a:xfrm>
          <a:prstGeom prst="rect">
            <a:avLst/>
          </a:prstGeom>
          <a:solidFill>
            <a:srgbClr val="C96A3D"/>
          </a:solidFill>
          <a:ln>
            <a:solidFill>
              <a:srgbClr val="C96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76488" y="1463039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Target Candidate Coverage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1837943"/>
            <a:ext cx="2880360" cy="13167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F2933"/>
                </a:solidFill>
                <a:latin typeface="Noto Sans CJK TC"/>
              </a:rPr>
              <a:t>真實屬於 class d 的 test cases 中，是否至少有一條 matching rule 真的提出 d？
這才偵測「true class 根本沒進 candidate set」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977639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B65252"/>
                </a:solidFill>
                <a:latin typeface="Noto Sans CJK TC"/>
              </a:rPr>
              <a:t>Coverage ≠ Recall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0" y="400507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F2933"/>
                </a:solidFill>
                <a:latin typeface="Noto Sans CJK TC"/>
              </a:rPr>
              <a:t>Coverage 問「能不能進決策」；Recall 問「最後有沒有判對」。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97280" y="4617720"/>
            <a:ext cx="9966960" cy="77724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07007" y="4754880"/>
            <a:ext cx="50292" cy="502920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89888" y="4754880"/>
            <a:ext cx="95280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F2933"/>
                </a:solidFill>
                <a:latin typeface="Noto Sans CJK TC"/>
              </a:rPr>
              <a:t>為什麼要多這一層？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5129783"/>
            <a:ext cx="9509760" cy="1737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1F2933"/>
                </a:solidFill>
                <a:latin typeface="Noto Sans CJK TC"/>
              </a:rPr>
              <a:t>真實 B 可能有 rule match，但 matching rules 只有 L / R。舊 Target Coverage 會算 covered；Target Candidate Coverage 才會判斷 B 沒有被產生。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Candidate Generation / Coverage failure 與 Candidate Ranking / Conflict error 必須分開。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80">
                <a:solidFill>
                  <a:srgbClr val="6B7780"/>
                </a:solidFill>
                <a:latin typeface="Noto San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6. 三個 UCI 的實際 Coverage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三個數字都由同一 20% holdout 自動計算；六種 policy 的 coverage 相同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5468112"/>
            <a:ext cx="10561320" cy="411480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2688" y="5605272"/>
            <a:ext cx="50292" cy="137160"/>
          </a:xfrm>
          <a:prstGeom prst="rect">
            <a:avLst/>
          </a:prstGeom>
          <a:solidFill>
            <a:srgbClr val="C96A3D"/>
          </a:solidFill>
          <a:ln>
            <a:solidFill>
              <a:srgbClr val="C96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15568" y="5605272"/>
            <a:ext cx="10122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1">
                <a:solidFill>
                  <a:srgbClr val="1F2933"/>
                </a:solidFill>
                <a:latin typeface="Noto Sans CJK TC"/>
              </a:rPr>
              <a:t>最大差距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5980176"/>
            <a:ext cx="10104120" cy="-1920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1F2933"/>
                </a:solidFill>
                <a:latin typeface="Noto Sans CJK TC"/>
              </a:rPr>
              <a:t>Balance C=2：Target(any rule)=93.2%，但 Target(candidate)=57.5%；代表「有規則 match」不等於「真正 target class 有 candidate rule」。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80">
                <a:solidFill>
                  <a:srgbClr val="6B7780"/>
                </a:solidFill>
                <a:latin typeface="Noto Sans"/>
              </a:rPr>
              <a:t>10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1280160"/>
            <a:ext cx="3273552" cy="388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1417320"/>
            <a:ext cx="2926080" cy="34747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5882A4"/>
                </a:solidFill>
                <a:latin typeface="Noto Sans CJK TC"/>
              </a:rPr>
              <a:t>Balance Scale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" y="1874519"/>
            <a:ext cx="475488" cy="438912"/>
          </a:xfrm>
          <a:prstGeom prst="rect">
            <a:avLst/>
          </a:prstGeom>
          <a:solidFill>
            <a:srgbClr val="E9F1F7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2376" y="1883663"/>
            <a:ext cx="438912" cy="420623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5882A4"/>
                </a:solidFill>
                <a:latin typeface="Noto Sans CJK TC"/>
              </a:rPr>
              <a:t>C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79576" y="1874519"/>
            <a:ext cx="804672" cy="438912"/>
          </a:xfrm>
          <a:prstGeom prst="rect">
            <a:avLst/>
          </a:prstGeom>
          <a:solidFill>
            <a:srgbClr val="E9F1F7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97864" y="1883663"/>
            <a:ext cx="768096" cy="420623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5882A4"/>
                </a:solidFill>
                <a:latin typeface="Noto Sans CJK TC"/>
              </a:rPr>
              <a:t>Overall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84248" y="1874519"/>
            <a:ext cx="896112" cy="438912"/>
          </a:xfrm>
          <a:prstGeom prst="rect">
            <a:avLst/>
          </a:prstGeom>
          <a:solidFill>
            <a:srgbClr val="E9F1F7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02536" y="1883663"/>
            <a:ext cx="859536" cy="420623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5882A4"/>
                </a:solidFill>
                <a:latin typeface="Noto Sans CJK TC"/>
              </a:rPr>
              <a:t>Any rule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80360" y="1874519"/>
            <a:ext cx="914400" cy="438912"/>
          </a:xfrm>
          <a:prstGeom prst="rect">
            <a:avLst/>
          </a:prstGeom>
          <a:solidFill>
            <a:srgbClr val="E9F1F7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98648" y="1883663"/>
            <a:ext cx="877824" cy="420623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5882A4"/>
                </a:solidFill>
                <a:latin typeface="Noto Sans CJK TC"/>
              </a:rPr>
              <a:t>Candidate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04088" y="2313432"/>
            <a:ext cx="475488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2376" y="2322575"/>
            <a:ext cx="438912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454F"/>
                </a:solidFill>
                <a:latin typeface="Noto Sans CJK TC"/>
              </a:rPr>
              <a:t>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79576" y="2313432"/>
            <a:ext cx="80467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97864" y="2322575"/>
            <a:ext cx="76809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94.4%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984248" y="2313432"/>
            <a:ext cx="89611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002536" y="2322575"/>
            <a:ext cx="85953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93.2%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80360" y="2313432"/>
            <a:ext cx="91440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898648" y="2322575"/>
            <a:ext cx="877824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5882A4"/>
                </a:solidFill>
                <a:latin typeface="Noto Sans CJK TC"/>
              </a:rPr>
              <a:t>57.5%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4088" y="2889503"/>
            <a:ext cx="475488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6" y="2898647"/>
            <a:ext cx="438912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454F"/>
                </a:solidFill>
                <a:latin typeface="Noto Sans CJK TC"/>
              </a:rPr>
              <a:t>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79576" y="2889503"/>
            <a:ext cx="804672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97864" y="2898647"/>
            <a:ext cx="76809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98.4%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84248" y="2889503"/>
            <a:ext cx="896112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02536" y="2898647"/>
            <a:ext cx="85953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98.9%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80360" y="2889503"/>
            <a:ext cx="914400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98648" y="2898647"/>
            <a:ext cx="877824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5882A4"/>
                </a:solidFill>
                <a:latin typeface="Noto Sans CJK TC"/>
              </a:rPr>
              <a:t>61.5%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4088" y="3465575"/>
            <a:ext cx="475488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22376" y="3474719"/>
            <a:ext cx="438912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454F"/>
                </a:solidFill>
                <a:latin typeface="Noto Sans CJK TC"/>
              </a:rPr>
              <a:t>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179576" y="3465575"/>
            <a:ext cx="80467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197864" y="3474719"/>
            <a:ext cx="76809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100.0%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984248" y="3465575"/>
            <a:ext cx="89611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002536" y="3474719"/>
            <a:ext cx="85953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100.0%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880360" y="3465575"/>
            <a:ext cx="91440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898648" y="3474719"/>
            <a:ext cx="877824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5882A4"/>
                </a:solidFill>
                <a:latin typeface="Noto Sans CJK TC"/>
              </a:rPr>
              <a:t>72.2%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04088" y="4041648"/>
            <a:ext cx="475488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2376" y="4050791"/>
            <a:ext cx="438912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454F"/>
                </a:solidFill>
                <a:latin typeface="Noto Sans CJK TC"/>
              </a:rPr>
              <a:t>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179576" y="4041648"/>
            <a:ext cx="804672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197864" y="4050791"/>
            <a:ext cx="76809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99.2%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984248" y="4041648"/>
            <a:ext cx="896112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002536" y="4050791"/>
            <a:ext cx="85953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99.4%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880360" y="4041648"/>
            <a:ext cx="914400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898648" y="4050791"/>
            <a:ext cx="877824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5882A4"/>
                </a:solidFill>
                <a:latin typeface="Noto Sans CJK TC"/>
              </a:rPr>
              <a:t>67.1%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3816" y="4718304"/>
            <a:ext cx="2871216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9" b="0">
                <a:solidFill>
                  <a:srgbClr val="667580"/>
                </a:solidFill>
                <a:latin typeface="Noto Sans CJK TC"/>
              </a:rPr>
              <a:t>Target(candidate) = true class 是否真的進入 matching candidate set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187952" y="1280160"/>
            <a:ext cx="3273552" cy="388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52544" y="1417320"/>
            <a:ext cx="2926080" cy="34747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36756C"/>
                </a:solidFill>
                <a:latin typeface="Noto Sans CJK TC"/>
              </a:rPr>
              <a:t>Car Evaluation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79392" y="1874519"/>
            <a:ext cx="475488" cy="438912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297679" y="1883663"/>
            <a:ext cx="438912" cy="420623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36756C"/>
                </a:solidFill>
                <a:latin typeface="Noto Sans CJK TC"/>
              </a:rPr>
              <a:t>C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754879" y="1874519"/>
            <a:ext cx="804672" cy="438912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73167" y="1883663"/>
            <a:ext cx="768096" cy="420623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36756C"/>
                </a:solidFill>
                <a:latin typeface="Noto Sans CJK TC"/>
              </a:rPr>
              <a:t>Overall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559551" y="1874519"/>
            <a:ext cx="896112" cy="438912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577839" y="1883663"/>
            <a:ext cx="859536" cy="420623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36756C"/>
                </a:solidFill>
                <a:latin typeface="Noto Sans CJK TC"/>
              </a:rPr>
              <a:t>Any rule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55663" y="1874519"/>
            <a:ext cx="914400" cy="438912"/>
          </a:xfrm>
          <a:prstGeom prst="rect">
            <a:avLst/>
          </a:prstGeom>
          <a:solidFill>
            <a:srgbClr val="E8F3F1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473951" y="1883663"/>
            <a:ext cx="877824" cy="420623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36756C"/>
                </a:solidFill>
                <a:latin typeface="Noto Sans CJK TC"/>
              </a:rPr>
              <a:t>Candidate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79392" y="2313432"/>
            <a:ext cx="475488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297679" y="2322575"/>
            <a:ext cx="438912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454F"/>
                </a:solidFill>
                <a:latin typeface="Noto Sans CJK TC"/>
              </a:rPr>
              <a:t>2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754879" y="2313432"/>
            <a:ext cx="80467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73167" y="2322575"/>
            <a:ext cx="76809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97.7%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559551" y="2313432"/>
            <a:ext cx="89611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577839" y="2322575"/>
            <a:ext cx="85953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92.9%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455663" y="2313432"/>
            <a:ext cx="91440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73951" y="2322575"/>
            <a:ext cx="877824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756C"/>
                </a:solidFill>
                <a:latin typeface="Noto Sans CJK TC"/>
              </a:rPr>
              <a:t>80.9%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279392" y="2889503"/>
            <a:ext cx="475488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297679" y="2898647"/>
            <a:ext cx="438912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454F"/>
                </a:solidFill>
                <a:latin typeface="Noto Sans CJK TC"/>
              </a:rPr>
              <a:t>3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754879" y="2889503"/>
            <a:ext cx="804672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773167" y="2898647"/>
            <a:ext cx="76809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98.3%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559551" y="2889503"/>
            <a:ext cx="896112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577839" y="2898647"/>
            <a:ext cx="85953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98.3%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455663" y="2889503"/>
            <a:ext cx="914400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473951" y="2898647"/>
            <a:ext cx="877824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756C"/>
                </a:solidFill>
                <a:latin typeface="Noto Sans CJK TC"/>
              </a:rPr>
              <a:t>91.0%</a:t>
            </a:r>
          </a:p>
        </p:txBody>
      </p:sp>
      <p:sp>
        <p:nvSpPr>
          <p:cNvPr id="81" name="Rectangle 80"/>
          <p:cNvSpPr/>
          <p:nvPr/>
        </p:nvSpPr>
        <p:spPr>
          <a:xfrm>
            <a:off x="4279392" y="3465575"/>
            <a:ext cx="475488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4297679" y="3474719"/>
            <a:ext cx="438912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454F"/>
                </a:solidFill>
                <a:latin typeface="Noto Sans CJK TC"/>
              </a:rPr>
              <a:t>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4754879" y="3465575"/>
            <a:ext cx="80467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4773167" y="3474719"/>
            <a:ext cx="76809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99.4%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559551" y="3465575"/>
            <a:ext cx="89611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577839" y="3474719"/>
            <a:ext cx="85953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97.8%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455663" y="3465575"/>
            <a:ext cx="91440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473951" y="3474719"/>
            <a:ext cx="877824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756C"/>
                </a:solidFill>
                <a:latin typeface="Noto Sans CJK TC"/>
              </a:rPr>
              <a:t>95.0%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279392" y="4041648"/>
            <a:ext cx="475488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4297679" y="4050791"/>
            <a:ext cx="438912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454F"/>
                </a:solidFill>
                <a:latin typeface="Noto Sans CJK TC"/>
              </a:rPr>
              <a:t>5</a:t>
            </a:r>
          </a:p>
        </p:txBody>
      </p:sp>
      <p:sp>
        <p:nvSpPr>
          <p:cNvPr id="91" name="Rectangle 90"/>
          <p:cNvSpPr/>
          <p:nvPr/>
        </p:nvSpPr>
        <p:spPr>
          <a:xfrm>
            <a:off x="4754879" y="4041648"/>
            <a:ext cx="804672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4773167" y="4050791"/>
            <a:ext cx="76809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100.0%</a:t>
            </a:r>
          </a:p>
        </p:txBody>
      </p:sp>
      <p:sp>
        <p:nvSpPr>
          <p:cNvPr id="93" name="Rectangle 92"/>
          <p:cNvSpPr/>
          <p:nvPr/>
        </p:nvSpPr>
        <p:spPr>
          <a:xfrm>
            <a:off x="5559551" y="4041648"/>
            <a:ext cx="896112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5577839" y="4050791"/>
            <a:ext cx="85953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100.0%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455663" y="4041648"/>
            <a:ext cx="914400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6473951" y="4050791"/>
            <a:ext cx="877824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756C"/>
                </a:solidFill>
                <a:latin typeface="Noto Sans CJK TC"/>
              </a:rPr>
              <a:t>87.3%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389120" y="4718304"/>
            <a:ext cx="2871216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9" b="0">
                <a:solidFill>
                  <a:srgbClr val="667580"/>
                </a:solidFill>
                <a:latin typeface="Noto Sans CJK TC"/>
              </a:rPr>
              <a:t>Target(candidate) = true class 是否真的進入 matching candidate set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7763256" y="1280160"/>
            <a:ext cx="3273552" cy="38862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927848" y="1417320"/>
            <a:ext cx="2926080" cy="34747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400" b="1">
                <a:solidFill>
                  <a:srgbClr val="937737"/>
                </a:solidFill>
                <a:latin typeface="Noto Sans CJK TC"/>
              </a:rPr>
              <a:t>Hayes-Roth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854696" y="1874519"/>
            <a:ext cx="475488" cy="438912"/>
          </a:xfrm>
          <a:prstGeom prst="rect">
            <a:avLst/>
          </a:prstGeom>
          <a:solidFill>
            <a:srgbClr val="F8F3DE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872983" y="1883663"/>
            <a:ext cx="438912" cy="420623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937737"/>
                </a:solidFill>
                <a:latin typeface="Noto Sans CJK TC"/>
              </a:rPr>
              <a:t>C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330183" y="1874519"/>
            <a:ext cx="804672" cy="438912"/>
          </a:xfrm>
          <a:prstGeom prst="rect">
            <a:avLst/>
          </a:prstGeom>
          <a:solidFill>
            <a:srgbClr val="F8F3DE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348471" y="1883663"/>
            <a:ext cx="768096" cy="420623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937737"/>
                </a:solidFill>
                <a:latin typeface="Noto Sans CJK TC"/>
              </a:rPr>
              <a:t>Overall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134856" y="1874519"/>
            <a:ext cx="896112" cy="438912"/>
          </a:xfrm>
          <a:prstGeom prst="rect">
            <a:avLst/>
          </a:prstGeom>
          <a:solidFill>
            <a:srgbClr val="F8F3DE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153144" y="1883663"/>
            <a:ext cx="859536" cy="420623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937737"/>
                </a:solidFill>
                <a:latin typeface="Noto Sans CJK TC"/>
              </a:rPr>
              <a:t>Any rule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30968" y="1874519"/>
            <a:ext cx="914400" cy="438912"/>
          </a:xfrm>
          <a:prstGeom prst="rect">
            <a:avLst/>
          </a:prstGeom>
          <a:solidFill>
            <a:srgbClr val="F8F3DE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049256" y="1883663"/>
            <a:ext cx="877824" cy="420623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919" b="1">
                <a:solidFill>
                  <a:srgbClr val="937737"/>
                </a:solidFill>
                <a:latin typeface="Noto Sans CJK TC"/>
              </a:rPr>
              <a:t>Candidate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854696" y="2313432"/>
            <a:ext cx="475488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872983" y="2322575"/>
            <a:ext cx="438912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454F"/>
                </a:solidFill>
                <a:latin typeface="Noto Sans CJK TC"/>
              </a:rPr>
              <a:t>2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8330183" y="2313432"/>
            <a:ext cx="80467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8348471" y="2322575"/>
            <a:ext cx="76809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92.3%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134856" y="2313432"/>
            <a:ext cx="89611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153144" y="2322575"/>
            <a:ext cx="85953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93.3%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030968" y="2313432"/>
            <a:ext cx="91440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049256" y="2322575"/>
            <a:ext cx="877824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937737"/>
                </a:solidFill>
                <a:latin typeface="Noto Sans CJK TC"/>
              </a:rPr>
              <a:t>73.3%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854696" y="2889503"/>
            <a:ext cx="475488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872983" y="2898647"/>
            <a:ext cx="438912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454F"/>
                </a:solidFill>
                <a:latin typeface="Noto Sans CJK TC"/>
              </a:rPr>
              <a:t>3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330183" y="2889503"/>
            <a:ext cx="804672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348471" y="2898647"/>
            <a:ext cx="76809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100.0%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134856" y="2889503"/>
            <a:ext cx="896112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9153144" y="2898647"/>
            <a:ext cx="85953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100.0%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0030968" y="2889503"/>
            <a:ext cx="914400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0049256" y="2898647"/>
            <a:ext cx="877824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937737"/>
                </a:solidFill>
                <a:latin typeface="Noto Sans CJK TC"/>
              </a:rPr>
              <a:t>93.3%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7854696" y="3465575"/>
            <a:ext cx="475488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7872983" y="3474719"/>
            <a:ext cx="438912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454F"/>
                </a:solidFill>
                <a:latin typeface="Noto Sans CJK TC"/>
              </a:rPr>
              <a:t>4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8330183" y="3465575"/>
            <a:ext cx="80467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8348471" y="3474719"/>
            <a:ext cx="76809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100.0%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9134856" y="3465575"/>
            <a:ext cx="896112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9153144" y="3474719"/>
            <a:ext cx="85953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100.0%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0030968" y="3465575"/>
            <a:ext cx="914400" cy="576072"/>
          </a:xfrm>
          <a:prstGeom prst="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0049256" y="3474719"/>
            <a:ext cx="877824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937737"/>
                </a:solidFill>
                <a:latin typeface="Noto Sans CJK TC"/>
              </a:rPr>
              <a:t>86.7%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854696" y="4041648"/>
            <a:ext cx="475488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872983" y="4050791"/>
            <a:ext cx="438912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36454F"/>
                </a:solidFill>
                <a:latin typeface="Noto Sans CJK TC"/>
              </a:rPr>
              <a:t>5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8330183" y="4041648"/>
            <a:ext cx="804672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8348471" y="4050791"/>
            <a:ext cx="76809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100.0%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9134856" y="4041648"/>
            <a:ext cx="896112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153144" y="4050791"/>
            <a:ext cx="859536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0">
                <a:solidFill>
                  <a:srgbClr val="36454F"/>
                </a:solidFill>
                <a:latin typeface="Noto Sans CJK TC"/>
              </a:rPr>
              <a:t>100.0%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10030968" y="4041648"/>
            <a:ext cx="914400" cy="576072"/>
          </a:xfrm>
          <a:prstGeom prst="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10049256" y="4050791"/>
            <a:ext cx="877824" cy="55778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000" b="1">
                <a:solidFill>
                  <a:srgbClr val="937737"/>
                </a:solidFill>
                <a:latin typeface="Noto Sans CJK TC"/>
              </a:rPr>
              <a:t>93.3%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7964424" y="4718304"/>
            <a:ext cx="2871216" cy="30175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9" b="0">
                <a:solidFill>
                  <a:srgbClr val="667580"/>
                </a:solidFill>
                <a:latin typeface="Noto Sans CJK TC"/>
              </a:rPr>
              <a:t>Target(candidate) = true class 是否真的進入 matching candidate set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Target Candidate Coverage：真正暴露 induction / coverage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特別是 Balance 的 B class，舊 coverage 幾乎看不出問題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F2933"/>
                </a:solidFill>
                <a:latin typeface="Noto Sans CJK TC"/>
              </a:rPr>
              <a:t>Balance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123444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F2933"/>
                </a:solidFill>
                <a:latin typeface="Noto Sans CJK TC"/>
              </a:rPr>
              <a:t>Car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1234440"/>
            <a:ext cx="3474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1F2933"/>
                </a:solidFill>
                <a:latin typeface="Noto Sans CJK TC"/>
              </a:rPr>
              <a:t>Hayes-Roth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5321808"/>
            <a:ext cx="3154680" cy="438912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440680"/>
            <a:ext cx="2971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1">
                <a:solidFill>
                  <a:srgbClr val="B65252"/>
                </a:solidFill>
                <a:latin typeface="Noto Sans CJK TC"/>
              </a:rPr>
              <a:t>Balance B：C2=0%、C3=0%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26280" y="5321808"/>
            <a:ext cx="3154680" cy="438912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17720" y="5440680"/>
            <a:ext cx="2971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1">
                <a:solidFill>
                  <a:srgbClr val="C96A3D"/>
                </a:solidFill>
                <a:latin typeface="Noto Sans CJK TC"/>
              </a:rPr>
              <a:t>Car good：C2 只有 57.1%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66760" y="5321808"/>
            <a:ext cx="3154680" cy="438912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58200" y="5440680"/>
            <a:ext cx="29718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80" b="1">
                <a:solidFill>
                  <a:srgbClr val="4A78A8"/>
                </a:solidFill>
                <a:latin typeface="Noto Sans CJK TC"/>
              </a:rPr>
              <a:t>Hayes C2：class1/2 都只有 60%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80">
                <a:solidFill>
                  <a:srgbClr val="6B7780"/>
                </a:solidFill>
                <a:latin typeface="Noto Sans"/>
              </a:rPr>
              <a:t>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1609344"/>
            <a:ext cx="3474720" cy="3547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8368" y="1783080"/>
            <a:ext cx="3255264" cy="71323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1856231"/>
            <a:ext cx="47548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5882A4"/>
                </a:solidFill>
                <a:latin typeface="Noto Sans CJK TC"/>
              </a:rPr>
              <a:t>C2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61872" y="1837943"/>
            <a:ext cx="2514600" cy="6035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36454F"/>
                </a:solidFill>
                <a:latin typeface="Noto Sans CJK TC"/>
              </a:rPr>
              <a:t>B 0.0% · L 84.5% · R 87.9%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58368" y="2569464"/>
            <a:ext cx="3255264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2642616"/>
            <a:ext cx="47548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5882A4"/>
                </a:solidFill>
                <a:latin typeface="Noto Sans CJK TC"/>
              </a:rPr>
              <a:t>C3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61872" y="2624328"/>
            <a:ext cx="2514600" cy="6035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36454F"/>
                </a:solidFill>
                <a:latin typeface="Noto Sans CJK TC"/>
              </a:rPr>
              <a:t>B 0.0% · L 94.8% · R 89.7%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3355848"/>
            <a:ext cx="3255264" cy="71323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8096" y="3429000"/>
            <a:ext cx="47548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5882A4"/>
                </a:solidFill>
                <a:latin typeface="Noto Sans CJK TC"/>
              </a:rPr>
              <a:t>C4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61872" y="3410712"/>
            <a:ext cx="2514600" cy="6035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36454F"/>
                </a:solidFill>
                <a:latin typeface="Noto Sans CJK TC"/>
              </a:rPr>
              <a:t>B 20.0% · L 98.3% · R 98.3%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58368" y="4142232"/>
            <a:ext cx="3255264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68096" y="4215384"/>
            <a:ext cx="47548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5882A4"/>
                </a:solidFill>
                <a:latin typeface="Noto Sans CJK TC"/>
              </a:rPr>
              <a:t>C5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61872" y="4197096"/>
            <a:ext cx="2514600" cy="6035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36454F"/>
                </a:solidFill>
                <a:latin typeface="Noto Sans CJK TC"/>
              </a:rPr>
              <a:t>B 10.0% · L 94.8% · R 96.6%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34840" y="1609344"/>
            <a:ext cx="3474720" cy="3547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544568" y="1783080"/>
            <a:ext cx="3255264" cy="713232"/>
          </a:xfrm>
          <a:prstGeom prst="roundRect">
            <a:avLst/>
          </a:prstGeom>
          <a:solidFill>
            <a:srgbClr val="E8F3F1"/>
          </a:solidFill>
          <a:ln w="1016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654296" y="1856231"/>
            <a:ext cx="47548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756C"/>
                </a:solidFill>
                <a:latin typeface="Noto Sans CJK TC"/>
              </a:rPr>
              <a:t>C2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48072" y="1837943"/>
            <a:ext cx="2514600" cy="6035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36454F"/>
                </a:solidFill>
                <a:latin typeface="Noto Sans CJK TC"/>
              </a:rPr>
              <a:t>acc 81.8% · good 57.1%
unacc 100.0% · vgood 84.6%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44568" y="2569464"/>
            <a:ext cx="3255264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54296" y="2642616"/>
            <a:ext cx="47548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756C"/>
                </a:solidFill>
                <a:latin typeface="Noto Sans CJK TC"/>
              </a:rPr>
              <a:t>C3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48072" y="2624328"/>
            <a:ext cx="2514600" cy="6035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36454F"/>
                </a:solidFill>
                <a:latin typeface="Noto Sans CJK TC"/>
              </a:rPr>
              <a:t>acc 93.5% · good 78.6%
unacc 99.6% · vgood 92.3%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44568" y="3355848"/>
            <a:ext cx="3255264" cy="713232"/>
          </a:xfrm>
          <a:prstGeom prst="roundRect">
            <a:avLst/>
          </a:prstGeom>
          <a:solidFill>
            <a:srgbClr val="E8F3F1"/>
          </a:solidFill>
          <a:ln w="1016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54296" y="3429000"/>
            <a:ext cx="47548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756C"/>
                </a:solidFill>
                <a:latin typeface="Noto Sans CJK TC"/>
              </a:rPr>
              <a:t>C4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148072" y="3410712"/>
            <a:ext cx="2514600" cy="6035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36454F"/>
                </a:solidFill>
                <a:latin typeface="Noto Sans CJK TC"/>
              </a:rPr>
              <a:t>acc 94.8% · good 92.9%
unacc 100.0% · vgood 92.3%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44568" y="4142232"/>
            <a:ext cx="3255264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654296" y="4215384"/>
            <a:ext cx="47548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756C"/>
                </a:solidFill>
                <a:latin typeface="Noto Sans CJK TC"/>
              </a:rPr>
              <a:t>C5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48072" y="4197096"/>
            <a:ext cx="2514600" cy="6035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36454F"/>
                </a:solidFill>
                <a:latin typeface="Noto Sans CJK TC"/>
              </a:rPr>
              <a:t>acc 93.5% · good 71.4%
unacc 99.6% · vgood 84.6%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21040" y="1609344"/>
            <a:ext cx="3474720" cy="354787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430767" y="1783080"/>
            <a:ext cx="3255264" cy="713232"/>
          </a:xfrm>
          <a:prstGeom prst="roundRect">
            <a:avLst/>
          </a:prstGeom>
          <a:solidFill>
            <a:srgbClr val="F8F3DE"/>
          </a:solidFill>
          <a:ln w="1016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40496" y="1856231"/>
            <a:ext cx="47548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937737"/>
                </a:solidFill>
                <a:latin typeface="Noto Sans CJK TC"/>
              </a:rPr>
              <a:t>C2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034272" y="1837943"/>
            <a:ext cx="2514600" cy="6035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36454F"/>
                </a:solidFill>
                <a:latin typeface="Noto Sans CJK TC"/>
              </a:rPr>
              <a:t>1 60.0% · 2 60.0% · 3 100.0%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430767" y="2569464"/>
            <a:ext cx="3255264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40496" y="2642616"/>
            <a:ext cx="47548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937737"/>
                </a:solidFill>
                <a:latin typeface="Noto Sans CJK TC"/>
              </a:rPr>
              <a:t>C3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34272" y="2624328"/>
            <a:ext cx="2514600" cy="6035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36454F"/>
                </a:solidFill>
                <a:latin typeface="Noto Sans CJK TC"/>
              </a:rPr>
              <a:t>1 90.0% · 2 90.0% · 3 100.0%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430767" y="3355848"/>
            <a:ext cx="3255264" cy="713232"/>
          </a:xfrm>
          <a:prstGeom prst="roundRect">
            <a:avLst/>
          </a:prstGeom>
          <a:solidFill>
            <a:srgbClr val="F8F3DE"/>
          </a:solidFill>
          <a:ln w="1016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40496" y="3429000"/>
            <a:ext cx="47548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937737"/>
                </a:solidFill>
                <a:latin typeface="Noto Sans CJK TC"/>
              </a:rPr>
              <a:t>C4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34272" y="3410712"/>
            <a:ext cx="2514600" cy="6035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36454F"/>
                </a:solidFill>
                <a:latin typeface="Noto Sans CJK TC"/>
              </a:rPr>
              <a:t>1 80.0% · 2 80.0% · 3 100.0%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8430767" y="4142232"/>
            <a:ext cx="3255264" cy="713232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E2E8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40496" y="4215384"/>
            <a:ext cx="475488" cy="56692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937737"/>
                </a:solidFill>
                <a:latin typeface="Noto Sans CJK TC"/>
              </a:rPr>
              <a:t>C5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34272" y="4197096"/>
            <a:ext cx="2514600" cy="603504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869" b="0">
                <a:solidFill>
                  <a:srgbClr val="36454F"/>
                </a:solidFill>
                <a:latin typeface="Noto Sans CJK TC"/>
              </a:rPr>
              <a:t>1 100.0% · 2 80.0% · 3 100.0%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7. Standard：老師的「3+3」問題，現在完整算到 winner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核心不是把多的 u 當負分，而是避免同一 population 被 rule occurrences 重複放大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80160"/>
            <a:ext cx="3017520" cy="2148840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528" y="1417319"/>
            <a:ext cx="50292" cy="1874520"/>
          </a:xfrm>
          <a:prstGeom prst="rect">
            <a:avLst/>
          </a:prstGeom>
          <a:solidFill>
            <a:srgbClr val="4A78A8"/>
          </a:solidFill>
          <a:ln>
            <a:solidFill>
              <a:srgbClr val="4A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417319"/>
            <a:ext cx="2578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A 的兩條 rules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1792224"/>
            <a:ext cx="2560320" cy="1545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Noto Sans CJK TC"/>
              </a:rPr>
              <a:t>r1→A : {u1,u2,u3}
r2→A : {u2,u3,u4}
T_A = 3+3 = 6
U_A = 4
P_A = 4/6 = 2/3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280160"/>
            <a:ext cx="3017520" cy="2148840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78808" y="1417319"/>
            <a:ext cx="50292" cy="1874520"/>
          </a:xfrm>
          <a:prstGeom prst="rect">
            <a:avLst/>
          </a:prstGeom>
          <a:solidFill>
            <a:srgbClr val="6B7780"/>
          </a:solidFill>
          <a:ln>
            <a:solidFill>
              <a:srgbClr val="6B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61688" y="1417319"/>
            <a:ext cx="2578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若 B 的 evidence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61688" y="1792224"/>
            <a:ext cx="2560320" cy="1545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1F2933"/>
                </a:solidFill>
                <a:latin typeface="Noto Sans CJK TC"/>
              </a:rPr>
              <a:t>假設 T_B = 5
而且五個 support 都不同
U_B = 5
P_B =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452360" y="1280160"/>
            <a:ext cx="3886200" cy="214884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562088" y="1417319"/>
            <a:ext cx="50292" cy="1874520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44968" y="1417319"/>
            <a:ext cx="3447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改前 vs 改後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44968" y="1792224"/>
            <a:ext cx="3429000" cy="1545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Noto Sans CJK TC"/>
              </a:rPr>
              <a:t>STANDARD：A=6 &gt; B=5 → A
POPULATION STANDARD：
A=U_A=4 &lt; B=U_B=5 →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977639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4A78A8"/>
                </a:solidFill>
                <a:latin typeface="Noto Sans CJK TC"/>
              </a:rPr>
              <a:t>Standard 看 T_d（occurrences）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3968496"/>
            <a:ext cx="5029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1">
                <a:solidFill>
                  <a:srgbClr val="6B7780"/>
                </a:solidFill>
                <a:latin typeface="Noto Sans CJK TC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3977639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2B7A78"/>
                </a:solidFill>
                <a:latin typeface="Noto Sans CJK TC"/>
              </a:rPr>
              <a:t>Population Standard 看 U_d（unique objects）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新的 score 不會把「多出來的 unique u」扣分；它只是把重複出現的同一 u 從多次計價改成一次。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80">
                <a:solidFill>
                  <a:srgbClr val="6B7780"/>
                </a:solidFill>
                <a:latin typeface="Noto San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Standard 真實回查：同一機制可以 Correct，也可以 Harm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用 20% holdout 的真實 conflict case，不再只看 toy example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71600"/>
            <a:ext cx="5074920" cy="333756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968" y="1508760"/>
            <a:ext cx="50292" cy="3063240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508760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Noto Sans CJK TC"/>
              </a:rPr>
              <a:t>Corrected case · Car Target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1883664"/>
            <a:ext cx="4617720" cy="2734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Noto Sans CJK TC"/>
              </a:rPr>
              <a:t>True = vgood
STD winner = good   →   PS winner = vgood
old: T=9, U=7, P=0.778
new: T=9, U=9, P=1.000
CORRECTED · A(x)=0.222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074920" cy="333756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19088" y="1508760"/>
            <a:ext cx="50292" cy="3063240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1968" y="1508760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Noto Sans CJK TC"/>
              </a:rPr>
              <a:t>Harmed case · Car Target 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883664"/>
            <a:ext cx="4617720" cy="2734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Noto Sans CJK TC"/>
              </a:rPr>
              <a:t>True = acc
STD winner = acc   →   PS winner = unacc
old: T=38, U=25, P=0.658
new: T=27, U=27, P=1.000
HARMED · A(x)=-0.342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983480"/>
            <a:ext cx="10287000" cy="502920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24128" y="5120640"/>
            <a:ext cx="50292" cy="228600"/>
          </a:xfrm>
          <a:prstGeom prst="rect">
            <a:avLst/>
          </a:prstGeom>
          <a:solidFill>
            <a:srgbClr val="6B7780"/>
          </a:solidFill>
          <a:ln>
            <a:solidFill>
              <a:srgbClr val="6B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5120640"/>
            <a:ext cx="9848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>
                <a:solidFill>
                  <a:srgbClr val="1F2933"/>
                </a:solidFill>
                <a:latin typeface="Noto Sans CJK TC"/>
              </a:rPr>
              <a:t>Interpretation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5495544"/>
            <a:ext cx="9829800" cy="-10058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80" b="0">
                <a:solidFill>
                  <a:srgbClr val="1F2933"/>
                </a:solidFill>
                <a:latin typeface="Noto Sans CJK TC"/>
              </a:rPr>
              <a:t>同樣是去重：如果錯誤 competitor 的 redundancy 高，可能救回 true class；如果 true class 的 evidence 本身高度重疊，就可能 over-correct。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Redundancy ≠ Noise。去重本身是明確行為，但「重複 evidence 是否該被懲罰」取決於它出現在誰身上。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80">
                <a:solidFill>
                  <a:srgbClr val="6B7780"/>
                </a:solidFill>
                <a:latin typeface="Noto San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8. Global：原 GlobalStrength 再乘 Population Nonredundancy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不是把 numerator / denominator 真正倒過來；而是加一個 P_d=U_d/T_d correction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337560" cy="214884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463039"/>
            <a:ext cx="50292" cy="1874520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463039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原 GlobalStrength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1837943"/>
            <a:ext cx="2880360" cy="1545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Noto Sans CJK TC"/>
              </a:rPr>
              <a:t>GS_d = U_d / N_d
U_d：unique support objects
N_d：training decision class size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337560" cy="2148840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44568" y="1463039"/>
            <a:ext cx="50292" cy="1874520"/>
          </a:xfrm>
          <a:prstGeom prst="rect">
            <a:avLst/>
          </a:prstGeom>
          <a:solidFill>
            <a:srgbClr val="C96A3D"/>
          </a:solidFill>
          <a:ln>
            <a:solidFill>
              <a:srgbClr val="C96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27448" y="1463039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Population factor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7448" y="1837943"/>
            <a:ext cx="2880360" cy="1545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1F2933"/>
                </a:solidFill>
                <a:latin typeface="Noto Sans CJK TC"/>
              </a:rPr>
              <a:t>P_d = U_d / T_d
T_d：support occurrences
P_d 越低 → evidence overlap 越高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25880"/>
            <a:ext cx="3337560" cy="214884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47888" y="1463039"/>
            <a:ext cx="50292" cy="1874520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30768" y="1463039"/>
            <a:ext cx="28986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Population Global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30768" y="1837943"/>
            <a:ext cx="2880360" cy="1545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1F2933"/>
                </a:solidFill>
                <a:latin typeface="Noto Sans CJK TC"/>
              </a:rPr>
              <a:t>PG_d = GS_d × P_d
= U_d² / (N_d T_d)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069080"/>
            <a:ext cx="4800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4C8A61"/>
                </a:solidFill>
                <a:latin typeface="Noto Sans CJK TC"/>
              </a:rPr>
              <a:t>原本回答：「unique population 佔 class 多大？」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4050791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1">
                <a:solidFill>
                  <a:srgbClr val="6B7780"/>
                </a:solidFill>
                <a:latin typeface="Noto Sans CJK TC"/>
              </a:rPr>
              <a:t>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069080"/>
            <a:ext cx="48463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C96A3D"/>
                </a:solidFill>
                <a:latin typeface="Noto Sans CJK TC"/>
              </a:rPr>
              <a:t>新增回答：「這些 evidence 有多少不是重複計價？」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Population Global 是 experimental correction；GlobalStrength 本身仍保留為 baseline，不被覆蓋。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80">
                <a:solidFill>
                  <a:srgbClr val="6B7780"/>
                </a:solidFill>
                <a:latin typeface="Noto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Global 真實回查：winner 怎麼被 P_d 改變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Car 的 corrected / harmed case 直接算出 old → new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371600"/>
            <a:ext cx="5074920" cy="342900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86968" y="1508760"/>
            <a:ext cx="50292" cy="3154680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508760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Noto Sans CJK TC"/>
              </a:rPr>
              <a:t>Corrected · Car Target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1883664"/>
            <a:ext cx="4617720" cy="282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0" b="0">
                <a:solidFill>
                  <a:srgbClr val="1F2933"/>
                </a:solidFill>
                <a:latin typeface="Noto Sans CJK TC"/>
              </a:rPr>
              <a:t>True = good
GS winner = acc   →   PG winner = good
old winner: T=50, U=35, P=0.700
new winner: T=5, U=5, P=1.000
winner redundancy drop = 0.300
CORRECTED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371600"/>
            <a:ext cx="5074920" cy="342900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19088" y="1508760"/>
            <a:ext cx="50292" cy="3154680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1968" y="1508760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Noto Sans CJK TC"/>
              </a:rPr>
              <a:t>Harmed · Car Target 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1883664"/>
            <a:ext cx="4617720" cy="282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0" b="0">
                <a:solidFill>
                  <a:srgbClr val="1F2933"/>
                </a:solidFill>
                <a:latin typeface="Noto Sans CJK TC"/>
              </a:rPr>
              <a:t>True = acc
GS winner = acc   →   PG winner = unacc
old winner: T=67, U=39, P=0.582
new winner: T=106, U=106, P=1.000
winner redundancy drop = 0.418
HARMED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5074920"/>
            <a:ext cx="10287000" cy="438912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24128" y="5212080"/>
            <a:ext cx="50292" cy="164592"/>
          </a:xfrm>
          <a:prstGeom prst="rect">
            <a:avLst/>
          </a:prstGeom>
          <a:solidFill>
            <a:srgbClr val="6B7780"/>
          </a:solidFill>
          <a:ln>
            <a:solidFill>
              <a:srgbClr val="6B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5212080"/>
            <a:ext cx="9848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80" b="1">
                <a:solidFill>
                  <a:srgbClr val="1F2933"/>
                </a:solidFill>
                <a:latin typeface="Noto Sans CJK TC"/>
              </a:rPr>
              <a:t>Key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5586983"/>
            <a:ext cx="9829800" cy="-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40" b="0">
                <a:solidFill>
                  <a:srgbClr val="1F2933"/>
                </a:solidFill>
                <a:latin typeface="Noto Sans CJK TC"/>
              </a:rPr>
              <a:t>所有 winner change 都往 redundancy 較低的 decision 移動；但較低 redundancy 不等於一定是真實類別。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PG 的行為符合設計；真正的研究問題是何時這個 penalty 對「錯的人」施加、何時對「對的人」施加。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80">
                <a:solidFill>
                  <a:srgbClr val="6B7780"/>
                </a:solidFill>
                <a:latin typeface="Noto San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Target 1–5 到底是什麼？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不是 5 個 factors；是每個 dataset 從 20% holdout 挑 5 筆「測試資料」做 X-ray 回查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298448"/>
            <a:ext cx="10789920" cy="914400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36192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4A78A8"/>
                </a:solidFill>
                <a:latin typeface="Noto Sans CJK TC"/>
              </a:rPr>
              <a:t>一個 Target = 一筆完整 test row 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92040" y="1554480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它帶著所有 factor values + true decision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" y="2578608"/>
            <a:ext cx="1901952" cy="123444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6384" y="2788920"/>
            <a:ext cx="17556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4C8A61"/>
                </a:solidFill>
                <a:latin typeface="Noto Sans CJK TC"/>
              </a:rPr>
              <a:t>Target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18688"/>
            <a:ext cx="16824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40" b="0">
                <a:solidFill>
                  <a:srgbClr val="1F2933"/>
                </a:solidFill>
                <a:latin typeface="Noto Sans CJK TC"/>
              </a:rPr>
              <a:t>代表 corrected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71215" y="2578608"/>
            <a:ext cx="1901952" cy="1234440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44368" y="2788920"/>
            <a:ext cx="17556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2B7A78"/>
                </a:solidFill>
                <a:latin typeface="Noto Sans CJK TC"/>
              </a:rPr>
              <a:t>Target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80944" y="3218688"/>
            <a:ext cx="16824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40" b="0">
                <a:solidFill>
                  <a:srgbClr val="1F2933"/>
                </a:solidFill>
                <a:latin typeface="Noto Sans CJK TC"/>
              </a:rPr>
              <a:t>另一種 corrected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2578608"/>
            <a:ext cx="1901952" cy="123444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02352" y="2788920"/>
            <a:ext cx="17556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B65252"/>
                </a:solidFill>
                <a:latin typeface="Noto Sans CJK TC"/>
              </a:rPr>
              <a:t>Target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38928" y="3218688"/>
            <a:ext cx="16824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40" b="0">
                <a:solidFill>
                  <a:srgbClr val="1F2933"/>
                </a:solidFill>
                <a:latin typeface="Noto Sans CJK TC"/>
              </a:rPr>
              <a:t>代表 harmed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87184" y="2578608"/>
            <a:ext cx="1901952" cy="1234440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788920"/>
            <a:ext cx="17556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C96A3D"/>
                </a:solidFill>
                <a:latin typeface="Noto Sans CJK TC"/>
              </a:rPr>
              <a:t>Target 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96912" y="3218688"/>
            <a:ext cx="16824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40" b="0">
                <a:solidFill>
                  <a:srgbClr val="1F2933"/>
                </a:solidFill>
                <a:latin typeface="Noto Sans CJK TC"/>
              </a:rPr>
              <a:t>另一種 harmed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345167" y="2578608"/>
            <a:ext cx="1901952" cy="1234440"/>
          </a:xfrm>
          <a:prstGeom prst="roundRect">
            <a:avLst/>
          </a:prstGeom>
          <a:solidFill>
            <a:srgbClr val="F6F0DC"/>
          </a:solidFill>
          <a:ln>
            <a:solidFill>
              <a:srgbClr val="F6F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18319" y="2788920"/>
            <a:ext cx="1755648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A98025"/>
                </a:solidFill>
                <a:latin typeface="Noto Sans CJK TC"/>
              </a:rPr>
              <a:t>Target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54895" y="3218688"/>
            <a:ext cx="1682496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40" b="0">
                <a:solidFill>
                  <a:srgbClr val="1F2933"/>
                </a:solidFill>
                <a:latin typeface="Noto Sans CJK TC"/>
              </a:rPr>
              <a:t>缺席 / unchanged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41248" y="4178808"/>
            <a:ext cx="5010912" cy="1143000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50976" y="4315968"/>
            <a:ext cx="50292" cy="868680"/>
          </a:xfrm>
          <a:prstGeom prst="rect">
            <a:avLst/>
          </a:prstGeom>
          <a:solidFill>
            <a:srgbClr val="6B7780"/>
          </a:solidFill>
          <a:ln>
            <a:solidFill>
              <a:srgbClr val="6B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6" y="43159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3"/>
                </a:solidFill>
                <a:latin typeface="Noto Sans CJK TC"/>
              </a:rPr>
              <a:t>為什麼只挑 5 筆？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33856" y="4690872"/>
            <a:ext cx="4553712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F2933"/>
                </a:solidFill>
                <a:latin typeface="Noto Sans CJK TC"/>
              </a:rPr>
              <a:t>先用少量代表 case 把「為什麼翻轉」講清楚；它不是顯著性 sample。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8" y="4178808"/>
            <a:ext cx="5010912" cy="1143000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45936" y="4315968"/>
            <a:ext cx="50292" cy="868680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28816" y="4315968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3"/>
                </a:solidFill>
                <a:latin typeface="Noto Sans CJK TC"/>
              </a:rPr>
              <a:t>後面怎麼擴大？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8816" y="4690872"/>
            <a:ext cx="4553712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F2933"/>
                </a:solidFill>
                <a:latin typeface="Noto Sans CJK TC"/>
              </a:rPr>
              <a:t>同一套回查流程再掃所有 conflict cases，才得到 908、45、43 這些全體統計。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5907024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一句話：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00200" y="5870448"/>
            <a:ext cx="9464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Target 1–5 是五筆 test objects 的解剖案例，不是五個變數，也不是五種模型。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Target / conflict intuition · 2026-10-24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80">
                <a:solidFill>
                  <a:srgbClr val="6B7780"/>
                </a:solidFill>
                <a:latin typeface="Noto Sans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一筆 Target 怎麼看？像做一張 prediction X-ray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先看資料長什麼樣，再看它撞到哪些 rules，最後才看各 policy 怎麼選 winner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" y="1719072"/>
            <a:ext cx="1938528" cy="1481328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2063" y="1947672"/>
            <a:ext cx="17922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4A78A8"/>
                </a:solidFill>
                <a:latin typeface="Noto Sans CJK TC"/>
              </a:rPr>
              <a:t>① 輸入 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50592"/>
            <a:ext cx="17190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933"/>
                </a:solidFill>
                <a:latin typeface="Noto Sans CJK TC"/>
              </a:rPr>
              <a:t>factors
+ true class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95728" y="2468880"/>
            <a:ext cx="310896" cy="0"/>
          </a:xfrm>
          <a:prstGeom prst="line">
            <a:avLst/>
          </a:prstGeom>
          <a:ln w="1905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770632" y="1719072"/>
            <a:ext cx="1938528" cy="1481328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43784" y="1947672"/>
            <a:ext cx="17922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2B7A78"/>
                </a:solidFill>
                <a:latin typeface="Noto Sans CJK TC"/>
              </a:rPr>
              <a:t>② Matching Rules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450592"/>
            <a:ext cx="17190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933"/>
                </a:solidFill>
                <a:latin typeface="Noto Sans CJK TC"/>
              </a:rPr>
              <a:t>x 滿足哪些
global rules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727448" y="2468880"/>
            <a:ext cx="310896" cy="0"/>
          </a:xfrm>
          <a:prstGeom prst="line">
            <a:avLst/>
          </a:prstGeom>
          <a:ln w="1905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102352" y="1719072"/>
            <a:ext cx="1938528" cy="1481328"/>
          </a:xfrm>
          <a:prstGeom prst="roundRect">
            <a:avLst/>
          </a:prstGeom>
          <a:solidFill>
            <a:srgbClr val="F6F0DC"/>
          </a:solidFill>
          <a:ln>
            <a:solidFill>
              <a:srgbClr val="F6F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75504" y="1947672"/>
            <a:ext cx="17922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A98025"/>
                </a:solidFill>
                <a:latin typeface="Noto Sans CJK TC"/>
              </a:rPr>
              <a:t>③ Candidate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12080" y="2450592"/>
            <a:ext cx="17190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933"/>
                </a:solidFill>
                <a:latin typeface="Noto Sans CJK TC"/>
              </a:rPr>
              <a:t>這些 rules 提出
哪些 decisions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059168" y="2468880"/>
            <a:ext cx="310896" cy="0"/>
          </a:xfrm>
          <a:prstGeom prst="line">
            <a:avLst/>
          </a:prstGeom>
          <a:ln w="1905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434071" y="1719072"/>
            <a:ext cx="1938528" cy="1481328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3" y="1947672"/>
            <a:ext cx="17922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C96A3D"/>
                </a:solidFill>
                <a:latin typeface="Noto Sans CJK TC"/>
              </a:rPr>
              <a:t>④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43799" y="2450592"/>
            <a:ext cx="17190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933"/>
                </a:solidFill>
                <a:latin typeface="Noto Sans CJK TC"/>
              </a:rPr>
              <a:t>每個 decision 的
T / U / P / 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9390888" y="2468880"/>
            <a:ext cx="310896" cy="0"/>
          </a:xfrm>
          <a:prstGeom prst="line">
            <a:avLst/>
          </a:prstGeom>
          <a:ln w="1905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765792" y="1719072"/>
            <a:ext cx="1938528" cy="1481328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38944" y="1947672"/>
            <a:ext cx="1792224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4C8A61"/>
                </a:solidFill>
                <a:latin typeface="Noto Sans CJK TC"/>
              </a:rPr>
              <a:t>⑤ Winner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19" y="2450592"/>
            <a:ext cx="1719072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1F2933"/>
                </a:solidFill>
                <a:latin typeface="Noto Sans CJK TC"/>
              </a:rPr>
              <a:t>STD / PS / GS / PG
最後選誰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" y="3611880"/>
            <a:ext cx="3291840" cy="594360"/>
          </a:xfrm>
          <a:prstGeom prst="roundRect">
            <a:avLst/>
          </a:prstGeom>
          <a:solidFill>
            <a:srgbClr val="F5F7F8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3712464"/>
            <a:ext cx="307238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1F2933"/>
                </a:solidFill>
                <a:latin typeface="Cambria Math"/>
              </a:rPr>
              <a:t>M(x)={r : x⊨Ante(r)}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43984" y="3611880"/>
            <a:ext cx="3291840" cy="594360"/>
          </a:xfrm>
          <a:prstGeom prst="roundRect">
            <a:avLst/>
          </a:prstGeom>
          <a:solidFill>
            <a:srgbClr val="F5F7F8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53712" y="3712464"/>
            <a:ext cx="307238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F2933"/>
                </a:solidFill>
                <a:latin typeface="Cambria Math"/>
              </a:rPr>
              <a:t>Candidate(x)={d_r : r∈M(x)}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74736" y="3611880"/>
            <a:ext cx="3291840" cy="594360"/>
          </a:xfrm>
          <a:prstGeom prst="roundRect">
            <a:avLst/>
          </a:prstGeom>
          <a:solidFill>
            <a:srgbClr val="F5F7F8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84463" y="3712464"/>
            <a:ext cx="307238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1F2933"/>
                </a:solidFill>
                <a:latin typeface="Cambria Math"/>
              </a:rPr>
              <a:t>T_d, U_d, P_d=U_d/T_d, R_d=1-P_d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88720" y="4498848"/>
            <a:ext cx="9829800" cy="932688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298448" y="4636008"/>
            <a:ext cx="50292" cy="658368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81328" y="4636008"/>
            <a:ext cx="9390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F2933"/>
                </a:solidFill>
                <a:latin typeface="Noto Sans CJK TC"/>
              </a:rPr>
              <a:t>先問這題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81328" y="5010912"/>
            <a:ext cx="93726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0">
                <a:solidFill>
                  <a:srgbClr val="1F2933"/>
                </a:solidFill>
                <a:latin typeface="Noto Sans CJK TC"/>
              </a:rPr>
              <a:t>True class 有沒有進 Candidate(x)？YES → 才是 ranking / conflict-resolution；NO → 任何 voting 都救不了。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5907024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一句話：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870448"/>
            <a:ext cx="9464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回查不是只看 prediction；是把「rule → candidate → evidence → score → winner」每一層打開。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Target / conflict intuition · 2026-10-24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80">
                <a:solidFill>
                  <a:srgbClr val="6B7780"/>
                </a:solidFill>
                <a:latin typeface="Noto Sans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Balance Target 1：Standard 為什麼錯，去重後為什麼會修正？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同一 training object 被多條 L-rules 重複計價，讓 L 的 T 值被放大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188720"/>
            <a:ext cx="2395728" cy="1874519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76656" y="1325880"/>
            <a:ext cx="50292" cy="1600199"/>
          </a:xfrm>
          <a:prstGeom prst="rect">
            <a:avLst/>
          </a:prstGeom>
          <a:solidFill>
            <a:srgbClr val="4A78A8"/>
          </a:solidFill>
          <a:ln>
            <a:solidFill>
              <a:srgbClr val="4A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325880"/>
            <a:ext cx="19568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Target 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1700784"/>
            <a:ext cx="1938528" cy="1271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20" b="0">
                <a:solidFill>
                  <a:srgbClr val="1F2933"/>
                </a:solidFill>
                <a:latin typeface="Noto Sans CJK TC"/>
              </a:rPr>
              <a:t>rd=5 · rw=1
ld=3 · lw=1
True = 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82112" y="1188720"/>
            <a:ext cx="3246120" cy="1874519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325880"/>
            <a:ext cx="50292" cy="1600199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325880"/>
            <a:ext cx="28072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Matching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700784"/>
            <a:ext cx="2788920" cy="1271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30" b="0">
                <a:solidFill>
                  <a:srgbClr val="1F2933"/>
                </a:solidFill>
                <a:latin typeface="Noto Sans CJK TC"/>
              </a:rPr>
              <a:t>r1 → R : support 18
r2 → L : support 3
r3 → L : support 16
Candidate={L,R}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75120" y="1188720"/>
            <a:ext cx="4892040" cy="1874519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03720" y="1371600"/>
            <a:ext cx="4434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B65252"/>
                </a:solidFill>
                <a:latin typeface="Noto Sans CJK TC"/>
              </a:rPr>
              <a:t>L：19 次「被計分」≠ 19 個不同 objects</a:t>
            </a:r>
          </a:p>
        </p:txBody>
      </p:sp>
      <p:sp>
        <p:nvSpPr>
          <p:cNvPr id="14" name="Oval 13"/>
          <p:cNvSpPr/>
          <p:nvPr/>
        </p:nvSpPr>
        <p:spPr>
          <a:xfrm>
            <a:off x="6949440" y="1783080"/>
            <a:ext cx="246888" cy="246888"/>
          </a:xfrm>
          <a:prstGeom prst="ellipse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0" y="1844802"/>
            <a:ext cx="246888" cy="93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4A78A8"/>
                </a:solidFill>
                <a:latin typeface="Noto Sans CJK TC"/>
              </a:rPr>
              <a:t>1</a:t>
            </a:r>
          </a:p>
        </p:txBody>
      </p:sp>
      <p:sp>
        <p:nvSpPr>
          <p:cNvPr id="16" name="Oval 15"/>
          <p:cNvSpPr/>
          <p:nvPr/>
        </p:nvSpPr>
        <p:spPr>
          <a:xfrm>
            <a:off x="7379208" y="1783080"/>
            <a:ext cx="246888" cy="246888"/>
          </a:xfrm>
          <a:prstGeom prst="ellipse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79208" y="1844802"/>
            <a:ext cx="246888" cy="93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4A78A8"/>
                </a:solidFill>
                <a:latin typeface="Noto Sans CJK TC"/>
              </a:rPr>
              <a:t>2</a:t>
            </a:r>
          </a:p>
        </p:txBody>
      </p:sp>
      <p:sp>
        <p:nvSpPr>
          <p:cNvPr id="18" name="Oval 17"/>
          <p:cNvSpPr/>
          <p:nvPr/>
        </p:nvSpPr>
        <p:spPr>
          <a:xfrm>
            <a:off x="7808975" y="1783080"/>
            <a:ext cx="246888" cy="246888"/>
          </a:xfrm>
          <a:prstGeom prst="ellipse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08975" y="1844802"/>
            <a:ext cx="246888" cy="93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4A78A8"/>
                </a:solidFill>
                <a:latin typeface="Noto Sans CJK TC"/>
              </a:rPr>
              <a:t>3</a:t>
            </a:r>
          </a:p>
        </p:txBody>
      </p:sp>
      <p:sp>
        <p:nvSpPr>
          <p:cNvPr id="20" name="Oval 19"/>
          <p:cNvSpPr/>
          <p:nvPr/>
        </p:nvSpPr>
        <p:spPr>
          <a:xfrm>
            <a:off x="8238744" y="1783080"/>
            <a:ext cx="246888" cy="246888"/>
          </a:xfrm>
          <a:prstGeom prst="ellipse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38744" y="1844802"/>
            <a:ext cx="246888" cy="93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4A78A8"/>
                </a:solidFill>
                <a:latin typeface="Noto Sans CJK TC"/>
              </a:rPr>
              <a:t>4</a:t>
            </a:r>
          </a:p>
        </p:txBody>
      </p:sp>
      <p:sp>
        <p:nvSpPr>
          <p:cNvPr id="22" name="Oval 21"/>
          <p:cNvSpPr/>
          <p:nvPr/>
        </p:nvSpPr>
        <p:spPr>
          <a:xfrm>
            <a:off x="8668512" y="1783080"/>
            <a:ext cx="246888" cy="246888"/>
          </a:xfrm>
          <a:prstGeom prst="ellipse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68512" y="1844802"/>
            <a:ext cx="246888" cy="93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4A78A8"/>
                </a:solidFill>
                <a:latin typeface="Noto Sans CJK TC"/>
              </a:rPr>
              <a:t>5</a:t>
            </a:r>
          </a:p>
        </p:txBody>
      </p:sp>
      <p:sp>
        <p:nvSpPr>
          <p:cNvPr id="24" name="Oval 23"/>
          <p:cNvSpPr/>
          <p:nvPr/>
        </p:nvSpPr>
        <p:spPr>
          <a:xfrm>
            <a:off x="9098280" y="1783080"/>
            <a:ext cx="246888" cy="246888"/>
          </a:xfrm>
          <a:prstGeom prst="ellipse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1844802"/>
            <a:ext cx="246888" cy="93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4A78A8"/>
                </a:solidFill>
                <a:latin typeface="Noto Sans CJK TC"/>
              </a:rPr>
              <a:t>6</a:t>
            </a:r>
          </a:p>
        </p:txBody>
      </p:sp>
      <p:sp>
        <p:nvSpPr>
          <p:cNvPr id="26" name="Oval 25"/>
          <p:cNvSpPr/>
          <p:nvPr/>
        </p:nvSpPr>
        <p:spPr>
          <a:xfrm>
            <a:off x="9528048" y="1783080"/>
            <a:ext cx="246888" cy="246888"/>
          </a:xfrm>
          <a:prstGeom prst="ellipse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28048" y="1844802"/>
            <a:ext cx="246888" cy="93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4A78A8"/>
                </a:solidFill>
                <a:latin typeface="Noto Sans CJK TC"/>
              </a:rPr>
              <a:t>7</a:t>
            </a:r>
          </a:p>
        </p:txBody>
      </p:sp>
      <p:sp>
        <p:nvSpPr>
          <p:cNvPr id="28" name="Oval 27"/>
          <p:cNvSpPr/>
          <p:nvPr/>
        </p:nvSpPr>
        <p:spPr>
          <a:xfrm>
            <a:off x="9957816" y="1783080"/>
            <a:ext cx="246888" cy="246888"/>
          </a:xfrm>
          <a:prstGeom prst="ellipse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57816" y="1844802"/>
            <a:ext cx="246888" cy="93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4A78A8"/>
                </a:solidFill>
                <a:latin typeface="Noto Sans CJK TC"/>
              </a:rPr>
              <a:t>8</a:t>
            </a:r>
          </a:p>
        </p:txBody>
      </p:sp>
      <p:sp>
        <p:nvSpPr>
          <p:cNvPr id="30" name="Oval 29"/>
          <p:cNvSpPr/>
          <p:nvPr/>
        </p:nvSpPr>
        <p:spPr>
          <a:xfrm>
            <a:off x="6949440" y="2203704"/>
            <a:ext cx="246888" cy="246888"/>
          </a:xfrm>
          <a:prstGeom prst="ellipse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2265426"/>
            <a:ext cx="246888" cy="93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4A78A8"/>
                </a:solidFill>
                <a:latin typeface="Noto Sans CJK TC"/>
              </a:rPr>
              <a:t>9</a:t>
            </a:r>
          </a:p>
        </p:txBody>
      </p:sp>
      <p:sp>
        <p:nvSpPr>
          <p:cNvPr id="32" name="Oval 31"/>
          <p:cNvSpPr/>
          <p:nvPr/>
        </p:nvSpPr>
        <p:spPr>
          <a:xfrm>
            <a:off x="7379208" y="2203704"/>
            <a:ext cx="246888" cy="246888"/>
          </a:xfrm>
          <a:prstGeom prst="ellipse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79208" y="2265426"/>
            <a:ext cx="246888" cy="93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4A78A8"/>
                </a:solidFill>
                <a:latin typeface="Noto Sans CJK TC"/>
              </a:rPr>
              <a:t>10</a:t>
            </a:r>
          </a:p>
        </p:txBody>
      </p:sp>
      <p:sp>
        <p:nvSpPr>
          <p:cNvPr id="34" name="Oval 33"/>
          <p:cNvSpPr/>
          <p:nvPr/>
        </p:nvSpPr>
        <p:spPr>
          <a:xfrm>
            <a:off x="7808975" y="2203704"/>
            <a:ext cx="246888" cy="246888"/>
          </a:xfrm>
          <a:prstGeom prst="ellipse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08975" y="2265426"/>
            <a:ext cx="246888" cy="93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4A78A8"/>
                </a:solidFill>
                <a:latin typeface="Noto Sans CJK TC"/>
              </a:rPr>
              <a:t>11</a:t>
            </a:r>
          </a:p>
        </p:txBody>
      </p:sp>
      <p:sp>
        <p:nvSpPr>
          <p:cNvPr id="36" name="Oval 35"/>
          <p:cNvSpPr/>
          <p:nvPr/>
        </p:nvSpPr>
        <p:spPr>
          <a:xfrm>
            <a:off x="8238744" y="2203704"/>
            <a:ext cx="246888" cy="246888"/>
          </a:xfrm>
          <a:prstGeom prst="ellipse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38744" y="2265426"/>
            <a:ext cx="246888" cy="93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4A78A8"/>
                </a:solidFill>
                <a:latin typeface="Noto Sans CJK TC"/>
              </a:rPr>
              <a:t>12</a:t>
            </a:r>
          </a:p>
        </p:txBody>
      </p:sp>
      <p:sp>
        <p:nvSpPr>
          <p:cNvPr id="38" name="Oval 37"/>
          <p:cNvSpPr/>
          <p:nvPr/>
        </p:nvSpPr>
        <p:spPr>
          <a:xfrm>
            <a:off x="8668512" y="2203704"/>
            <a:ext cx="246888" cy="246888"/>
          </a:xfrm>
          <a:prstGeom prst="ellipse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668512" y="2265426"/>
            <a:ext cx="246888" cy="93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4A78A8"/>
                </a:solidFill>
                <a:latin typeface="Noto Sans CJK TC"/>
              </a:rPr>
              <a:t>13</a:t>
            </a:r>
          </a:p>
        </p:txBody>
      </p:sp>
      <p:sp>
        <p:nvSpPr>
          <p:cNvPr id="40" name="Oval 39"/>
          <p:cNvSpPr/>
          <p:nvPr/>
        </p:nvSpPr>
        <p:spPr>
          <a:xfrm>
            <a:off x="9098280" y="2203704"/>
            <a:ext cx="246888" cy="246888"/>
          </a:xfrm>
          <a:prstGeom prst="ellipse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98280" y="2265426"/>
            <a:ext cx="246888" cy="93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4A78A8"/>
                </a:solidFill>
                <a:latin typeface="Noto Sans CJK TC"/>
              </a:rPr>
              <a:t>14</a:t>
            </a:r>
          </a:p>
        </p:txBody>
      </p:sp>
      <p:sp>
        <p:nvSpPr>
          <p:cNvPr id="42" name="Oval 41"/>
          <p:cNvSpPr/>
          <p:nvPr/>
        </p:nvSpPr>
        <p:spPr>
          <a:xfrm>
            <a:off x="9528048" y="2203704"/>
            <a:ext cx="246888" cy="246888"/>
          </a:xfrm>
          <a:prstGeom prst="ellipse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528048" y="2265426"/>
            <a:ext cx="246888" cy="93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4A78A8"/>
                </a:solidFill>
                <a:latin typeface="Noto Sans CJK TC"/>
              </a:rPr>
              <a:t>15</a:t>
            </a:r>
          </a:p>
        </p:txBody>
      </p:sp>
      <p:sp>
        <p:nvSpPr>
          <p:cNvPr id="44" name="Oval 43"/>
          <p:cNvSpPr/>
          <p:nvPr/>
        </p:nvSpPr>
        <p:spPr>
          <a:xfrm>
            <a:off x="9957816" y="2203704"/>
            <a:ext cx="246888" cy="246888"/>
          </a:xfrm>
          <a:prstGeom prst="ellipse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57816" y="2265426"/>
            <a:ext cx="246888" cy="9381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650" b="0">
                <a:solidFill>
                  <a:srgbClr val="4A78A8"/>
                </a:solidFill>
                <a:latin typeface="Noto Sans CJK TC"/>
              </a:rPr>
              <a:t>16</a:t>
            </a:r>
          </a:p>
        </p:txBody>
      </p:sp>
      <p:sp>
        <p:nvSpPr>
          <p:cNvPr id="46" name="Oval 45"/>
          <p:cNvSpPr/>
          <p:nvPr/>
        </p:nvSpPr>
        <p:spPr>
          <a:xfrm>
            <a:off x="10533888" y="2002536"/>
            <a:ext cx="219456" cy="219456"/>
          </a:xfrm>
          <a:prstGeom prst="ellipse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533888" y="2057400"/>
            <a:ext cx="219456" cy="833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B65252"/>
                </a:solidFill>
                <a:latin typeface="Noto Sans CJK TC"/>
              </a:rPr>
              <a:t>↺</a:t>
            </a:r>
          </a:p>
        </p:txBody>
      </p:sp>
      <p:sp>
        <p:nvSpPr>
          <p:cNvPr id="48" name="Oval 47"/>
          <p:cNvSpPr/>
          <p:nvPr/>
        </p:nvSpPr>
        <p:spPr>
          <a:xfrm>
            <a:off x="10817352" y="2002536"/>
            <a:ext cx="219456" cy="219456"/>
          </a:xfrm>
          <a:prstGeom prst="ellipse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817352" y="2057400"/>
            <a:ext cx="219456" cy="833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B65252"/>
                </a:solidFill>
                <a:latin typeface="Noto Sans CJK TC"/>
              </a:rPr>
              <a:t>↺</a:t>
            </a:r>
          </a:p>
        </p:txBody>
      </p:sp>
      <p:sp>
        <p:nvSpPr>
          <p:cNvPr id="50" name="Oval 49"/>
          <p:cNvSpPr/>
          <p:nvPr/>
        </p:nvSpPr>
        <p:spPr>
          <a:xfrm>
            <a:off x="11100815" y="2002536"/>
            <a:ext cx="219456" cy="219456"/>
          </a:xfrm>
          <a:prstGeom prst="ellipse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100815" y="2057400"/>
            <a:ext cx="219456" cy="833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750" b="1">
                <a:solidFill>
                  <a:srgbClr val="B65252"/>
                </a:solidFill>
                <a:latin typeface="Noto Sans CJK TC"/>
              </a:rPr>
              <a:t>↺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04304" y="2670048"/>
            <a:ext cx="42519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F2933"/>
                </a:solidFill>
                <a:latin typeface="Noto Sans CJK TC"/>
              </a:rPr>
              <a:t>16 unique objects + 3 duplicate occurrences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49808" y="3401568"/>
            <a:ext cx="3383280" cy="585216"/>
          </a:xfrm>
          <a:prstGeom prst="roundRect">
            <a:avLst/>
          </a:prstGeom>
          <a:solidFill>
            <a:srgbClr val="FBEAEA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9536" y="3502152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B65252"/>
                </a:solidFill>
                <a:latin typeface="Cambria Math"/>
              </a:rPr>
              <a:t>L: T_L=19, U_L=16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407408" y="3401568"/>
            <a:ext cx="3383280" cy="585216"/>
          </a:xfrm>
          <a:prstGeom prst="roundRect">
            <a:avLst/>
          </a:prstGeom>
          <a:solidFill>
            <a:srgbClr val="E8F3E8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17136" y="3502152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4C8A61"/>
                </a:solidFill>
                <a:latin typeface="Cambria Math"/>
              </a:rPr>
              <a:t>R: T_R=18, U_R=18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065008" y="3401568"/>
            <a:ext cx="3383280" cy="585216"/>
          </a:xfrm>
          <a:prstGeom prst="roundRect">
            <a:avLst/>
          </a:prstGeom>
          <a:solidFill>
            <a:srgbClr val="F5F7F8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174736" y="3502152"/>
            <a:ext cx="3163824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1F2933"/>
                </a:solidFill>
                <a:latin typeface="Cambria Math"/>
              </a:rPr>
              <a:t>P_L=16/19=.842 ; P_R=1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04672" y="4279392"/>
            <a:ext cx="5074920" cy="932688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14400" y="4416552"/>
            <a:ext cx="50292" cy="658368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97280" y="4416552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F2933"/>
                </a:solidFill>
                <a:latin typeface="Noto Sans CJK TC"/>
              </a:rPr>
              <a:t>Standard 比 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97280" y="4791456"/>
            <a:ext cx="4617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>
                <a:solidFill>
                  <a:srgbClr val="1F2933"/>
                </a:solidFill>
                <a:latin typeface="Noto Sans CJK TC"/>
              </a:rPr>
              <a:t>19 &gt; 18 → L 勝 → True=R → WRONG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291072" y="4279392"/>
            <a:ext cx="5074920" cy="932688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400800" y="4416552"/>
            <a:ext cx="50292" cy="658368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583680" y="4416552"/>
            <a:ext cx="46360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1">
                <a:solidFill>
                  <a:srgbClr val="1F2933"/>
                </a:solidFill>
                <a:latin typeface="Noto Sans CJK TC"/>
              </a:rPr>
              <a:t>Population Standard 比 U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583680" y="4791456"/>
            <a:ext cx="461772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70" b="0">
                <a:solidFill>
                  <a:srgbClr val="1F2933"/>
                </a:solidFill>
                <a:latin typeface="Noto Sans CJK TC"/>
              </a:rPr>
              <a:t>16 &lt; 18 → R 勝 → CORRECTED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41248" y="5907024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一句話：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600200" y="5870448"/>
            <a:ext cx="9464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PS 不是給 L 負分；只是把同一 training object 的重複 contribution 合併成一次。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Target / conflict intuition · 2026-10-24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80">
                <a:solidFill>
                  <a:srgbClr val="6B7780"/>
                </a:solidFill>
                <a:latin typeface="Noto Sans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接下來 Target 1–5 三頁怎麼讀？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每一列只回答三件事：真實答案、Population 有沒有改 winner、true class 有沒有被 rule system 提出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298448"/>
            <a:ext cx="3429000" cy="3127248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435607"/>
            <a:ext cx="50292" cy="2852928"/>
          </a:xfrm>
          <a:prstGeom prst="rect">
            <a:avLst/>
          </a:prstGeom>
          <a:solidFill>
            <a:srgbClr val="4A78A8"/>
          </a:solidFill>
          <a:ln>
            <a:solidFill>
              <a:srgbClr val="4A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35607"/>
            <a:ext cx="2990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A · True + Factors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10512"/>
            <a:ext cx="2971800" cy="2523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3"/>
                </a:solidFill>
                <a:latin typeface="Noto Sans CJK TC"/>
              </a:rPr>
              <a:t>True = 這筆 holdout 的真實 decision。
Factors = 這筆資料本身的條件值。
C = 當下把 80% training split 成幾個 clients。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298448"/>
            <a:ext cx="3429000" cy="3127248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98848" y="1435607"/>
            <a:ext cx="50292" cy="2852928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1435607"/>
            <a:ext cx="2990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B · STD→PS / GS→PG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1810512"/>
            <a:ext cx="2971800" cy="2523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>
                <a:solidFill>
                  <a:srgbClr val="1F2933"/>
                </a:solidFill>
                <a:latin typeface="Noto Sans CJK TC"/>
              </a:rPr>
              <a:t>Corrected：wrong → true
Harmed：true → wrong
Changed / same：winner 變了，但 correctness 沒變
Unchanged：winner 沒變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65008" y="1298448"/>
            <a:ext cx="3429000" cy="3127248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74736" y="1435607"/>
            <a:ext cx="50292" cy="2852928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6" y="1435607"/>
            <a:ext cx="2990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C · True cand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57616" y="1810512"/>
            <a:ext cx="2971800" cy="2523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60" b="0">
                <a:solidFill>
                  <a:srgbClr val="1F2933"/>
                </a:solidFill>
                <a:latin typeface="Noto Sans CJK TC"/>
              </a:rPr>
              <a:t>YES：true class 至少有一條 matching rule，可以靠 scoring 去競爭。
NO：true class 根本沒進 Candidate(x)，任何 voting policy 都不可能救。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88720" y="4700016"/>
            <a:ext cx="9784080" cy="658368"/>
          </a:xfrm>
          <a:prstGeom prst="roundRect">
            <a:avLst/>
          </a:prstGeom>
          <a:solidFill>
            <a:srgbClr val="F6F0DC"/>
          </a:solidFill>
          <a:ln>
            <a:solidFill>
              <a:srgbClr val="F6F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4882896"/>
            <a:ext cx="9372600" cy="2468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A98025"/>
                </a:solidFill>
                <a:latin typeface="Noto Sans CJK TC"/>
              </a:rPr>
              <a:t>閱讀順序：True cand → old/new winner → 再回頭看 T/U/P/R；不要只看「Corrected / Harmed」標籤。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5907024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一句話：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5870448"/>
            <a:ext cx="9464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Target cards 是 case-level mechanism evidence；不是在說某一個 Target 比另一個 Target「比較好」。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Target / conflict intuition · 2026-10-24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80">
                <a:solidFill>
                  <a:srgbClr val="6B7780"/>
                </a:solidFill>
                <a:latin typeface="Noto Sans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15 個 Target 的角色：不是做統計，而是把四種情況「看懂」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3 datasets × 5 cases，刻意涵蓋 corrected、harmed、unchanged、true-class missing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600200"/>
            <a:ext cx="1965960" cy="160020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3" y="1883664"/>
            <a:ext cx="18196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4C8A61"/>
                </a:solidFill>
                <a:latin typeface="Noto Sans CJK TC"/>
              </a:rPr>
              <a:t>Corrected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59152"/>
            <a:ext cx="174650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30" b="0">
                <a:solidFill>
                  <a:srgbClr val="1F2933"/>
                </a:solidFill>
                <a:latin typeface="Noto Sans CJK TC"/>
              </a:rPr>
              <a:t>baseline 錯 → population 修正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98064" y="1600200"/>
            <a:ext cx="1965960" cy="160020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71216" y="1883664"/>
            <a:ext cx="18196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B65252"/>
                </a:solidFill>
                <a:latin typeface="Noto Sans CJK TC"/>
              </a:rPr>
              <a:t>Harmed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07792" y="2359152"/>
            <a:ext cx="174650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30" b="0">
                <a:solidFill>
                  <a:srgbClr val="1F2933"/>
                </a:solidFill>
                <a:latin typeface="Noto Sans CJK TC"/>
              </a:rPr>
              <a:t>baseline 對 → population 修壞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65776" y="1600200"/>
            <a:ext cx="1965960" cy="1600200"/>
          </a:xfrm>
          <a:prstGeom prst="roundRect">
            <a:avLst/>
          </a:prstGeom>
          <a:solidFill>
            <a:srgbClr val="F6F0DC"/>
          </a:solidFill>
          <a:ln>
            <a:solidFill>
              <a:srgbClr val="F6F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38928" y="1883664"/>
            <a:ext cx="18196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A98025"/>
                </a:solidFill>
                <a:latin typeface="Noto Sans CJK TC"/>
              </a:rPr>
              <a:t>Changed / same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75504" y="2359152"/>
            <a:ext cx="174650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30" b="0">
                <a:solidFill>
                  <a:srgbClr val="1F2933"/>
                </a:solidFill>
                <a:latin typeface="Noto Sans CJK TC"/>
              </a:rPr>
              <a:t>winner 變，但 correctness 不變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33488" y="1600200"/>
            <a:ext cx="1965960" cy="1600200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06640" y="1883664"/>
            <a:ext cx="18196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4A78A8"/>
                </a:solidFill>
                <a:latin typeface="Noto Sans CJK TC"/>
              </a:rPr>
              <a:t>Unchanged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43215" y="2359152"/>
            <a:ext cx="174650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30" b="0">
                <a:solidFill>
                  <a:srgbClr val="1F2933"/>
                </a:solidFill>
                <a:latin typeface="Noto Sans CJK TC"/>
              </a:rPr>
              <a:t>penalty 有算，但不足以翻轉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01200" y="1600200"/>
            <a:ext cx="1965960" cy="1600200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74352" y="1883664"/>
            <a:ext cx="181965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>
                <a:solidFill>
                  <a:srgbClr val="C96A3D"/>
                </a:solidFill>
                <a:latin typeface="Noto Sans CJK TC"/>
              </a:rPr>
              <a:t>True missing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10928" y="2359152"/>
            <a:ext cx="1746504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30" b="0">
                <a:solidFill>
                  <a:srgbClr val="1F2933"/>
                </a:solidFill>
                <a:latin typeface="Noto Sans CJK TC"/>
              </a:rPr>
              <a:t>true class 根本沒進 Candidate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60120" y="3794760"/>
            <a:ext cx="4389120" cy="603504"/>
          </a:xfrm>
          <a:prstGeom prst="roundRect">
            <a:avLst/>
          </a:prstGeom>
          <a:solidFill>
            <a:srgbClr val="F5F7F8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9848" y="3895344"/>
            <a:ext cx="4169663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1F2933"/>
                </a:solidFill>
                <a:latin typeface="Cambria Math"/>
              </a:rPr>
              <a:t>15 selected cases  →  理解機制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3794760"/>
            <a:ext cx="4572000" cy="603504"/>
          </a:xfrm>
          <a:prstGeom prst="roundRect">
            <a:avLst/>
          </a:prstGeom>
          <a:solidFill>
            <a:srgbClr val="F5F7F8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10528" y="3895344"/>
            <a:ext cx="435254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F2933"/>
                </a:solidFill>
                <a:latin typeface="Cambria Math"/>
              </a:rPr>
              <a:t>全部 conflict cases  →  統計機制出現多少次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43000" y="4681728"/>
            <a:ext cx="9893808" cy="749808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252728" y="4818888"/>
            <a:ext cx="50292" cy="475488"/>
          </a:xfrm>
          <a:prstGeom prst="rect">
            <a:avLst/>
          </a:prstGeom>
          <a:solidFill>
            <a:srgbClr val="2B7A78"/>
          </a:solidFill>
          <a:ln>
            <a:solidFill>
              <a:srgbClr val="2B7A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435608" y="4818888"/>
            <a:ext cx="945489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F2933"/>
                </a:solidFill>
                <a:latin typeface="Noto Sans CJK TC"/>
              </a:rPr>
              <a:t>下一步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35608" y="5193792"/>
            <a:ext cx="9436608" cy="1463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Noto Sans CJK TC"/>
              </a:rPr>
              <a:t>所以先看 21–23 頁三個 dataset 的 5 個 target；看懂後，再把同一套判讀規則套到所有 conflict occurrences。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1248" y="5907024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一句話：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5870448"/>
            <a:ext cx="9464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15 cases 是「顯微鏡」；908 conflict scan 才是「把整張樣本掃完」。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Target / conflict intuition · 2026-10-24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80">
                <a:solidFill>
                  <a:srgbClr val="6B7780"/>
                </a:solidFill>
                <a:latin typeface="Noto Sans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Target 回查案例 — Balance Scale · 1–5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不是挑幾筆漂亮案例；5 個 selected holdout targets 全部列出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0468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2B7A78"/>
                </a:solidFill>
                <a:latin typeface="Noto Sans CJK TC"/>
              </a:rPr>
              <a:t>這 5 筆：corrected events=2 · harmed events=2 · true-candidate missing=1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80">
                <a:solidFill>
                  <a:srgbClr val="6B7780"/>
                </a:solidFill>
                <a:latin typeface="Noto Sans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243584"/>
            <a:ext cx="1113739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600200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16736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1527048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1325880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right_distance=5.0 · right_weight=1.0 · left_distance=3.0 ·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1335024"/>
            <a:ext cx="1353312" cy="530352"/>
          </a:xfrm>
          <a:prstGeom prst="roundRect">
            <a:avLst/>
          </a:prstGeom>
          <a:solidFill>
            <a:srgbClr val="EAF5EB"/>
          </a:solidFill>
          <a:ln w="10160">
            <a:solidFill>
              <a:srgbClr val="EAF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362456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527048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68B5B"/>
                </a:solidFill>
                <a:latin typeface="Noto Sans CJK TC"/>
              </a:rPr>
              <a:t>Corrected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1335024"/>
            <a:ext cx="153619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362456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527048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1335024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0" y="1362456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1527048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2084832"/>
            <a:ext cx="11137392" cy="731520"/>
          </a:xfrm>
          <a:prstGeom prst="round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2157984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2441448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2157984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2368296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27632" y="2167128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right_distance=3.0 · right_weight=1.0 · left_distance=5.0 · 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12280" y="2176272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2203704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368296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66760" y="2176272"/>
            <a:ext cx="1536192" cy="530352"/>
          </a:xfrm>
          <a:prstGeom prst="roundRect">
            <a:avLst/>
          </a:prstGeom>
          <a:solidFill>
            <a:srgbClr val="EAF5EB"/>
          </a:solidFill>
          <a:ln w="10160">
            <a:solidFill>
              <a:srgbClr val="EAF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2203704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368296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68B5B"/>
                </a:solidFill>
                <a:latin typeface="Noto Sans CJK TC"/>
              </a:rPr>
              <a:t>Corrected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2176272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49840" y="2203704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2368296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0352" y="2926080"/>
            <a:ext cx="1113739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2999232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3282696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" y="2999232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" y="3209544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27632" y="3008376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right_distance=3.0 · right_weight=1.0 · left_distance=4.0 · 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12280" y="3017520"/>
            <a:ext cx="1353312" cy="530352"/>
          </a:xfrm>
          <a:prstGeom prst="roundRect">
            <a:avLst/>
          </a:prstGeom>
          <a:solidFill>
            <a:srgbClr val="FCEBE9"/>
          </a:solidFill>
          <a:ln w="10160">
            <a:solidFill>
              <a:srgbClr val="FC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3044952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3209544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BE5D54"/>
                </a:solidFill>
                <a:latin typeface="Noto Sans CJK TC"/>
              </a:rPr>
              <a:t>Harmed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66760" y="3017520"/>
            <a:ext cx="153619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0" y="3044952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3209544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104120" y="3017520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49840" y="3044952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49840" y="3209544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30352" y="3767328"/>
            <a:ext cx="11137392" cy="731520"/>
          </a:xfrm>
          <a:prstGeom prst="round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" y="3840480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4123944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568" y="3840480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5568" y="4050791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27632" y="3849624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right_distance=5.0 · right_weight=1.0 · left_distance=4.0 · 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812280" y="3858768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58000" y="3886200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0" y="4050791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366760" y="3858768"/>
            <a:ext cx="1536192" cy="530352"/>
          </a:xfrm>
          <a:prstGeom prst="roundRect">
            <a:avLst/>
          </a:prstGeom>
          <a:solidFill>
            <a:srgbClr val="FCEBE9"/>
          </a:solidFill>
          <a:ln w="10160">
            <a:solidFill>
              <a:srgbClr val="FC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12480" y="3886200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12480" y="4050791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BE5D54"/>
                </a:solidFill>
                <a:latin typeface="Noto Sans CJK TC"/>
              </a:rPr>
              <a:t>Harmed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104120" y="3858768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149840" y="3886200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49840" y="4050791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30352" y="4608576"/>
            <a:ext cx="1113739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8368" y="4681728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8368" y="4965192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C=4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5568" y="4681728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15568" y="4892040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B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627632" y="4690872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right_distance=4.0 · right_weight=1.0 · left_distance=4.0 · 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812280" y="4700016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58000" y="4727448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0" y="4892040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366760" y="4700016"/>
            <a:ext cx="1536192" cy="530352"/>
          </a:xfrm>
          <a:prstGeom prst="roundRect">
            <a:avLst/>
          </a:prstGeom>
          <a:solidFill>
            <a:srgbClr val="F8F3DE"/>
          </a:solidFill>
          <a:ln w="10160">
            <a:solidFill>
              <a:srgbClr val="F8F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12480" y="4727448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12480" y="4892040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937737"/>
                </a:solidFill>
                <a:latin typeface="Noto Sans CJK TC"/>
              </a:rPr>
              <a:t>Changed / same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104120" y="4700016"/>
            <a:ext cx="1353312" cy="530352"/>
          </a:xfrm>
          <a:prstGeom prst="roundRect">
            <a:avLst/>
          </a:prstGeom>
          <a:solidFill>
            <a:srgbClr val="FAEBE9"/>
          </a:solidFill>
          <a:ln w="10160">
            <a:solidFill>
              <a:srgbClr val="FA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149840" y="4727448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149840" y="4892040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BF675E"/>
                </a:solidFill>
                <a:latin typeface="Noto Sans CJK TC"/>
              </a:rPr>
              <a:t>NO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Target 回查案例 — Car Evaluation · 1–5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不是挑幾筆漂亮案例；5 個 selected holdout targets 全部列出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0468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2B7A78"/>
                </a:solidFill>
                <a:latin typeface="Noto Sans CJK TC"/>
              </a:rPr>
              <a:t>這 5 筆：corrected events=2 · harmed events=2 · true-candidate missing=1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80">
                <a:solidFill>
                  <a:srgbClr val="6B7780"/>
                </a:solidFill>
                <a:latin typeface="Noto Sans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243584"/>
            <a:ext cx="1113739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600200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16736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1527048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vgood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1325880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buying=low · maint=low · doors=2.0 · persons=4 · lug_boot=big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1335024"/>
            <a:ext cx="1353312" cy="530352"/>
          </a:xfrm>
          <a:prstGeom prst="roundRect">
            <a:avLst/>
          </a:prstGeom>
          <a:solidFill>
            <a:srgbClr val="EAF5EB"/>
          </a:solidFill>
          <a:ln w="10160">
            <a:solidFill>
              <a:srgbClr val="EAF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362456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527048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68B5B"/>
                </a:solidFill>
                <a:latin typeface="Noto Sans CJK TC"/>
              </a:rPr>
              <a:t>Corrected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1335024"/>
            <a:ext cx="153619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362456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527048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1335024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0" y="1362456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1527048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2084832"/>
            <a:ext cx="11137392" cy="731520"/>
          </a:xfrm>
          <a:prstGeom prst="round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2157984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2441448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2157984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2368296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good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27632" y="2167128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buying=med · maint=low · doors=3.0 · persons=4 · lug_boot=big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12280" y="2176272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2203704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368296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66760" y="2176272"/>
            <a:ext cx="1536192" cy="530352"/>
          </a:xfrm>
          <a:prstGeom prst="roundRect">
            <a:avLst/>
          </a:prstGeom>
          <a:solidFill>
            <a:srgbClr val="EAF5EB"/>
          </a:solidFill>
          <a:ln w="10160">
            <a:solidFill>
              <a:srgbClr val="EAF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2203704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368296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68B5B"/>
                </a:solidFill>
                <a:latin typeface="Noto Sans CJK TC"/>
              </a:rPr>
              <a:t>Corrected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2176272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49840" y="2203704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2368296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0352" y="2926080"/>
            <a:ext cx="1113739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2999232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3282696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" y="2999232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" y="3209544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acc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27632" y="3008376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buying=med · maint=vhigh · doors=4.0 · persons=more · lug_boo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12280" y="3017520"/>
            <a:ext cx="1353312" cy="530352"/>
          </a:xfrm>
          <a:prstGeom prst="roundRect">
            <a:avLst/>
          </a:prstGeom>
          <a:solidFill>
            <a:srgbClr val="FCEBE9"/>
          </a:solidFill>
          <a:ln w="10160">
            <a:solidFill>
              <a:srgbClr val="FC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3044952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3209544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BE5D54"/>
                </a:solidFill>
                <a:latin typeface="Noto Sans CJK TC"/>
              </a:rPr>
              <a:t>Harmed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66760" y="3017520"/>
            <a:ext cx="153619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0" y="3044952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3209544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104120" y="3017520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49840" y="3044952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49840" y="3209544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30352" y="3767328"/>
            <a:ext cx="11137392" cy="731520"/>
          </a:xfrm>
          <a:prstGeom prst="round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" y="3840480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4123944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C=5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568" y="3840480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5568" y="4050791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acc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27632" y="3849624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buying=high · maint=low · doors=4.0 · persons=4 · lug_boot=sm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812280" y="3858768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58000" y="3886200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0" y="4050791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366760" y="3858768"/>
            <a:ext cx="1536192" cy="530352"/>
          </a:xfrm>
          <a:prstGeom prst="roundRect">
            <a:avLst/>
          </a:prstGeom>
          <a:solidFill>
            <a:srgbClr val="FCEBE9"/>
          </a:solidFill>
          <a:ln w="10160">
            <a:solidFill>
              <a:srgbClr val="FC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12480" y="3886200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12480" y="4050791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BE5D54"/>
                </a:solidFill>
                <a:latin typeface="Noto Sans CJK TC"/>
              </a:rPr>
              <a:t>Harmed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104120" y="3858768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149840" y="3886200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49840" y="4050791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30352" y="4608576"/>
            <a:ext cx="1113739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8368" y="4681728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8368" y="4965192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C=3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5568" y="4681728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15568" y="4892040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good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627632" y="4690872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buying=med · maint=low · doors=4.0 · persons=4 · lug_boot=sma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812280" y="4700016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58000" y="4727448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0" y="4892040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366760" y="4700016"/>
            <a:ext cx="1536192" cy="530352"/>
          </a:xfrm>
          <a:prstGeom prst="roundRect">
            <a:avLst/>
          </a:prstGeom>
          <a:solidFill>
            <a:srgbClr val="F8F3DE"/>
          </a:solidFill>
          <a:ln w="10160">
            <a:solidFill>
              <a:srgbClr val="F8F3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12480" y="4727448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12480" y="4892040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937737"/>
                </a:solidFill>
                <a:latin typeface="Noto Sans CJK TC"/>
              </a:rPr>
              <a:t>Changed / same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104120" y="4700016"/>
            <a:ext cx="1353312" cy="530352"/>
          </a:xfrm>
          <a:prstGeom prst="roundRect">
            <a:avLst/>
          </a:prstGeom>
          <a:solidFill>
            <a:srgbClr val="FAEBE9"/>
          </a:solidFill>
          <a:ln w="10160">
            <a:solidFill>
              <a:srgbClr val="FA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149840" y="4727448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149840" y="4892040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BF675E"/>
                </a:solidFill>
                <a:latin typeface="Noto Sans CJK TC"/>
              </a:rPr>
              <a:t>NO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Target 回查案例 — Hayes-Roth · 1–5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不是挑幾筆漂亮案例；5 個 selected holdout targets 全部列出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504688"/>
            <a:ext cx="10515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2B7A78"/>
                </a:solidFill>
                <a:latin typeface="Noto Sans CJK TC"/>
              </a:rPr>
              <a:t>這 5 筆：corrected events=1 · harmed events=2 · true-candidate missing=0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80">
                <a:solidFill>
                  <a:srgbClr val="6B7780"/>
                </a:solidFill>
                <a:latin typeface="Noto Sans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243584"/>
            <a:ext cx="1113739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1316736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600200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1316736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" y="1527048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7632" y="1325880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hobby=2.0 · age=3.0 · educational_level=4.0 · marital_status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12280" y="1335024"/>
            <a:ext cx="1353312" cy="530352"/>
          </a:xfrm>
          <a:prstGeom prst="roundRect">
            <a:avLst/>
          </a:prstGeom>
          <a:solidFill>
            <a:srgbClr val="EAF5EB"/>
          </a:solidFill>
          <a:ln w="10160">
            <a:solidFill>
              <a:srgbClr val="EAF5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0" y="1362456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527048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68B5B"/>
                </a:solidFill>
                <a:latin typeface="Noto Sans CJK TC"/>
              </a:rPr>
              <a:t>Corrected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66760" y="1335024"/>
            <a:ext cx="153619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0" y="1362456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1527048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104120" y="1335024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49840" y="1362456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49840" y="1527048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30352" y="2084832"/>
            <a:ext cx="11137392" cy="731520"/>
          </a:xfrm>
          <a:prstGeom prst="round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" y="2157984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2441448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2157984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5568" y="2368296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27632" y="2167128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hobby=3.0 · age=1.0 · educational_level=1.0 · marital_status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12280" y="2176272"/>
            <a:ext cx="1353312" cy="530352"/>
          </a:xfrm>
          <a:prstGeom prst="roundRect">
            <a:avLst/>
          </a:prstGeom>
          <a:solidFill>
            <a:srgbClr val="FCEBE9"/>
          </a:solidFill>
          <a:ln w="10160">
            <a:solidFill>
              <a:srgbClr val="FC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0" y="2203704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0" y="2368296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BE5D54"/>
                </a:solidFill>
                <a:latin typeface="Noto Sans CJK TC"/>
              </a:rPr>
              <a:t>Harmed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366760" y="2176272"/>
            <a:ext cx="153619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0" y="2203704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2368296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104120" y="2176272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149840" y="2203704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49840" y="2368296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0352" y="2926080"/>
            <a:ext cx="1113739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368" y="2999232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8368" y="3282696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15568" y="2999232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" y="3209544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627632" y="3008376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hobby=2.0 · age=1.0 · educational_level=1.0 · marital_status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12280" y="3017520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3044952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3209544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66760" y="3017520"/>
            <a:ext cx="1536192" cy="530352"/>
          </a:xfrm>
          <a:prstGeom prst="roundRect">
            <a:avLst/>
          </a:prstGeom>
          <a:solidFill>
            <a:srgbClr val="FCEBE9"/>
          </a:solidFill>
          <a:ln w="10160">
            <a:solidFill>
              <a:srgbClr val="FCEB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12480" y="3044952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412480" y="3209544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BE5D54"/>
                </a:solidFill>
                <a:latin typeface="Noto Sans CJK TC"/>
              </a:rPr>
              <a:t>Harmed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104120" y="3017520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49840" y="3044952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149840" y="3209544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30352" y="3767328"/>
            <a:ext cx="11137392" cy="731520"/>
          </a:xfrm>
          <a:prstGeom prst="roundRect">
            <a:avLst/>
          </a:prstGeom>
          <a:solidFill>
            <a:srgbClr val="F4F7F8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58368" y="3840480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T4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58368" y="4123944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15568" y="3840480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115568" y="4050791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1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627632" y="3849624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hobby=3.0 · age=1.0 · educational_level=2.0 · marital_status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812280" y="3858768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858000" y="3886200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858000" y="4050791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366760" y="3858768"/>
            <a:ext cx="153619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412480" y="3886200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412480" y="4050791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0104120" y="3858768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149840" y="3886200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0149840" y="4050791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530352" y="4608576"/>
            <a:ext cx="11137392" cy="7315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58368" y="4681728"/>
            <a:ext cx="411480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273A4C"/>
                </a:solidFill>
                <a:latin typeface="Noto Sans CJK TC"/>
              </a:rPr>
              <a:t>T5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8368" y="4965192"/>
            <a:ext cx="411480" cy="210312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80" b="0">
                <a:solidFill>
                  <a:srgbClr val="667580"/>
                </a:solidFill>
                <a:latin typeface="Noto Sans CJK TC"/>
              </a:rPr>
              <a:t>C=5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5568" y="4681728"/>
            <a:ext cx="411480" cy="20116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60" b="0">
                <a:solidFill>
                  <a:srgbClr val="667580"/>
                </a:solidFill>
                <a:latin typeface="Noto Sans CJK TC"/>
              </a:rPr>
              <a:t>True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115568" y="4892040"/>
            <a:ext cx="411480" cy="27432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1100" b="1">
                <a:solidFill>
                  <a:srgbClr val="36454F"/>
                </a:solidFill>
                <a:latin typeface="Noto Sans CJK TC"/>
              </a:rPr>
              <a:t>1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627632" y="4690872"/>
            <a:ext cx="4983480" cy="548640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Noto Sans CJK TC"/>
              </a:rPr>
              <a:t>hobby=1.0 · age=1.0 · educational_level=3.0 · marital_status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812280" y="4700016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6858000" y="4727448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STD→PS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58000" y="4892040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8366760" y="4700016"/>
            <a:ext cx="153619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412480" y="4727448"/>
            <a:ext cx="1444751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GS→PG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8412480" y="4892040"/>
            <a:ext cx="1444751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Unchanged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10104120" y="4700016"/>
            <a:ext cx="1353312" cy="530352"/>
          </a:xfrm>
          <a:prstGeom prst="roundRect">
            <a:avLst/>
          </a:prstGeom>
          <a:solidFill>
            <a:srgbClr val="E9F1F7"/>
          </a:solidFill>
          <a:ln w="10160">
            <a:solidFill>
              <a:srgbClr val="E9F1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10149840" y="4727448"/>
            <a:ext cx="1261872" cy="15544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740" b="0">
                <a:solidFill>
                  <a:srgbClr val="667580"/>
                </a:solidFill>
                <a:latin typeface="Noto Sans CJK TC"/>
              </a:rPr>
              <a:t>True cand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149840" y="4892040"/>
            <a:ext cx="1261872" cy="246888"/>
          </a:xfrm>
          <a:prstGeom prst="rect">
            <a:avLst/>
          </a:prstGeom>
          <a:noFill/>
        </p:spPr>
        <p:txBody>
          <a:bodyPr wrap="square" lIns="36576" rIns="36576" tIns="27432" bIns="27432" anchor="ctr">
            <a:spAutoFit/>
          </a:bodyPr>
          <a:lstStyle/>
          <a:p>
            <a:pPr algn="ctr"/>
            <a:r>
              <a:rPr sz="840" b="1">
                <a:solidFill>
                  <a:srgbClr val="5882A4"/>
                </a:solidFill>
                <a:latin typeface="Noto Sans CJK TC"/>
              </a:rPr>
              <a:t>YES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先回答：908 跟「六種方法」完全不是同一件事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Conflict 在 prediction policy 之前就決定；六種方法只是同一個 conflict 發生後，用不同分數選 winner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61872"/>
            <a:ext cx="5440680" cy="3337560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49808" y="1399031"/>
            <a:ext cx="50292" cy="3063240"/>
          </a:xfrm>
          <a:prstGeom prst="rect">
            <a:avLst/>
          </a:prstGeom>
          <a:solidFill>
            <a:srgbClr val="4A78A8"/>
          </a:solidFill>
          <a:ln>
            <a:solidFill>
              <a:srgbClr val="4A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399031"/>
            <a:ext cx="50017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Noto Sans CJK TC"/>
              </a:rPr>
              <a:t>先建立 rule system · 一次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1773936"/>
            <a:ext cx="4983480" cy="27340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0">
                <a:solidFill>
                  <a:srgbClr val="1F2933"/>
                </a:solidFill>
                <a:latin typeface="Noto Sans CJK TC"/>
              </a:rPr>
              <a:t>Dataset + C
→ 80% 分 clients
→ Local LEM2
→ UNION global rules
→ test x 找 M(x)
→ Candidate(x)
→ |Candidate(x)|&gt;1 ? = Conflict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82512" y="1261872"/>
            <a:ext cx="5138928" cy="3337560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01968" y="1527048"/>
            <a:ext cx="47000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1F2933"/>
                </a:solidFill>
                <a:latin typeface="Noto Sans CJK TC"/>
              </a:rPr>
              <a:t>Conflict 已經存在後，才跑 6 種 policy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56832" y="2103120"/>
            <a:ext cx="1225296" cy="566928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2276856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C96A3D"/>
                </a:solidFill>
                <a:latin typeface="Noto Sans CJK TC"/>
              </a:rPr>
              <a:t>FIRST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19872" y="2103120"/>
            <a:ext cx="1225296" cy="566928"/>
          </a:xfrm>
          <a:prstGeom prst="roundRect">
            <a:avLst/>
          </a:prstGeom>
          <a:solidFill>
            <a:srgbClr val="F6F0DC"/>
          </a:solidFill>
          <a:ln>
            <a:solidFill>
              <a:srgbClr val="F6F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19872" y="2276856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A98025"/>
                </a:solidFill>
                <a:latin typeface="Noto Sans CJK TC"/>
              </a:rPr>
              <a:t>SIMPLE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582912" y="2103120"/>
            <a:ext cx="1225296" cy="566928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82912" y="2276856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4A78A8"/>
                </a:solidFill>
                <a:latin typeface="Noto Sans CJK TC"/>
              </a:rPr>
              <a:t>STD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56832" y="2907791"/>
            <a:ext cx="1225296" cy="566928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56832" y="3081528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4C8A61"/>
                </a:solidFill>
                <a:latin typeface="Noto Sans CJK TC"/>
              </a:rPr>
              <a:t>GS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19872" y="2907791"/>
            <a:ext cx="1225296" cy="566928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19872" y="3081528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2B7A78"/>
                </a:solidFill>
                <a:latin typeface="Noto Sans CJK TC"/>
              </a:rPr>
              <a:t>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582912" y="2907791"/>
            <a:ext cx="1225296" cy="566928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82912" y="3081528"/>
            <a:ext cx="122529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B65252"/>
                </a:solidFill>
                <a:latin typeface="Noto Sans CJK TC"/>
              </a:rPr>
              <a:t>PG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417320" y="4846320"/>
            <a:ext cx="4160520" cy="566928"/>
          </a:xfrm>
          <a:prstGeom prst="roundRect">
            <a:avLst/>
          </a:prstGeom>
          <a:solidFill>
            <a:srgbClr val="F5F7F8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27048" y="4946904"/>
            <a:ext cx="3941063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1F2933"/>
                </a:solidFill>
                <a:latin typeface="Cambria Math"/>
              </a:rPr>
              <a:t>Conflict(x) ⇔ |Candidate(x)| &gt; 1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83680" y="4846320"/>
            <a:ext cx="3840480" cy="566928"/>
          </a:xfrm>
          <a:prstGeom prst="roundRect">
            <a:avLst/>
          </a:prstGeom>
          <a:solidFill>
            <a:srgbClr val="FBEAEA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93408" y="4946904"/>
            <a:ext cx="3621024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B65252"/>
                </a:solidFill>
                <a:latin typeface="Cambria Math"/>
              </a:rPr>
              <a:t>這個公式沒有 policy p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5907024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一句話：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5870448"/>
            <a:ext cx="9464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六種方法不會把 conflict 從 1 變成 6；它們共用同一個 conflict set。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Target / conflict intuition · 2026-10-24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80">
                <a:solidFill>
                  <a:srgbClr val="6B7780"/>
                </a:solidFill>
                <a:latin typeface="Noto Sans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908 怎麼來？為什麼看起來這麼大？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它是 12 個 structural configurations 的累積；同一 holdout row 在不同 C 下可以被重複計為 conflict occurrence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423160" y="1298448"/>
            <a:ext cx="1307592" cy="475488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23160" y="1444752"/>
            <a:ext cx="13075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>
                <a:solidFill>
                  <a:srgbClr val="2B7A78"/>
                </a:solidFill>
                <a:latin typeface="Noto Sans CJK TC"/>
              </a:rPr>
              <a:t>C=2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005072" y="1298448"/>
            <a:ext cx="1307592" cy="475488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05072" y="1444752"/>
            <a:ext cx="13075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>
                <a:solidFill>
                  <a:srgbClr val="2B7A78"/>
                </a:solidFill>
                <a:latin typeface="Noto Sans CJK TC"/>
              </a:rPr>
              <a:t>C=3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86984" y="1298448"/>
            <a:ext cx="1307592" cy="475488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6984" y="1444752"/>
            <a:ext cx="13075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>
                <a:solidFill>
                  <a:srgbClr val="2B7A78"/>
                </a:solidFill>
                <a:latin typeface="Noto Sans CJK TC"/>
              </a:rPr>
              <a:t>C=4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68896" y="1298448"/>
            <a:ext cx="1307592" cy="475488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68896" y="1444752"/>
            <a:ext cx="13075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>
                <a:solidFill>
                  <a:srgbClr val="2B7A78"/>
                </a:solidFill>
                <a:latin typeface="Noto Sans CJK TC"/>
              </a:rPr>
              <a:t>C=5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50808" y="1298448"/>
            <a:ext cx="1307592" cy="475488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0808" y="1444752"/>
            <a:ext cx="130759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>
                <a:solidFill>
                  <a:srgbClr val="2B7A78"/>
                </a:solidFill>
                <a:latin typeface="Noto Sans CJK TC"/>
              </a:rPr>
              <a:t>小計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38528"/>
            <a:ext cx="1417320" cy="658368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14884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4A78A8"/>
                </a:solidFill>
                <a:latin typeface="Noto Sans CJK TC"/>
              </a:rPr>
              <a:t>Balance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23160" y="1938528"/>
            <a:ext cx="1307592" cy="658368"/>
          </a:xfrm>
          <a:prstGeom prst="roundRect">
            <a:avLst/>
          </a:prstGeom>
          <a:solidFill>
            <a:srgbClr val="FAFBFC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23160" y="2029968"/>
            <a:ext cx="13075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F2933"/>
                </a:solidFill>
                <a:latin typeface="Noto Sans CJK TC"/>
              </a:rPr>
              <a:t>47
37.3%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05072" y="1938528"/>
            <a:ext cx="1307592" cy="658368"/>
          </a:xfrm>
          <a:prstGeom prst="roundRect">
            <a:avLst/>
          </a:prstGeom>
          <a:solidFill>
            <a:srgbClr val="FAFBFC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05072" y="2029968"/>
            <a:ext cx="13075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F2933"/>
                </a:solidFill>
                <a:latin typeface="Noto Sans CJK TC"/>
              </a:rPr>
              <a:t>62
49.2%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86984" y="1938528"/>
            <a:ext cx="1307592" cy="658368"/>
          </a:xfrm>
          <a:prstGeom prst="roundRect">
            <a:avLst/>
          </a:prstGeom>
          <a:solidFill>
            <a:srgbClr val="FAFBFC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86984" y="2029968"/>
            <a:ext cx="13075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F2933"/>
                </a:solidFill>
                <a:latin typeface="Noto Sans CJK TC"/>
              </a:rPr>
              <a:t>74
58.7%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68896" y="1938528"/>
            <a:ext cx="1307592" cy="658368"/>
          </a:xfrm>
          <a:prstGeom prst="roundRect">
            <a:avLst/>
          </a:prstGeom>
          <a:solidFill>
            <a:srgbClr val="FAFBFC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68896" y="2029968"/>
            <a:ext cx="13075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F2933"/>
                </a:solidFill>
                <a:latin typeface="Noto Sans CJK TC"/>
              </a:rPr>
              <a:t>83
65.9%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750808" y="1938528"/>
            <a:ext cx="1307592" cy="658368"/>
          </a:xfrm>
          <a:prstGeom prst="roundRect">
            <a:avLst/>
          </a:prstGeom>
          <a:solidFill>
            <a:srgbClr val="FAFBFC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750808" y="2029968"/>
            <a:ext cx="13075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F2933"/>
                </a:solidFill>
                <a:latin typeface="Noto Sans CJK TC"/>
              </a:rPr>
              <a:t>266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2807208"/>
            <a:ext cx="1417320" cy="658368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301752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4C8A61"/>
                </a:solidFill>
                <a:latin typeface="Noto Sans CJK TC"/>
              </a:rPr>
              <a:t>Car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423160" y="2807208"/>
            <a:ext cx="1307592" cy="658368"/>
          </a:xfrm>
          <a:prstGeom prst="roundRect">
            <a:avLst/>
          </a:prstGeom>
          <a:solidFill>
            <a:srgbClr val="FAFBFC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23160" y="2898648"/>
            <a:ext cx="13075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F2933"/>
                </a:solidFill>
                <a:latin typeface="Noto Sans CJK TC"/>
              </a:rPr>
              <a:t>85
24.6%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05072" y="2807208"/>
            <a:ext cx="1307592" cy="658368"/>
          </a:xfrm>
          <a:prstGeom prst="roundRect">
            <a:avLst/>
          </a:prstGeom>
          <a:solidFill>
            <a:srgbClr val="FAFBFC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005072" y="2898648"/>
            <a:ext cx="13075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F2933"/>
                </a:solidFill>
                <a:latin typeface="Noto Sans CJK TC"/>
              </a:rPr>
              <a:t>134
38.7%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586984" y="2807208"/>
            <a:ext cx="1307592" cy="658368"/>
          </a:xfrm>
          <a:prstGeom prst="roundRect">
            <a:avLst/>
          </a:prstGeom>
          <a:solidFill>
            <a:srgbClr val="FAFBFC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586984" y="2898648"/>
            <a:ext cx="13075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F2933"/>
                </a:solidFill>
                <a:latin typeface="Noto Sans CJK TC"/>
              </a:rPr>
              <a:t>169
48.8%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68896" y="2807208"/>
            <a:ext cx="1307592" cy="658368"/>
          </a:xfrm>
          <a:prstGeom prst="roundRect">
            <a:avLst/>
          </a:prstGeom>
          <a:solidFill>
            <a:srgbClr val="FAFBFC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68896" y="2898648"/>
            <a:ext cx="13075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F2933"/>
                </a:solidFill>
                <a:latin typeface="Noto Sans CJK TC"/>
              </a:rPr>
              <a:t>210
60.7%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750808" y="2807208"/>
            <a:ext cx="1307592" cy="658368"/>
          </a:xfrm>
          <a:prstGeom prst="roundRect">
            <a:avLst/>
          </a:prstGeom>
          <a:solidFill>
            <a:srgbClr val="FAFBFC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50808" y="2898648"/>
            <a:ext cx="13075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F2933"/>
                </a:solidFill>
                <a:latin typeface="Noto Sans CJK TC"/>
              </a:rPr>
              <a:t>598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3675887"/>
            <a:ext cx="1417320" cy="658368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3886200"/>
            <a:ext cx="1417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50" b="1">
                <a:solidFill>
                  <a:srgbClr val="C96A3D"/>
                </a:solidFill>
                <a:latin typeface="Noto Sans CJK TC"/>
              </a:rPr>
              <a:t>Hayes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423160" y="3675887"/>
            <a:ext cx="1307592" cy="658368"/>
          </a:xfrm>
          <a:prstGeom prst="roundRect">
            <a:avLst/>
          </a:prstGeom>
          <a:solidFill>
            <a:srgbClr val="FAFBFC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23160" y="3767327"/>
            <a:ext cx="13075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F2933"/>
                </a:solidFill>
                <a:latin typeface="Noto Sans CJK TC"/>
              </a:rPr>
              <a:t>3
11.5%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005072" y="3675887"/>
            <a:ext cx="1307592" cy="658368"/>
          </a:xfrm>
          <a:prstGeom prst="roundRect">
            <a:avLst/>
          </a:prstGeom>
          <a:solidFill>
            <a:srgbClr val="FAFBFC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05072" y="3767327"/>
            <a:ext cx="13075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F2933"/>
                </a:solidFill>
                <a:latin typeface="Noto Sans CJK TC"/>
              </a:rPr>
              <a:t>14
53.8%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586984" y="3675887"/>
            <a:ext cx="1307592" cy="658368"/>
          </a:xfrm>
          <a:prstGeom prst="roundRect">
            <a:avLst/>
          </a:prstGeom>
          <a:solidFill>
            <a:srgbClr val="FAFBFC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586984" y="3767327"/>
            <a:ext cx="13075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F2933"/>
                </a:solidFill>
                <a:latin typeface="Noto Sans CJK TC"/>
              </a:rPr>
              <a:t>10
38.5%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68896" y="3675887"/>
            <a:ext cx="1307592" cy="658368"/>
          </a:xfrm>
          <a:prstGeom prst="roundRect">
            <a:avLst/>
          </a:prstGeom>
          <a:solidFill>
            <a:srgbClr val="FAFBFC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168896" y="3767327"/>
            <a:ext cx="13075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F2933"/>
                </a:solidFill>
                <a:latin typeface="Noto Sans CJK TC"/>
              </a:rPr>
              <a:t>17
65.4%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750808" y="3675887"/>
            <a:ext cx="1307592" cy="658368"/>
          </a:xfrm>
          <a:prstGeom prst="roundRect">
            <a:avLst/>
          </a:prstGeom>
          <a:solidFill>
            <a:srgbClr val="FAFBFC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50808" y="3767327"/>
            <a:ext cx="1307592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F2933"/>
                </a:solidFill>
                <a:latin typeface="Noto Sans CJK TC"/>
              </a:rPr>
              <a:t>44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2688" y="4617720"/>
            <a:ext cx="4919472" cy="566928"/>
          </a:xfrm>
          <a:prstGeom prst="roundRect">
            <a:avLst/>
          </a:prstGeom>
          <a:solidFill>
            <a:srgbClr val="F6F0DC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42416" y="4718304"/>
            <a:ext cx="4700016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600" b="1">
                <a:solidFill>
                  <a:srgbClr val="A98025"/>
                </a:solidFill>
                <a:latin typeface="Cambria Math"/>
              </a:rPr>
              <a:t>266 + 598 + 44 = 908 conflict occurrences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6144768" y="4462272"/>
            <a:ext cx="5166360" cy="932688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254496" y="4599432"/>
            <a:ext cx="50292" cy="658368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37376" y="4599432"/>
            <a:ext cx="472744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1">
                <a:solidFill>
                  <a:srgbClr val="1F2933"/>
                </a:solidFill>
                <a:latin typeface="Noto Sans CJK TC"/>
              </a:rPr>
              <a:t>為什麼不是 908 個 unique rows？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37376" y="4974336"/>
            <a:ext cx="47091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60" b="0">
                <a:solidFill>
                  <a:srgbClr val="1F2933"/>
                </a:solidFill>
                <a:latin typeface="Noto Sans CJK TC"/>
              </a:rPr>
              <a:t>每個 dataset 的同一 20% holdout 會在 C=2,3,4,5 各跑一次；同一 row 可在多個 C 都 conflict。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60120" y="5385816"/>
            <a:ext cx="10332720" cy="310896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97280" y="5458968"/>
            <a:ext cx="100584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1">
                <a:solidFill>
                  <a:srgbClr val="1F2933"/>
                </a:solidFill>
                <a:latin typeface="Noto Sans CJK TC"/>
              </a:rPr>
              <a:t>總共 configuration-level test evaluations = 126×4 + 346×4 + 26×4 = 1,992；其中 908 次 conflict ≈ 45.6%。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41248" y="5907024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一句話：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600200" y="5870448"/>
            <a:ext cx="9464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908 是 3 datasets × 4 個 C 的累積 workload；不是 ×6 policies。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Target / conflict intuition · 2026-10-24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80">
                <a:solidFill>
                  <a:srgbClr val="6B7780"/>
                </a:solidFill>
                <a:latin typeface="Noto Sans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2350" b="1">
                <a:solidFill>
                  <a:srgbClr val="1F2933"/>
                </a:solidFill>
                <a:latin typeface="Noto Sans"/>
              </a:rPr>
              <a:t>Conflict 為什麼會產生？直接原因 vs. 結構性原因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>
                <a:solidFill>
                  <a:srgbClr val="2B7A78"/>
                </a:solidFill>
                <a:latin typeface="Noto Sans"/>
              </a:rPr>
              <a:t>直接原因是 cross-decision rule overlap；client fragmentation 只是在目前資料中提高 overlap 的機率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" y="1600200"/>
            <a:ext cx="1600200" cy="1417320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38912" y="1847088"/>
            <a:ext cx="1490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4A78A8"/>
                </a:solidFill>
                <a:latin typeface="Noto Sans CJK TC"/>
              </a:rPr>
              <a:t>C 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" y="2304288"/>
            <a:ext cx="1417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30" b="0">
                <a:solidFill>
                  <a:srgbClr val="1F2933"/>
                </a:solidFill>
                <a:latin typeface="Noto Sans CJK TC"/>
              </a:rPr>
              <a:t>client 數增加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002536" y="2304288"/>
            <a:ext cx="246888" cy="0"/>
          </a:xfrm>
          <a:prstGeom prst="line">
            <a:avLst/>
          </a:prstGeom>
          <a:ln w="1778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2304288" y="1600200"/>
            <a:ext cx="1600200" cy="1417320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9152" y="1847088"/>
            <a:ext cx="1490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2B7A78"/>
                </a:solidFill>
                <a:latin typeface="Noto Sans CJK TC"/>
              </a:rPr>
              <a:t>|U_c| 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95728" y="2304288"/>
            <a:ext cx="1417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30" b="0">
                <a:solidFill>
                  <a:srgbClr val="1F2933"/>
                </a:solidFill>
                <a:latin typeface="Noto Sans CJK TC"/>
              </a:rPr>
              <a:t>每 client
資料變少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922776" y="2304288"/>
            <a:ext cx="246888" cy="0"/>
          </a:xfrm>
          <a:prstGeom prst="line">
            <a:avLst/>
          </a:prstGeom>
          <a:ln w="1778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224528" y="1600200"/>
            <a:ext cx="1600200" cy="1417320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9392" y="1847088"/>
            <a:ext cx="1490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C96A3D"/>
                </a:solidFill>
                <a:latin typeface="Noto Sans CJK TC"/>
              </a:rPr>
              <a:t>Rule shorter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15968" y="2304288"/>
            <a:ext cx="1417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30" b="0">
                <a:solidFill>
                  <a:srgbClr val="1F2933"/>
                </a:solidFill>
                <a:latin typeface="Noto Sans CJK TC"/>
              </a:rPr>
              <a:t>local rule
較短/較一般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843016" y="2304288"/>
            <a:ext cx="246888" cy="0"/>
          </a:xfrm>
          <a:prstGeom prst="line">
            <a:avLst/>
          </a:prstGeom>
          <a:ln w="1778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144768" y="1600200"/>
            <a:ext cx="1600200" cy="1417320"/>
          </a:xfrm>
          <a:prstGeom prst="roundRect">
            <a:avLst/>
          </a:prstGeom>
          <a:solidFill>
            <a:srgbClr val="F6F0DC"/>
          </a:solidFill>
          <a:ln>
            <a:solidFill>
              <a:srgbClr val="F6F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1847088"/>
            <a:ext cx="1490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A98025"/>
                </a:solidFill>
                <a:latin typeface="Noto Sans CJK TC"/>
              </a:rPr>
              <a:t>Matches 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6208" y="2304288"/>
            <a:ext cx="1417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30" b="0">
                <a:solidFill>
                  <a:srgbClr val="1F2933"/>
                </a:solidFill>
                <a:latin typeface="Noto Sans CJK TC"/>
              </a:rPr>
              <a:t>每筆 x
match 更多 rules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63256" y="2304288"/>
            <a:ext cx="246888" cy="0"/>
          </a:xfrm>
          <a:prstGeom prst="line">
            <a:avLst/>
          </a:prstGeom>
          <a:ln w="1778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65008" y="1600200"/>
            <a:ext cx="1600200" cy="141732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19872" y="1847088"/>
            <a:ext cx="1490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B65252"/>
                </a:solidFill>
                <a:latin typeface="Noto Sans CJK TC"/>
              </a:rPr>
              <a:t>Decision overlap 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8" y="2304288"/>
            <a:ext cx="1417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30" b="0">
                <a:solidFill>
                  <a:srgbClr val="1F2933"/>
                </a:solidFill>
                <a:latin typeface="Noto Sans CJK TC"/>
              </a:rPr>
              <a:t>更多不同
decisions 同時出現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9683496" y="2304288"/>
            <a:ext cx="246888" cy="0"/>
          </a:xfrm>
          <a:prstGeom prst="line">
            <a:avLst/>
          </a:prstGeom>
          <a:ln w="1778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9985248" y="1600200"/>
            <a:ext cx="1600200" cy="141732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40112" y="1847088"/>
            <a:ext cx="14904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4C8A61"/>
                </a:solidFill>
                <a:latin typeface="Noto Sans CJK TC"/>
              </a:rPr>
              <a:t>Conflict 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76688" y="2304288"/>
            <a:ext cx="141732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30" b="0">
                <a:solidFill>
                  <a:srgbClr val="1F2933"/>
                </a:solidFill>
                <a:latin typeface="Noto Sans CJK TC"/>
              </a:rPr>
              <a:t>|Candidate|&gt;1
更常發生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49808" y="3447288"/>
            <a:ext cx="5212080" cy="1572768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59536" y="3584448"/>
            <a:ext cx="50292" cy="1298448"/>
          </a:xfrm>
          <a:prstGeom prst="rect">
            <a:avLst/>
          </a:prstGeom>
          <a:solidFill>
            <a:srgbClr val="6B7780"/>
          </a:solidFill>
          <a:ln>
            <a:solidFill>
              <a:srgbClr val="6B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42415" y="3584448"/>
            <a:ext cx="4773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2B7A78"/>
                </a:solidFill>
                <a:latin typeface="Noto Sans"/>
              </a:rPr>
              <a:t>結構性原因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2415" y="3959352"/>
            <a:ext cx="4754880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>
                <a:solidFill>
                  <a:srgbClr val="1F2933"/>
                </a:solidFill>
                <a:latin typeface="Noto Sans"/>
              </a:rPr>
              <a:t>同樣 80% training 切成更多 clients 後，每個 client 可見資料變少。</a:t>
            </a:r>
          </a:p>
          <a:p>
            <a:r>
              <a:rPr sz="950">
                <a:solidFill>
                  <a:srgbClr val="1F2933"/>
                </a:solidFill>
                <a:latin typeface="Noto Sans"/>
              </a:rPr>
              <a:t>Local LEM2 在目前資料中傾向形成較短、較一般的 rules；UNION 後更容易同時覆蓋同一個 test x。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36208" y="3447288"/>
            <a:ext cx="5212080" cy="1572768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345936" y="3584448"/>
            <a:ext cx="50292" cy="1298448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28816" y="3584448"/>
            <a:ext cx="477316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>
                <a:solidFill>
                  <a:srgbClr val="2B7A78"/>
                </a:solidFill>
                <a:latin typeface="Noto Sans"/>
              </a:rPr>
              <a:t>直接原因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28816" y="3959352"/>
            <a:ext cx="4754880" cy="9692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50">
                <a:solidFill>
                  <a:srgbClr val="1F2933"/>
                </a:solidFill>
                <a:latin typeface="Noto Sans"/>
              </a:rPr>
              <a:t>真正的 Conflict 條件永遠是 |Candidate(x)| &gt; 1：同一個 x 同時命中「不同 decision」的 rules。</a:t>
            </a:r>
          </a:p>
          <a:p>
            <a:r>
              <a:rPr sz="950">
                <a:solidFill>
                  <a:srgbClr val="1F2933"/>
                </a:solidFill>
                <a:latin typeface="Noto Sans"/>
              </a:rPr>
              <a:t>Fragmentation 本身不等於 conflict；Hayes C=3→4 的回落也顯示它不是單調定理。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1248" y="5907024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一句話：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5870448"/>
            <a:ext cx="9464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19">
                <a:solidFill>
                  <a:srgbClr val="1F2933"/>
                </a:solidFill>
                <a:latin typeface="Noto Sans"/>
              </a:rPr>
              <a:t>直接原因 = 同一 x 同時命中不同 decision rules；結構原因 = fragmentation 改變 rule generality / overlap。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Target / conflict intuition · 2026-10-24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80">
                <a:solidFill>
                  <a:srgbClr val="6B7780"/>
                </a:solidFill>
                <a:latin typeface="Noto Sans"/>
              </a:rPr>
              <a:t>29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數據真的有沿著這條鏈走嗎？Car / Balance：有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C=2 → C=5 時，rule 變短、matching rules / test 增加、conflict rate 同步上升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261872"/>
            <a:ext cx="5074920" cy="3675887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51790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4A78A8"/>
                </a:solidFill>
                <a:latin typeface="Noto Sans CJK TC"/>
              </a:rPr>
              <a:t>Balance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7" y="2103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Noto Sans CJK TC"/>
              </a:rPr>
              <a:t>平均 train rows /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30168" y="210312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4A78A8"/>
                </a:solidFill>
                <a:latin typeface="Noto Sans CJK TC"/>
              </a:rPr>
              <a:t>約 250 →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8407" y="2761487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Noto Sans CJK TC"/>
              </a:rPr>
              <a:t>Local rule 平均條件數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30168" y="2761487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4A78A8"/>
                </a:solidFill>
                <a:latin typeface="Noto Sans CJK TC"/>
              </a:rPr>
              <a:t>2.98 → 2.47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7" y="3419856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Noto Sans CJK TC"/>
              </a:rPr>
              <a:t>Matching rules / test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30168" y="341985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4A78A8"/>
                </a:solidFill>
                <a:latin typeface="Noto Sans CJK TC"/>
              </a:rPr>
              <a:t>2.43 → 3.74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7" y="4078224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Noto Sans CJK TC"/>
              </a:rPr>
              <a:t>Conflict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30168" y="407822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4A78A8"/>
                </a:solidFill>
                <a:latin typeface="Noto Sans CJK TC"/>
              </a:rPr>
              <a:t>37.3% → 65.9%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261872"/>
            <a:ext cx="5074920" cy="3675887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1517904"/>
            <a:ext cx="461772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4C8A61"/>
                </a:solidFill>
                <a:latin typeface="Noto Sans CJK TC"/>
              </a:rPr>
              <a:t>Car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10527" y="2103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Noto Sans CJK TC"/>
              </a:rPr>
              <a:t>平均 train rows / client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62288" y="2103120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4C8A61"/>
                </a:solidFill>
                <a:latin typeface="Noto Sans CJK TC"/>
              </a:rPr>
              <a:t>691 → 276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7" y="2761487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Noto Sans CJK TC"/>
              </a:rPr>
              <a:t>Local rule 平均條件數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62288" y="2761487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4C8A61"/>
                </a:solidFill>
                <a:latin typeface="Noto Sans CJK TC"/>
              </a:rPr>
              <a:t>4.40 → 3.66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7" y="3419856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Noto Sans CJK TC"/>
              </a:rPr>
              <a:t>Matching rules / test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62288" y="3419856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4C8A61"/>
                </a:solidFill>
                <a:latin typeface="Noto Sans CJK TC"/>
              </a:rPr>
              <a:t>1.74 → 3.16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7" y="4078224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1F2933"/>
                </a:solidFill>
                <a:latin typeface="Noto Sans CJK TC"/>
              </a:rPr>
              <a:t>Conflict 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62288" y="4078224"/>
            <a:ext cx="16459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300" b="1">
                <a:solidFill>
                  <a:srgbClr val="4C8A61"/>
                </a:solidFill>
                <a:latin typeface="Noto Sans CJK TC"/>
              </a:rPr>
              <a:t>24.6% → 60.7%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138928"/>
            <a:ext cx="9893808" cy="566928"/>
          </a:xfrm>
          <a:prstGeom prst="roundRect">
            <a:avLst/>
          </a:prstGeom>
          <a:solidFill>
            <a:srgbClr val="F5F7F8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52728" y="5239512"/>
            <a:ext cx="9674352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00" b="1">
                <a:solidFill>
                  <a:srgbClr val="1F2933"/>
                </a:solidFill>
                <a:latin typeface="Cambria Math"/>
              </a:rPr>
              <a:t>C ↑  →  local rule conditions ↓  →  matching rules / test ↑  →  conflict rate ↑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" y="5907024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一句話：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00200" y="5870448"/>
            <a:ext cx="9464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19">
                <a:solidFill>
                  <a:srgbClr val="1F2933"/>
                </a:solidFill>
                <a:latin typeface="Noto Sans"/>
              </a:rPr>
              <a:t>在 Car / Balance 的 frozen sweep 中，client fragmentation、rule generality、matching overlap 與 conflict workload 呈一致方向變化。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Target / conflict intuition · 2026-10-24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80">
                <a:solidFill>
                  <a:srgbClr val="6B7780"/>
                </a:solidFill>
                <a:latin typeface="Noto Sans"/>
              </a:rPr>
              <a:t>32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不是「規則越多所以 conflict 越多」；也不一定是 reduct 不同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兩個反例幫我們把原因收斂到 rule generality / overlap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325880"/>
            <a:ext cx="5257800" cy="3401568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463039"/>
            <a:ext cx="50292" cy="3127248"/>
          </a:xfrm>
          <a:prstGeom prst="rect">
            <a:avLst/>
          </a:prstGeom>
          <a:solidFill>
            <a:srgbClr val="4A78A8"/>
          </a:solidFill>
          <a:ln>
            <a:solidFill>
              <a:srgbClr val="4A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63039"/>
            <a:ext cx="4818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Noto Sans CJK TC"/>
              </a:rPr>
              <a:t>反例 1 · Balance：global rules 反而變少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37943"/>
            <a:ext cx="4800600" cy="279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3"/>
                </a:solidFill>
                <a:latin typeface="Noto Sans CJK TC"/>
              </a:rPr>
              <a:t>Global rule count：C=2 → 209；C=5 → 183。
但 conflict rate：37.3% → 65.9%。
所以 rule 總數增加不是必要條件；更關鍵的是每條 rule 覆蓋多寬、彼此重疊多少。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36208" y="1325880"/>
            <a:ext cx="5257800" cy="3401568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345936" y="1463039"/>
            <a:ext cx="50292" cy="3127248"/>
          </a:xfrm>
          <a:prstGeom prst="rect">
            <a:avLst/>
          </a:prstGeom>
          <a:solidFill>
            <a:srgbClr val="C96A3D"/>
          </a:solidFill>
          <a:ln>
            <a:solidFill>
              <a:srgbClr val="C96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28816" y="1463039"/>
            <a:ext cx="48188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Noto Sans CJK TC"/>
              </a:rPr>
              <a:t>反例 2 · Car / Balance：reduct instability =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28816" y="1837943"/>
            <a:ext cx="4800600" cy="2798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3"/>
                </a:solidFill>
                <a:latin typeface="Noto Sans CJK TC"/>
              </a:rPr>
              <a:t>Car、Balance 在 C=2..5 的 reduct instability 都是 0，
但 conflict 仍然大幅增加。
因此也不能把 conflict 全歸因於「不同 clients 選到不同 reduct」。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78992" y="5010912"/>
            <a:ext cx="10058400" cy="530352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98448" y="5175504"/>
            <a:ext cx="96012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50" b="1">
                <a:solidFill>
                  <a:srgbClr val="2B7A78"/>
                </a:solidFill>
                <a:latin typeface="Noto Sans CJK TC"/>
              </a:rPr>
              <a:t>目前最合理：fragmentation → rule generalization → matching overlap → cross-decision conflict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5907024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一句話：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5870448"/>
            <a:ext cx="9464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真正要追的是「rule 結構怎麼變」，不是只數 rule 有幾條。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Target / conflict intuition · 2026-10-24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80">
                <a:solidFill>
                  <a:srgbClr val="6B7780"/>
                </a:solidFill>
                <a:latin typeface="Noto Sans"/>
              </a:rPr>
              <a:t>33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六種方法到底改了什麼？它們只改「Conflict 發生後的排序」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所以 908 是 conflict workload；43 才是 Population correction 真正翻動 winner 的次數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188720"/>
            <a:ext cx="5120640" cy="603504"/>
          </a:xfrm>
          <a:prstGeom prst="roundRect">
            <a:avLst/>
          </a:prstGeom>
          <a:solidFill>
            <a:srgbClr val="EAF2F8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289304"/>
            <a:ext cx="4901183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100" b="1">
                <a:solidFill>
                  <a:srgbClr val="2B7A78"/>
                </a:solidFill>
                <a:latin typeface="Noto Sans"/>
              </a:rPr>
              <a:t>908 = configuration-level conflict occurrences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1188720"/>
            <a:ext cx="5120640" cy="603504"/>
          </a:xfrm>
          <a:prstGeom prst="roundRect">
            <a:avLst/>
          </a:prstGeom>
          <a:solidFill>
            <a:srgbClr val="E7F2F1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73368" y="1289304"/>
            <a:ext cx="4901183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2B7A78"/>
                </a:solidFill>
                <a:latin typeface="Cambria Math"/>
              </a:rPr>
              <a:t>43 = population-induced winner changes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84831"/>
            <a:ext cx="3429000" cy="251460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2221991"/>
            <a:ext cx="50292" cy="2240280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221991"/>
            <a:ext cx="2990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908 裡的 45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" y="2596896"/>
            <a:ext cx="2971800" cy="191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0">
                <a:solidFill>
                  <a:srgbClr val="1F2933"/>
                </a:solidFill>
                <a:latin typeface="Noto Sans CJK TC"/>
              </a:rPr>
              <a:t>true class 不在 Candidate(x)
→ voting 根本救不了
→ Coverage / Induction failure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084831"/>
            <a:ext cx="3429000" cy="2514600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98848" y="2221991"/>
            <a:ext cx="50292" cy="2240280"/>
          </a:xfrm>
          <a:prstGeom prst="rect">
            <a:avLst/>
          </a:prstGeom>
          <a:solidFill>
            <a:srgbClr val="4A78A8"/>
          </a:solidFill>
          <a:ln>
            <a:solidFill>
              <a:srgbClr val="4A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81728" y="2221991"/>
            <a:ext cx="2990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STD → 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81728" y="2596896"/>
            <a:ext cx="2971800" cy="191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0">
                <a:solidFill>
                  <a:srgbClr val="1F2933"/>
                </a:solidFill>
                <a:latin typeface="Noto Sans CJK TC"/>
              </a:rPr>
              <a:t>Winner changed 16 次
6 corrected
9 harmed
1 wrong→wrong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2084831"/>
            <a:ext cx="3429000" cy="251460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56448" y="2221991"/>
            <a:ext cx="50292" cy="2240280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39328" y="2221991"/>
            <a:ext cx="2990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GS → PG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9328" y="2596896"/>
            <a:ext cx="2971800" cy="1911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80" b="0">
                <a:solidFill>
                  <a:srgbClr val="1F2933"/>
                </a:solidFill>
                <a:latin typeface="Noto Sans CJK TC"/>
              </a:rPr>
              <a:t>Winner changed 27 次
10 corrected
13 harmed
4 same correctness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25880" y="4919472"/>
            <a:ext cx="9555480" cy="603504"/>
          </a:xfrm>
          <a:prstGeom prst="roundRect">
            <a:avLst/>
          </a:prstGeom>
          <a:solidFill>
            <a:srgbClr val="F6F0DC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35607" y="5020056"/>
            <a:ext cx="933602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550" b="1">
                <a:solidFill>
                  <a:srgbClr val="A98025"/>
                </a:solidFill>
                <a:latin typeface="Cambria Math"/>
              </a:rPr>
              <a:t>43 / 908 = 4.74%：Population correction 只翻動少數 borderline conflicts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5907024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一句話：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5870448"/>
            <a:ext cx="9464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先有 conflict，再有 resolver；六方法不改 conflict 數，只改同一 conflict 的 winner。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Target / conflict intuition · 2026-10-24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80">
                <a:solidFill>
                  <a:srgbClr val="6B7780"/>
                </a:solidFill>
                <a:latin typeface="Noto Sans"/>
              </a:rPr>
              <a:t>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最後才進 Redundancy Asymmetry：解釋「為什麼有時救對、有時修壞」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它不是第七種 prediction method，而是 conflict evidence structure 的 diagnostic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170432"/>
            <a:ext cx="3337560" cy="594360"/>
          </a:xfrm>
          <a:prstGeom prst="roundRect">
            <a:avLst/>
          </a:prstGeom>
          <a:solidFill>
            <a:srgbClr val="F5F7F8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32688" y="1271016"/>
            <a:ext cx="311810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>
                <a:solidFill>
                  <a:srgbClr val="1F2933"/>
                </a:solidFill>
                <a:latin typeface="Cambria Math"/>
              </a:rPr>
              <a:t>R_d = 1 - U_d/T_d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170432"/>
            <a:ext cx="3337560" cy="594360"/>
          </a:xfrm>
          <a:prstGeom prst="roundRect">
            <a:avLst/>
          </a:prstGeom>
          <a:solidFill>
            <a:srgbClr val="F5F7F8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44568" y="1271016"/>
            <a:ext cx="311810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700" b="1">
                <a:solidFill>
                  <a:srgbClr val="1F2933"/>
                </a:solidFill>
                <a:latin typeface="Cambria Math"/>
              </a:rPr>
              <a:t>A(x)=R_competitor - R_true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170432"/>
            <a:ext cx="3337560" cy="594360"/>
          </a:xfrm>
          <a:prstGeom prst="roundRect">
            <a:avLst/>
          </a:prstGeom>
          <a:solidFill>
            <a:srgbClr val="E7F2F1"/>
          </a:solidFill>
          <a:ln>
            <a:solidFill>
              <a:srgbClr val="D9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56448" y="1271016"/>
            <a:ext cx="3118104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>
                <a:solidFill>
                  <a:srgbClr val="2B7A78"/>
                </a:solidFill>
                <a:latin typeface="Cambria Math"/>
              </a:rPr>
              <a:t>43/43 changed winner → lower redundancy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048256"/>
            <a:ext cx="5230368" cy="242316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2185416"/>
            <a:ext cx="50292" cy="2148840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185416"/>
            <a:ext cx="4791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A(x) &gt; 0 · 較像 Corrected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560320"/>
            <a:ext cx="4773168" cy="1819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F2933"/>
                </a:solidFill>
                <a:latin typeface="Noto Sans CJK TC"/>
              </a:rPr>
              <a:t>錯誤 competitor 比 true class 更重複。
例 Car T2：R_acc=.300，R_good=0，A=+.300。
Penalty 壓低 acc → good 反超。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36208" y="2048256"/>
            <a:ext cx="5230368" cy="242316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45936" y="2185416"/>
            <a:ext cx="50292" cy="2148840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8816" y="2185416"/>
            <a:ext cx="479145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A(x) &lt; 0 · 較像 Harmed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2560320"/>
            <a:ext cx="4773168" cy="181965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40" b="0">
                <a:solidFill>
                  <a:srgbClr val="1F2933"/>
                </a:solidFill>
                <a:latin typeface="Noto Sans CJK TC"/>
              </a:rPr>
              <a:t>true class 自己反而更重複。
例 Car T4：R_unacc=0，R_acc=.4179，A=-.4179。
Penalty 壓掉正確 acc → unacc 反超。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4800600"/>
            <a:ext cx="10469880" cy="566928"/>
          </a:xfrm>
          <a:prstGeom prst="roundRect">
            <a:avLst/>
          </a:prstGeom>
          <a:solidFill>
            <a:srgbClr val="F0ECF6"/>
          </a:solidFill>
          <a:ln>
            <a:solidFill>
              <a:srgbClr val="F0E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78992" y="4983480"/>
            <a:ext cx="10058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30" b="1">
                <a:solidFill>
                  <a:srgbClr val="765A9D"/>
                </a:solidFill>
                <a:latin typeface="Noto Sans CJK TC"/>
              </a:rPr>
              <a:t>C → Fragmentation → Rule generality / overlap → Conflict → Redundancy structure → Resolver → Performance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907024"/>
            <a:ext cx="7772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一句話：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5870448"/>
            <a:ext cx="94640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研究重點不是「conflict 多不多」而已，而是 conflict 裡哪個 decision 的 support 被重複放大。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Target / conflict intuition · 2026-10-24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80">
                <a:solidFill>
                  <a:srgbClr val="6B7780"/>
                </a:solidFill>
                <a:latin typeface="Noto Sans"/>
              </a:rPr>
              <a:t>35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老師上次問題：現在逐題的最終答案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這頁就是開會最後要交卷的版本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234440"/>
            <a:ext cx="1874519" cy="438912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49808" y="1316736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>
                <a:solidFill>
                  <a:srgbClr val="2B7A78"/>
                </a:solidFill>
                <a:latin typeface="Noto Sans CJK TC"/>
              </a:rPr>
              <a:t>資料量？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88920" y="1289304"/>
            <a:ext cx="8641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10" b="0">
                <a:solidFill>
                  <a:srgbClr val="1F2933"/>
                </a:solidFill>
                <a:latin typeface="Noto Sans CJK TC"/>
              </a:rPr>
              <a:t>132/5、1728/7、625/5（Rows / Headers），並明列 factors、classes、80/20。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865376"/>
            <a:ext cx="1874519" cy="438912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1947672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>
                <a:solidFill>
                  <a:srgbClr val="2B7A78"/>
                </a:solidFill>
                <a:latin typeface="Noto Sans CJK TC"/>
              </a:rPr>
              <a:t>20% 有沒有參與？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88920" y="1920240"/>
            <a:ext cx="8641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10" b="0">
                <a:solidFill>
                  <a:srgbClr val="1F2933"/>
                </a:solidFill>
                <a:latin typeface="Noto Sans CJK TC"/>
              </a:rPr>
              <a:t>沒有。20% 只做最後 prediction / evaluation；所有 rules / supports / weights 只由 80% 建立。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496312"/>
            <a:ext cx="1874519" cy="438912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9808" y="2578608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>
                <a:solidFill>
                  <a:srgbClr val="2B7A78"/>
                </a:solidFill>
                <a:latin typeface="Noto Sans CJK TC"/>
              </a:rPr>
              <a:t>六種方法結果？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551176"/>
            <a:ext cx="8641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10" b="0">
                <a:solidFill>
                  <a:srgbClr val="1F2933"/>
                </a:solidFill>
                <a:latin typeface="Noto Sans CJK TC"/>
              </a:rPr>
              <a:t>72 組完整 Acc / Recall(=BA) / Macro-F1 已自動輸出；沒有 universal winner。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127248"/>
            <a:ext cx="1874519" cy="438912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209544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>
                <a:solidFill>
                  <a:srgbClr val="2B7A78"/>
                </a:solidFill>
                <a:latin typeface="Noto Sans CJK TC"/>
              </a:rPr>
              <a:t>Coverage？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182112"/>
            <a:ext cx="8641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10" b="0">
                <a:solidFill>
                  <a:srgbClr val="1F2933"/>
                </a:solidFill>
                <a:latin typeface="Noto Sans CJK TC"/>
              </a:rPr>
              <a:t>Overall、Target(any rule)、Target Candidate(true class represented) 三層已分開。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58183"/>
            <a:ext cx="1874519" cy="438912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840479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>
                <a:solidFill>
                  <a:srgbClr val="2B7A78"/>
                </a:solidFill>
                <a:latin typeface="Noto Sans CJK TC"/>
              </a:rPr>
              <a:t>Standard 3+3？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813047"/>
            <a:ext cx="8641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10" b="0">
                <a:solidFill>
                  <a:srgbClr val="1F2933"/>
                </a:solidFill>
                <a:latin typeface="Noto Sans CJK TC"/>
              </a:rPr>
              <a:t>T_d 會重複計 support occurrences；PS 改用 U_d，只讓同一 supporting object 計一次。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389120"/>
            <a:ext cx="1874519" cy="438912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471416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>
                <a:solidFill>
                  <a:srgbClr val="2B7A78"/>
                </a:solidFill>
                <a:latin typeface="Noto Sans CJK TC"/>
              </a:rPr>
              <a:t>Global 怎麼改？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4443983"/>
            <a:ext cx="8641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10" b="0">
                <a:solidFill>
                  <a:srgbClr val="1F2933"/>
                </a:solidFill>
                <a:latin typeface="Noto Sans CJK TC"/>
              </a:rPr>
              <a:t>保留 GS=U/N，再乘 P=U/T；PG=U²/(NT)。baseline 不被覆蓋。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" y="5020056"/>
            <a:ext cx="1874519" cy="438912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5102352"/>
            <a:ext cx="17373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80" b="1">
                <a:solidFill>
                  <a:srgbClr val="2B7A78"/>
                </a:solidFill>
                <a:latin typeface="Noto Sans CJK TC"/>
              </a:rPr>
              <a:t>Target 1–5？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5074920"/>
            <a:ext cx="8641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10" b="0">
                <a:solidFill>
                  <a:srgbClr val="1F2933"/>
                </a:solidFill>
                <a:latin typeface="Noto Sans CJK TC"/>
              </a:rPr>
              <a:t>三個 dataset 各 5 筆全部回查；可分 corrected、harmed、coverage failure。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70" b="0">
                <a:solidFill>
                  <a:srgbClr val="1F2933"/>
                </a:solidFill>
                <a:latin typeface="Noto Sans CJK TC"/>
              </a:rPr>
              <a:t>老師要求的每一題現在都有對應 code、CSV evidence 與簡報頁，不再靠人工口頭補。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0">
                <a:solidFill>
                  <a:srgbClr val="6B7780"/>
                </a:solidFill>
                <a:latin typeface="Noto Sans CJK TC"/>
              </a:rPr>
              <a:t>Federated LEM2 · Professor-question closure · 2026-10-23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80">
                <a:solidFill>
                  <a:srgbClr val="6B7780"/>
                </a:solidFill>
                <a:latin typeface="Noto Sans"/>
              </a:rPr>
              <a:t>36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Code / Evidence Closure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這次不是只改 PPT；缺的 diagnostics 已正式進 research branch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25880"/>
            <a:ext cx="3429000" cy="1874519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95528" y="1463039"/>
            <a:ext cx="50292" cy="1600199"/>
          </a:xfrm>
          <a:prstGeom prst="rect">
            <a:avLst/>
          </a:prstGeom>
          <a:solidFill>
            <a:srgbClr val="4A78A8"/>
          </a:solidFill>
          <a:ln>
            <a:solidFill>
              <a:srgbClr val="4A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1463039"/>
            <a:ext cx="2990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Code 補齊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8408" y="1837943"/>
            <a:ext cx="2971800" cy="1271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19">
                <a:solidFill>
                  <a:srgbClr val="1F2933"/>
                </a:solidFill>
                <a:latin typeface="Noto Sans"/>
              </a:rPr>
              <a:t>✓ Target Candidate Coverage</a:t>
            </a:r>
          </a:p>
          <a:p>
            <a:r>
              <a:rPr sz="919">
                <a:solidFill>
                  <a:srgbClr val="1F2933"/>
                </a:solidFill>
                <a:latin typeface="Noto Sans"/>
              </a:rPr>
              <a:t>✓ Redundancy Asymmetry helper</a:t>
            </a:r>
          </a:p>
          <a:p>
            <a:r>
              <a:rPr sz="919">
                <a:solidFill>
                  <a:srgbClr val="1F2933"/>
                </a:solidFill>
                <a:latin typeface="Noto Sans"/>
              </a:rPr>
              <a:t>✓ Conflict concentration / persistence audit</a:t>
            </a:r>
          </a:p>
          <a:p>
            <a:r>
              <a:rPr sz="919">
                <a:solidFill>
                  <a:srgbClr val="1F2933"/>
                </a:solidFill>
                <a:latin typeface="Noto Sans"/>
              </a:rPr>
              <a:t>✓ Candidate-signature / resolver audit</a:t>
            </a:r>
          </a:p>
          <a:p>
            <a:r>
              <a:rPr sz="919">
                <a:solidFill>
                  <a:srgbClr val="1F2933"/>
                </a:solidFill>
                <a:latin typeface="Noto Sans"/>
              </a:rPr>
              <a:t>✓ Standard / Global transition decomposition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325880"/>
            <a:ext cx="3429000" cy="1874519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98848" y="1463039"/>
            <a:ext cx="50292" cy="1600199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81728" y="1463039"/>
            <a:ext cx="2990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Teacher CSVs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1837943"/>
            <a:ext cx="2971800" cy="1271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19">
                <a:solidFill>
                  <a:srgbClr val="1F2933"/>
                </a:solidFill>
                <a:latin typeface="Noto Sans"/>
              </a:rPr>
              <a:t>✓ dataset metadata / six-policy metrics</a:t>
            </a:r>
          </a:p>
          <a:p>
            <a:r>
              <a:rPr sz="919">
                <a:solidFill>
                  <a:srgbClr val="1F2933"/>
                </a:solidFill>
                <a:latin typeface="Noto Sans"/>
              </a:rPr>
              <a:t>✓ coverage by class / target 1–5</a:t>
            </a:r>
          </a:p>
          <a:p>
            <a:r>
              <a:rPr sz="919">
                <a:solidFill>
                  <a:srgbClr val="1F2933"/>
                </a:solidFill>
                <a:latin typeface="Noto Sans"/>
              </a:rPr>
              <a:t>✓ conflict anatomy bundle (10 files)</a:t>
            </a:r>
          </a:p>
          <a:p>
            <a:r>
              <a:rPr sz="919">
                <a:solidFill>
                  <a:srgbClr val="1F2933"/>
                </a:solidFill>
                <a:latin typeface="Noto Sans"/>
              </a:rPr>
              <a:t>✓ persistence / candidate / policy tables</a:t>
            </a:r>
          </a:p>
          <a:p>
            <a:r>
              <a:rPr sz="919">
                <a:solidFill>
                  <a:srgbClr val="1F2933"/>
                </a:solidFill>
                <a:latin typeface="Noto Sans"/>
              </a:rPr>
              <a:t>✓ error / asymmetry transitions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92440" y="1325880"/>
            <a:ext cx="3429000" cy="1874519"/>
          </a:xfrm>
          <a:prstGeom prst="roundRect">
            <a:avLst/>
          </a:prstGeom>
          <a:solidFill>
            <a:srgbClr val="F8EAE3"/>
          </a:solidFill>
          <a:ln>
            <a:solidFill>
              <a:srgbClr val="F8EA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02167" y="1463039"/>
            <a:ext cx="50292" cy="1600199"/>
          </a:xfrm>
          <a:prstGeom prst="rect">
            <a:avLst/>
          </a:prstGeom>
          <a:solidFill>
            <a:srgbClr val="C96A3D"/>
          </a:solidFill>
          <a:ln>
            <a:solidFill>
              <a:srgbClr val="C96A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1463039"/>
            <a:ext cx="29900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F2933"/>
                </a:solidFill>
                <a:latin typeface="Noto Sans CJK TC"/>
              </a:rPr>
              <a:t>Verification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1837943"/>
            <a:ext cx="2971800" cy="12710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19">
                <a:solidFill>
                  <a:srgbClr val="1F2933"/>
                </a:solidFill>
                <a:latin typeface="Noto Sans"/>
              </a:rPr>
              <a:t>TDD RED：缺 function / entrypoint 時 CI fail</a:t>
            </a:r>
          </a:p>
          <a:p>
            <a:r>
              <a:rPr sz="919">
                <a:solidFill>
                  <a:srgbClr val="1F2933"/>
                </a:solidFill>
                <a:latin typeface="Noto Sans"/>
              </a:rPr>
              <a:t>GREEN：implementation 後</a:t>
            </a:r>
          </a:p>
          <a:p>
            <a:r>
              <a:rPr sz="919">
                <a:solidFill>
                  <a:srgbClr val="1F2933"/>
                </a:solidFill>
                <a:latin typeface="Noto Sans"/>
              </a:rPr>
              <a:t>124 tests passed · compile PASS</a:t>
            </a:r>
          </a:p>
          <a:p>
            <a:r>
              <a:rPr sz="919">
                <a:solidFill>
                  <a:srgbClr val="1F2933"/>
                </a:solidFill>
                <a:latin typeface="Noto Sans"/>
              </a:rPr>
              <a:t>Conflict reconciliation PASS</a:t>
            </a:r>
          </a:p>
          <a:p>
            <a:r>
              <a:rPr sz="919">
                <a:solidFill>
                  <a:srgbClr val="1F2933"/>
                </a:solidFill>
                <a:latin typeface="Noto Sans"/>
              </a:rPr>
              <a:t>Evidence workflow SUCCESS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3703320"/>
            <a:ext cx="10561320" cy="1325880"/>
          </a:xfrm>
          <a:prstGeom prst="roundRect">
            <a:avLst/>
          </a:prstGeom>
          <a:solidFill>
            <a:srgbClr val="F5F7F8"/>
          </a:solidFill>
          <a:ln>
            <a:solidFill>
              <a:srgbClr val="F5F7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2688" y="3840480"/>
            <a:ext cx="50292" cy="1051560"/>
          </a:xfrm>
          <a:prstGeom prst="rect">
            <a:avLst/>
          </a:prstGeom>
          <a:solidFill>
            <a:srgbClr val="6B7780"/>
          </a:solidFill>
          <a:ln>
            <a:solidFill>
              <a:srgbClr val="6B77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3840480"/>
            <a:ext cx="101224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1F2933"/>
                </a:solidFill>
                <a:latin typeface="Noto Sans CJK TC"/>
              </a:rPr>
              <a:t>Repository state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4215383"/>
            <a:ext cx="10104120" cy="7223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1F2933"/>
                </a:solidFill>
                <a:latin typeface="Noto Sans CJK TC"/>
              </a:rPr>
              <a:t>Branch: research/conflict-client-sweep-20261020
PR #5: Draft / Open / Not merged
Frozen production main remains unchanged.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10">
                <a:solidFill>
                  <a:srgbClr val="1F2933"/>
                </a:solidFill>
                <a:latin typeface="Noto Sans"/>
              </a:rPr>
              <a:t>這一輪再補上 Conflict Concentration / Anatomy evidence layer；仍不修改 frozen main，也不新增第七種 prediction policy。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80">
                <a:solidFill>
                  <a:srgbClr val="6B7780"/>
                </a:solidFill>
                <a:latin typeface="Noto Sans"/>
              </a:rPr>
              <a:t>Federated LEM2 · Conflict concentration closure · 2026-10-25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80">
                <a:solidFill>
                  <a:srgbClr val="6B7780"/>
                </a:solidFill>
                <a:latin typeface="Noto Sans"/>
              </a:rPr>
              <a:t>37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1F2933"/>
                </a:solidFill>
                <a:latin typeface="Noto Sans CJK TC"/>
              </a:rPr>
              <a:t>現在可以下什麼結論、還不能下什麼結論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50" b="0">
                <a:solidFill>
                  <a:srgbClr val="2B7A78"/>
                </a:solidFill>
                <a:latin typeface="Noto Sans CJK TC"/>
              </a:rPr>
              <a:t>把「已證明的 code 行為」與「下一步要統計驗證的研究假說」分開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5303520" cy="3108960"/>
          </a:xfrm>
          <a:prstGeom prst="roundRect">
            <a:avLst/>
          </a:prstGeom>
          <a:solidFill>
            <a:srgbClr val="E8F3E8"/>
          </a:solidFill>
          <a:ln>
            <a:solidFill>
              <a:srgbClr val="E8F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41248" y="1463039"/>
            <a:ext cx="50292" cy="2834640"/>
          </a:xfrm>
          <a:prstGeom prst="rect">
            <a:avLst/>
          </a:prstGeom>
          <a:solidFill>
            <a:srgbClr val="4C8A61"/>
          </a:solidFill>
          <a:ln>
            <a:solidFill>
              <a:srgbClr val="4C8A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463039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Noto Sans CJK TC"/>
              </a:rPr>
              <a:t>目前可以確定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1837943"/>
            <a:ext cx="4846320" cy="2505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10">
                <a:solidFill>
                  <a:srgbClr val="1F2933"/>
                </a:solidFill>
                <a:latin typeface="Noto Sans"/>
              </a:rPr>
              <a:t>• 908 occurrences 來自 392 unique objects；67 個在四種 C 都 conflict。</a:t>
            </a:r>
          </a:p>
          <a:p>
            <a:r>
              <a:rPr sz="910">
                <a:solidFill>
                  <a:srgbClr val="1F2933"/>
                </a:solidFill>
                <a:latin typeface="Noto Sans"/>
              </a:rPr>
              <a:t>• Candidate conflict 高度集中：Balance L|R 56%、Car acc|unacc 56%、Hayes 1|2 68%。</a:t>
            </a:r>
          </a:p>
          <a:p>
            <a:r>
              <a:rPr sz="910">
                <a:solidFill>
                  <a:srgbClr val="1F2933"/>
                </a:solidFill>
                <a:latin typeface="Noto Sans"/>
              </a:rPr>
              <a:t>• 同一 908 cases：STD 77.0%、PS 76.7%、GS 72.8%、PG 72.5%；沒有 universal resolver。</a:t>
            </a:r>
          </a:p>
          <a:p>
            <a:r>
              <a:rPr sz="910">
                <a:solidFill>
                  <a:srgbClr val="1F2933"/>
                </a:solidFill>
                <a:latin typeface="Noto Sans"/>
              </a:rPr>
              <a:t>• 43/43 changed winners 都往 lower-redundancy decision，但可 corrected 也可 harmed。</a:t>
            </a:r>
          </a:p>
          <a:p>
            <a:r>
              <a:rPr sz="910">
                <a:solidFill>
                  <a:srgbClr val="1F2933"/>
                </a:solidFill>
                <a:latin typeface="Noto Sans"/>
              </a:rPr>
              <a:t>• true class 不在 Candidate(x) 時，任何 voting 都救不了。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325880"/>
            <a:ext cx="5303520" cy="3108960"/>
          </a:xfrm>
          <a:prstGeom prst="roundRect">
            <a:avLst/>
          </a:prstGeom>
          <a:solidFill>
            <a:srgbClr val="FBEAEA"/>
          </a:solidFill>
          <a:ln>
            <a:solidFill>
              <a:srgbClr val="FBEA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81928" y="1463039"/>
            <a:ext cx="50292" cy="2834640"/>
          </a:xfrm>
          <a:prstGeom prst="rect">
            <a:avLst/>
          </a:prstGeom>
          <a:solidFill>
            <a:srgbClr val="B65252"/>
          </a:solidFill>
          <a:ln>
            <a:solidFill>
              <a:srgbClr val="B6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64808" y="1463039"/>
            <a:ext cx="48646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1F2933"/>
                </a:solidFill>
                <a:latin typeface="Noto Sans CJK TC"/>
              </a:rPr>
              <a:t>目前不能直接宣稱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4808" y="1837943"/>
            <a:ext cx="4846320" cy="2505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890">
                <a:solidFill>
                  <a:srgbClr val="1F2933"/>
                </a:solidFill>
                <a:latin typeface="Noto Sans"/>
              </a:rPr>
              <a:t>• Population method universally better。</a:t>
            </a:r>
          </a:p>
          <a:p>
            <a:r>
              <a:rPr sz="890">
                <a:solidFill>
                  <a:srgbClr val="1F2933"/>
                </a:solidFill>
                <a:latin typeface="Noto Sans"/>
              </a:rPr>
              <a:t>• Client 數越多，conflict 就必然單調增加。</a:t>
            </a:r>
          </a:p>
          <a:p>
            <a:r>
              <a:rPr sz="890">
                <a:solidFill>
                  <a:srgbClr val="1F2933"/>
                </a:solidFill>
                <a:latin typeface="Noto Sans"/>
              </a:rPr>
              <a:t>• Persistent conflict 已被證明是 federation 的 causal effect。</a:t>
            </a:r>
          </a:p>
          <a:p>
            <a:r>
              <a:rPr sz="890">
                <a:solidFill>
                  <a:srgbClr val="1F2933"/>
                </a:solidFill>
                <a:latin typeface="Noto Sans"/>
              </a:rPr>
              <a:t>• Redundancy 本身就是 noise，或 A(x) 已是 causal predictor。</a:t>
            </a:r>
          </a:p>
          <a:p>
            <a:r>
              <a:rPr sz="890">
                <a:solidFill>
                  <a:srgbClr val="1F2933"/>
                </a:solidFill>
                <a:latin typeface="Noto Sans"/>
              </a:rPr>
              <a:t>• conflict 內 factor/value 頻率可直接解讀成 relative risk。</a:t>
            </a:r>
          </a:p>
          <a:p>
            <a:r>
              <a:rPr sz="890">
                <a:solidFill>
                  <a:srgbClr val="1F2933"/>
                </a:solidFill>
                <a:latin typeface="Noto Sans"/>
              </a:rPr>
              <a:t>• seed=42 的單次 split 可直接當獨立樣本做顯著性。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800600"/>
            <a:ext cx="10332720" cy="594360"/>
          </a:xfrm>
          <a:prstGeom prst="roundRect">
            <a:avLst/>
          </a:prstGeom>
          <a:solidFill>
            <a:srgbClr val="EAF2F8"/>
          </a:solidFill>
          <a:ln>
            <a:solidFill>
              <a:srgbClr val="EA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24128" y="4937760"/>
            <a:ext cx="50292" cy="320040"/>
          </a:xfrm>
          <a:prstGeom prst="rect">
            <a:avLst/>
          </a:prstGeom>
          <a:solidFill>
            <a:srgbClr val="4A78A8"/>
          </a:solidFill>
          <a:ln>
            <a:solidFill>
              <a:srgbClr val="4A78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07008" y="4937760"/>
            <a:ext cx="989380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0" b="1">
                <a:solidFill>
                  <a:srgbClr val="1F2933"/>
                </a:solidFill>
                <a:latin typeface="Noto Sans CJK TC"/>
              </a:rPr>
              <a:t>下一步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07008" y="5266944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>
                <a:solidFill>
                  <a:srgbClr val="1F2933"/>
                </a:solidFill>
                <a:latin typeface="Noto Sans"/>
              </a:rPr>
              <a:t>Repeated matched seeds / splits → 追蹤 conflict persistence、candidate boundary、T/U/P、score margin、A(x) → block-level Friedman / paired Wilcoxon。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5769864"/>
            <a:ext cx="10881360" cy="512064"/>
          </a:xfrm>
          <a:prstGeom prst="roundRect">
            <a:avLst/>
          </a:prstGeom>
          <a:solidFill>
            <a:srgbClr val="E7F2F1"/>
          </a:solidFill>
          <a:ln>
            <a:solidFill>
              <a:srgbClr val="E7F2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1248" y="5907024"/>
            <a:ext cx="7315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 CJK TC"/>
              </a:rPr>
              <a:t>結論：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5870448"/>
            <a:ext cx="96469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900">
                <a:solidFill>
                  <a:srgbClr val="1F2933"/>
                </a:solidFill>
                <a:latin typeface="Noto Sans"/>
              </a:rPr>
              <a:t>下一輪不加新方法；先驗證哪些 decision boundary / support structure 形成 persistent conflict，以及何時 Population correction corrected / over-correct。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02920" y="6464808"/>
            <a:ext cx="11155680" cy="0"/>
          </a:xfrm>
          <a:prstGeom prst="line">
            <a:avLst/>
          </a:prstGeom>
          <a:ln w="8890">
            <a:solidFill>
              <a:srgbClr val="D9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80">
                <a:solidFill>
                  <a:srgbClr val="6B7780"/>
                </a:solidFill>
                <a:latin typeface="Noto Sans"/>
              </a:rPr>
              <a:t>Federated LEM2 · Conflict concentration closure · 2026-10-25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780">
                <a:solidFill>
                  <a:srgbClr val="6B7780"/>
                </a:solidFill>
                <a:latin typeface="Noto Sans"/>
              </a:rPr>
              <a:t>38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350" b="1">
                <a:solidFill>
                  <a:srgbClr val="1F2933"/>
                </a:solidFill>
                <a:latin typeface="Noto Sans"/>
              </a:rPr>
              <a:t>908 個 Conflict 到底集中在哪裡？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2B7A78"/>
                </a:solidFill>
                <a:latin typeface="Noto Sans"/>
              </a:rPr>
              <a:t>不是平均分布：Car 佔 65.9%；高 client-count configurations 承擔更大的 conflict workload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417320"/>
          <a:ext cx="676656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051560"/>
                <a:gridCol w="1051560"/>
                <a:gridCol w="1051560"/>
                <a:gridCol w="1051560"/>
                <a:gridCol w="1234440"/>
              </a:tblGrid>
              <a:tr h="603504">
                <a:tc>
                  <a:txBody>
                    <a:bodyPr anchor="ctr" lIns="36576" rIns="36576" tIns="18288" bIns="18288"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Noto Sans"/>
                        </a:rPr>
                        <a:t>Dataset</a:t>
                      </a:r>
                    </a:p>
                  </a:txBody>
                  <a:tcPr>
                    <a:solidFill>
                      <a:srgbClr val="23313F"/>
                    </a:solidFill>
                  </a:tcPr>
                </a:tc>
                <a:tc>
                  <a:txBody>
                    <a:bodyPr anchor="ctr" lIns="36576" rIns="36576" tIns="18288" bIns="18288"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Noto Sans"/>
                        </a:rPr>
                        <a:t>C=2</a:t>
                      </a:r>
                    </a:p>
                  </a:txBody>
                  <a:tcPr>
                    <a:solidFill>
                      <a:srgbClr val="23313F"/>
                    </a:solidFill>
                  </a:tcPr>
                </a:tc>
                <a:tc>
                  <a:txBody>
                    <a:bodyPr anchor="ctr" lIns="36576" rIns="36576" tIns="18288" bIns="18288"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Noto Sans"/>
                        </a:rPr>
                        <a:t>C=3</a:t>
                      </a:r>
                    </a:p>
                  </a:txBody>
                  <a:tcPr>
                    <a:solidFill>
                      <a:srgbClr val="23313F"/>
                    </a:solidFill>
                  </a:tcPr>
                </a:tc>
                <a:tc>
                  <a:txBody>
                    <a:bodyPr anchor="ctr" lIns="36576" rIns="36576" tIns="18288" bIns="18288"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Noto Sans"/>
                        </a:rPr>
                        <a:t>C=4</a:t>
                      </a:r>
                    </a:p>
                  </a:txBody>
                  <a:tcPr>
                    <a:solidFill>
                      <a:srgbClr val="23313F"/>
                    </a:solidFill>
                  </a:tcPr>
                </a:tc>
                <a:tc>
                  <a:txBody>
                    <a:bodyPr anchor="ctr" lIns="36576" rIns="36576" tIns="18288" bIns="18288"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Noto Sans"/>
                        </a:rPr>
                        <a:t>C=5</a:t>
                      </a:r>
                    </a:p>
                  </a:txBody>
                  <a:tcPr>
                    <a:solidFill>
                      <a:srgbClr val="23313F"/>
                    </a:solidFill>
                  </a:tcPr>
                </a:tc>
                <a:tc>
                  <a:txBody>
                    <a:bodyPr anchor="ctr" lIns="36576" rIns="36576" tIns="18288" bIns="18288"/>
                    <a:lstStyle/>
                    <a:p>
                      <a:pPr algn="ctr"/>
                      <a:r>
                        <a:rPr sz="1019" b="1">
                          <a:solidFill>
                            <a:srgbClr val="FFFFFF"/>
                          </a:solidFill>
                          <a:latin typeface="Noto Sans"/>
                        </a:rPr>
                        <a:t>Total</a:t>
                      </a:r>
                    </a:p>
                  </a:txBody>
                  <a:tcPr>
                    <a:solidFill>
                      <a:srgbClr val="23313F"/>
                    </a:solidFill>
                  </a:tcPr>
                </a:tc>
              </a:tr>
              <a:tr h="987552">
                <a:tc>
                  <a:txBody>
                    <a:bodyPr anchor="ctr" lIns="36576" rIns="36576" tIns="18288" bIns="18288"/>
                    <a:lstStyle/>
                    <a:p>
                      <a:pPr algn="l"/>
                      <a:r>
                        <a:rPr sz="1050" b="1">
                          <a:solidFill>
                            <a:srgbClr val="1F2933"/>
                          </a:solidFill>
                          <a:latin typeface="Noto Sans"/>
                        </a:rPr>
                        <a:t>Balance</a:t>
                      </a:r>
                    </a:p>
                  </a:txBody>
                  <a:tcPr>
                    <a:solidFill>
                      <a:srgbClr val="EBF1F3"/>
                    </a:solidFill>
                  </a:tcPr>
                </a:tc>
                <a:tc>
                  <a:txBody>
                    <a:bodyPr anchor="ctr" lIns="36576" rIns="36576" tIns="18288" bIns="18288"/>
                    <a:lstStyle/>
                    <a:p>
                      <a:pPr algn="ctr"/>
                      <a:r>
                        <a:rPr sz="1050" b="1">
                          <a:solidFill>
                            <a:srgbClr val="1F2933"/>
                          </a:solidFill>
                          <a:latin typeface="Noto Sans"/>
                        </a:rPr>
                        <a:t>47
37.3%</a:t>
                      </a:r>
                    </a:p>
                  </a:txBody>
                  <a:tcPr>
                    <a:solidFill>
                      <a:srgbClr val="E9F0F7"/>
                    </a:solidFill>
                  </a:tcPr>
                </a:tc>
                <a:tc>
                  <a:txBody>
                    <a:bodyPr anchor="ctr" lIns="36576" rIns="36576" tIns="18288" bIns="18288"/>
                    <a:lstStyle/>
                    <a:p>
                      <a:pPr algn="ctr"/>
                      <a:r>
                        <a:rPr sz="1050" b="1">
                          <a:solidFill>
                            <a:srgbClr val="1F2933"/>
                          </a:solidFill>
                          <a:latin typeface="Noto Sans"/>
                        </a:rPr>
                        <a:t>62
49.2%</a:t>
                      </a:r>
                    </a:p>
                  </a:txBody>
                  <a:tcPr>
                    <a:solidFill>
                      <a:srgbClr val="E8F3F1"/>
                    </a:solidFill>
                  </a:tcPr>
                </a:tc>
                <a:tc>
                  <a:txBody>
                    <a:bodyPr anchor="ctr" lIns="36576" rIns="36576" tIns="18288" bIns="18288"/>
                    <a:lstStyle/>
                    <a:p>
                      <a:pPr algn="ctr"/>
                      <a:r>
                        <a:rPr sz="1050" b="1">
                          <a:solidFill>
                            <a:srgbClr val="1F2933"/>
                          </a:solidFill>
                          <a:latin typeface="Noto Sans"/>
                        </a:rPr>
                        <a:t>74
58.7%</a:t>
                      </a:r>
                    </a:p>
                  </a:txBody>
                  <a:tcPr>
                    <a:solidFill>
                      <a:srgbClr val="F8EEE9"/>
                    </a:solidFill>
                  </a:tcPr>
                </a:tc>
                <a:tc>
                  <a:txBody>
                    <a:bodyPr anchor="ctr" lIns="36576" rIns="36576" tIns="18288" bIns="18288"/>
                    <a:lstStyle/>
                    <a:p>
                      <a:pPr algn="ctr"/>
                      <a:r>
                        <a:rPr sz="1050" b="1">
                          <a:solidFill>
                            <a:srgbClr val="1F2933"/>
                          </a:solidFill>
                          <a:latin typeface="Noto Sans"/>
                        </a:rPr>
                        <a:t>83
65.9%</a:t>
                      </a:r>
                    </a:p>
                  </a:txBody>
                  <a:tcPr>
                    <a:solidFill>
                      <a:srgbClr val="F8EEE9"/>
                    </a:solidFill>
                  </a:tcPr>
                </a:tc>
                <a:tc>
                  <a:txBody>
                    <a:bodyPr anchor="ctr" lIns="36576" rIns="36576" tIns="18288" bIns="18288"/>
                    <a:lstStyle/>
                    <a:p>
                      <a:pPr algn="ctr"/>
                      <a:r>
                        <a:rPr sz="1350" b="1">
                          <a:solidFill>
                            <a:srgbClr val="2B7A78"/>
                          </a:solidFill>
                          <a:latin typeface="Noto Sans"/>
                        </a:rPr>
                        <a:t>266</a:t>
                      </a:r>
                    </a:p>
                  </a:txBody>
                  <a:tcPr>
                    <a:solidFill>
                      <a:srgbClr val="E8F3F1"/>
                    </a:solidFill>
                  </a:tcPr>
                </a:tc>
              </a:tr>
              <a:tr h="987552">
                <a:tc>
                  <a:txBody>
                    <a:bodyPr anchor="ctr" lIns="36576" rIns="36576" tIns="18288" bIns="18288"/>
                    <a:lstStyle/>
                    <a:p>
                      <a:pPr algn="l"/>
                      <a:r>
                        <a:rPr sz="1050" b="1">
                          <a:solidFill>
                            <a:srgbClr val="1F2933"/>
                          </a:solidFill>
                          <a:latin typeface="Noto Sans"/>
                        </a:rPr>
                        <a:t>Car</a:t>
                      </a:r>
                    </a:p>
                  </a:txBody>
                  <a:tcPr>
                    <a:solidFill>
                      <a:srgbClr val="EBF1F3"/>
                    </a:solidFill>
                  </a:tcPr>
                </a:tc>
                <a:tc>
                  <a:txBody>
                    <a:bodyPr anchor="ctr" lIns="36576" rIns="36576" tIns="18288" bIns="18288"/>
                    <a:lstStyle/>
                    <a:p>
                      <a:pPr algn="ctr"/>
                      <a:r>
                        <a:rPr sz="1050" b="1">
                          <a:solidFill>
                            <a:srgbClr val="1F2933"/>
                          </a:solidFill>
                          <a:latin typeface="Noto Sans"/>
                        </a:rPr>
                        <a:t>85
24.6%</a:t>
                      </a:r>
                    </a:p>
                  </a:txBody>
                  <a:tcPr>
                    <a:solidFill>
                      <a:srgbClr val="E9F0F7"/>
                    </a:solidFill>
                  </a:tcPr>
                </a:tc>
                <a:tc>
                  <a:txBody>
                    <a:bodyPr anchor="ctr" lIns="36576" rIns="36576" tIns="18288" bIns="18288"/>
                    <a:lstStyle/>
                    <a:p>
                      <a:pPr algn="ctr"/>
                      <a:r>
                        <a:rPr sz="1050" b="1">
                          <a:solidFill>
                            <a:srgbClr val="1F2933"/>
                          </a:solidFill>
                          <a:latin typeface="Noto Sans"/>
                        </a:rPr>
                        <a:t>134
38.7%</a:t>
                      </a:r>
                    </a:p>
                  </a:txBody>
                  <a:tcPr>
                    <a:solidFill>
                      <a:srgbClr val="E9F0F7"/>
                    </a:solidFill>
                  </a:tcPr>
                </a:tc>
                <a:tc>
                  <a:txBody>
                    <a:bodyPr anchor="ctr" lIns="36576" rIns="36576" tIns="18288" bIns="18288"/>
                    <a:lstStyle/>
                    <a:p>
                      <a:pPr algn="ctr"/>
                      <a:r>
                        <a:rPr sz="1050" b="1">
                          <a:solidFill>
                            <a:srgbClr val="1F2933"/>
                          </a:solidFill>
                          <a:latin typeface="Noto Sans"/>
                        </a:rPr>
                        <a:t>169
48.8%</a:t>
                      </a:r>
                    </a:p>
                  </a:txBody>
                  <a:tcPr>
                    <a:solidFill>
                      <a:srgbClr val="E8F3F1"/>
                    </a:solidFill>
                  </a:tcPr>
                </a:tc>
                <a:tc>
                  <a:txBody>
                    <a:bodyPr anchor="ctr" lIns="36576" rIns="36576" tIns="18288" bIns="18288"/>
                    <a:lstStyle/>
                    <a:p>
                      <a:pPr algn="ctr"/>
                      <a:r>
                        <a:rPr sz="1050" b="1">
                          <a:solidFill>
                            <a:srgbClr val="1F2933"/>
                          </a:solidFill>
                          <a:latin typeface="Noto Sans"/>
                        </a:rPr>
                        <a:t>210
60.7%</a:t>
                      </a:r>
                    </a:p>
                  </a:txBody>
                  <a:tcPr>
                    <a:solidFill>
                      <a:srgbClr val="F8EEE9"/>
                    </a:solidFill>
                  </a:tcPr>
                </a:tc>
                <a:tc>
                  <a:txBody>
                    <a:bodyPr anchor="ctr" lIns="36576" rIns="36576" tIns="18288" bIns="18288"/>
                    <a:lstStyle/>
                    <a:p>
                      <a:pPr algn="ctr"/>
                      <a:r>
                        <a:rPr sz="1350" b="1">
                          <a:solidFill>
                            <a:srgbClr val="2B7A78"/>
                          </a:solidFill>
                          <a:latin typeface="Noto Sans"/>
                        </a:rPr>
                        <a:t>598</a:t>
                      </a:r>
                    </a:p>
                  </a:txBody>
                  <a:tcPr>
                    <a:solidFill>
                      <a:srgbClr val="E8F3F1"/>
                    </a:solidFill>
                  </a:tcPr>
                </a:tc>
              </a:tr>
              <a:tr h="987552">
                <a:tc>
                  <a:txBody>
                    <a:bodyPr anchor="ctr" lIns="36576" rIns="36576" tIns="18288" bIns="18288"/>
                    <a:lstStyle/>
                    <a:p>
                      <a:pPr algn="l"/>
                      <a:r>
                        <a:rPr sz="1050" b="1">
                          <a:solidFill>
                            <a:srgbClr val="1F2933"/>
                          </a:solidFill>
                          <a:latin typeface="Noto Sans"/>
                        </a:rPr>
                        <a:t>Hayes</a:t>
                      </a:r>
                    </a:p>
                  </a:txBody>
                  <a:tcPr>
                    <a:solidFill>
                      <a:srgbClr val="EBF1F3"/>
                    </a:solidFill>
                  </a:tcPr>
                </a:tc>
                <a:tc>
                  <a:txBody>
                    <a:bodyPr anchor="ctr" lIns="36576" rIns="36576" tIns="18288" bIns="18288"/>
                    <a:lstStyle/>
                    <a:p>
                      <a:pPr algn="ctr"/>
                      <a:r>
                        <a:rPr sz="1050" b="1">
                          <a:solidFill>
                            <a:srgbClr val="1F2933"/>
                          </a:solidFill>
                          <a:latin typeface="Noto Sans"/>
                        </a:rPr>
                        <a:t>3
11.5%</a:t>
                      </a:r>
                    </a:p>
                  </a:txBody>
                  <a:tcPr>
                    <a:solidFill>
                      <a:srgbClr val="E9F0F7"/>
                    </a:solidFill>
                  </a:tcPr>
                </a:tc>
                <a:tc>
                  <a:txBody>
                    <a:bodyPr anchor="ctr" lIns="36576" rIns="36576" tIns="18288" bIns="18288"/>
                    <a:lstStyle/>
                    <a:p>
                      <a:pPr algn="ctr"/>
                      <a:r>
                        <a:rPr sz="1050" b="1">
                          <a:solidFill>
                            <a:srgbClr val="1F2933"/>
                          </a:solidFill>
                          <a:latin typeface="Noto Sans"/>
                        </a:rPr>
                        <a:t>14
53.8%</a:t>
                      </a:r>
                    </a:p>
                  </a:txBody>
                  <a:tcPr>
                    <a:solidFill>
                      <a:srgbClr val="E8F3F1"/>
                    </a:solidFill>
                  </a:tcPr>
                </a:tc>
                <a:tc>
                  <a:txBody>
                    <a:bodyPr anchor="ctr" lIns="36576" rIns="36576" tIns="18288" bIns="18288"/>
                    <a:lstStyle/>
                    <a:p>
                      <a:pPr algn="ctr"/>
                      <a:r>
                        <a:rPr sz="1050" b="1">
                          <a:solidFill>
                            <a:srgbClr val="1F2933"/>
                          </a:solidFill>
                          <a:latin typeface="Noto Sans"/>
                        </a:rPr>
                        <a:t>10
38.5%</a:t>
                      </a:r>
                    </a:p>
                  </a:txBody>
                  <a:tcPr>
                    <a:solidFill>
                      <a:srgbClr val="E9F0F7"/>
                    </a:solidFill>
                  </a:tcPr>
                </a:tc>
                <a:tc>
                  <a:txBody>
                    <a:bodyPr anchor="ctr" lIns="36576" rIns="36576" tIns="18288" bIns="18288"/>
                    <a:lstStyle/>
                    <a:p>
                      <a:pPr algn="ctr"/>
                      <a:r>
                        <a:rPr sz="1050" b="1">
                          <a:solidFill>
                            <a:srgbClr val="1F2933"/>
                          </a:solidFill>
                          <a:latin typeface="Noto Sans"/>
                        </a:rPr>
                        <a:t>17
65.4%</a:t>
                      </a:r>
                    </a:p>
                  </a:txBody>
                  <a:tcPr>
                    <a:solidFill>
                      <a:srgbClr val="F8EEE9"/>
                    </a:solidFill>
                  </a:tcPr>
                </a:tc>
                <a:tc>
                  <a:txBody>
                    <a:bodyPr anchor="ctr" lIns="36576" rIns="36576" tIns="18288" bIns="18288"/>
                    <a:lstStyle/>
                    <a:p>
                      <a:pPr algn="ctr"/>
                      <a:r>
                        <a:rPr sz="1350" b="1">
                          <a:solidFill>
                            <a:srgbClr val="2B7A78"/>
                          </a:solidFill>
                          <a:latin typeface="Noto Sans"/>
                        </a:rPr>
                        <a:t>44</a:t>
                      </a:r>
                    </a:p>
                  </a:txBody>
                  <a:tcPr>
                    <a:solidFill>
                      <a:srgbClr val="E8F3F1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49808" y="5084064"/>
            <a:ext cx="7040880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6B7780"/>
                </a:solidFill>
                <a:latin typeface="Noto Sans"/>
              </a:rPr>
              <a:t>每格：conflict count / configuration-level conflict rate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75320" y="1417320"/>
            <a:ext cx="31089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75320" y="1417320"/>
            <a:ext cx="73152" cy="1170432"/>
          </a:xfrm>
          <a:prstGeom prst="rect">
            <a:avLst/>
          </a:prstGeom>
          <a:solidFill>
            <a:srgbClr val="4A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76488" y="1563624"/>
            <a:ext cx="2816352" cy="3474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200" b="1">
                <a:solidFill>
                  <a:srgbClr val="4A78A8"/>
                </a:solidFill>
                <a:latin typeface="Noto Sans"/>
              </a:rPr>
              <a:t>598 / 908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6488" y="1965960"/>
            <a:ext cx="2816352" cy="29260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019" b="1">
                <a:solidFill>
                  <a:srgbClr val="1F2933"/>
                </a:solidFill>
                <a:latin typeface="Noto Sans"/>
              </a:rPr>
              <a:t>Car = 65.9% of all conflicts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6488" y="2295144"/>
            <a:ext cx="2816352" cy="237744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6B7780"/>
                </a:solidFill>
                <a:latin typeface="Noto Sans"/>
              </a:rPr>
              <a:t>workload 高度集中在 Car Evaluation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2761488"/>
            <a:ext cx="31089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275320" y="2761488"/>
            <a:ext cx="73152" cy="1170432"/>
          </a:xfrm>
          <a:prstGeom prst="rect">
            <a:avLst/>
          </a:prstGeom>
          <a:solidFill>
            <a:srgbClr val="C9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76488" y="2907792"/>
            <a:ext cx="2816352" cy="3474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200" b="1">
                <a:solidFill>
                  <a:srgbClr val="C96A3D"/>
                </a:solidFill>
                <a:latin typeface="Noto Sans"/>
              </a:rPr>
              <a:t>310 / 908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76488" y="3310128"/>
            <a:ext cx="2816352" cy="29260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019" b="1">
                <a:solidFill>
                  <a:srgbClr val="1F2933"/>
                </a:solidFill>
                <a:latin typeface="Noto Sans"/>
              </a:rPr>
              <a:t>C=5 = 34.1%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76488" y="3639312"/>
            <a:ext cx="2816352" cy="237744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6B7780"/>
                </a:solidFill>
                <a:latin typeface="Noto Sans"/>
              </a:rPr>
              <a:t>只看 C=5 就占全部 occurrences 三分之一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75320" y="4105656"/>
            <a:ext cx="3108960" cy="1170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75320" y="4105656"/>
            <a:ext cx="73152" cy="1170432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76488" y="4251960"/>
            <a:ext cx="2816352" cy="3474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200" b="1">
                <a:solidFill>
                  <a:srgbClr val="2B7A78"/>
                </a:solidFill>
                <a:latin typeface="Noto Sans"/>
              </a:rPr>
              <a:t>908 / 1,992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76488" y="4654296"/>
            <a:ext cx="2816352" cy="29260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019" b="1">
                <a:solidFill>
                  <a:srgbClr val="1F2933"/>
                </a:solidFill>
                <a:latin typeface="Noto Sans"/>
              </a:rPr>
              <a:t>Overall workload = 45.6%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76488" y="4983480"/>
            <a:ext cx="2816352" cy="237744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880" b="0">
                <a:solidFill>
                  <a:srgbClr val="6B7780"/>
                </a:solidFill>
                <a:latin typeface="Noto Sans"/>
              </a:rPr>
              <a:t>configuration-level test evaluations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5879592"/>
            <a:ext cx="73152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950" b="1">
                <a:solidFill>
                  <a:srgbClr val="2B7A78"/>
                </a:solidFill>
                <a:latin typeface="Noto Sans"/>
              </a:rPr>
              <a:t>結論：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5843016"/>
            <a:ext cx="9646920" cy="29260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940" b="0">
                <a:solidFill>
                  <a:srgbClr val="1F2933"/>
                </a:solidFill>
                <a:latin typeface="Noto Sans"/>
              </a:rPr>
              <a:t>908 不是一個均質群體；先按 dataset × C 分解，才能判斷真正的 conflict workload 集中點。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780" b="0">
                <a:solidFill>
                  <a:srgbClr val="6B7780"/>
                </a:solidFill>
                <a:latin typeface="Noto Sans"/>
              </a:rPr>
              <a:t>Federated LEM2 · Conflict concentration audit · 2026-10-25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/>
            <a:r>
              <a:rPr sz="780" b="0">
                <a:solidFill>
                  <a:srgbClr val="6B7780"/>
                </a:solidFill>
                <a:latin typeface="Noto Sans"/>
              </a:rPr>
              <a:t>26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350" b="1">
                <a:solidFill>
                  <a:srgbClr val="1F2933"/>
                </a:solidFill>
                <a:latin typeface="Noto Sans"/>
              </a:rPr>
              <a:t>908 次其實只有 392 個 unique objects：Conflict 會反覆出現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2B7A78"/>
                </a:solidFill>
                <a:latin typeface="Noto Sans"/>
              </a:rPr>
              <a:t>同一 (dataset, fold, row_id) 可在不同 C 再次 conflict；occurrence 與 unique object 必須分開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481328"/>
            <a:ext cx="237744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9536" y="1664208"/>
            <a:ext cx="2157984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4A78A8"/>
                </a:solidFill>
                <a:latin typeface="Noto Sans"/>
              </a:rPr>
              <a:t>106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084831"/>
            <a:ext cx="2157984" cy="237744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950" b="0">
                <a:solidFill>
                  <a:srgbClr val="6B7780"/>
                </a:solidFill>
                <a:latin typeface="Noto Sans"/>
              </a:rPr>
              <a:t>unique objects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404872"/>
            <a:ext cx="2157984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3"/>
                </a:solidFill>
                <a:latin typeface="Noto Sans"/>
              </a:rPr>
              <a:t>1 個 C · SINGLE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8727" y="1481328"/>
            <a:ext cx="237744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48456" y="1664208"/>
            <a:ext cx="2157984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2B7A78"/>
                </a:solidFill>
                <a:latin typeface="Noto Sans"/>
              </a:rPr>
              <a:t>123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48456" y="2084831"/>
            <a:ext cx="2157984" cy="237744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950" b="0">
                <a:solidFill>
                  <a:srgbClr val="6B7780"/>
                </a:solidFill>
                <a:latin typeface="Noto Sans"/>
              </a:rPr>
              <a:t>unique objects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48456" y="2404872"/>
            <a:ext cx="2157984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3"/>
                </a:solidFill>
                <a:latin typeface="Noto Sans"/>
              </a:rPr>
              <a:t>2 個 C · REPEATED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27648" y="1481328"/>
            <a:ext cx="237744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37376" y="1664208"/>
            <a:ext cx="2157984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A98025"/>
                </a:solidFill>
                <a:latin typeface="Noto Sans"/>
              </a:rPr>
              <a:t>96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37376" y="2084831"/>
            <a:ext cx="2157984" cy="237744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950" b="0">
                <a:solidFill>
                  <a:srgbClr val="6B7780"/>
                </a:solidFill>
                <a:latin typeface="Noto Sans"/>
              </a:rPr>
              <a:t>unique objects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404872"/>
            <a:ext cx="2157984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3"/>
                </a:solidFill>
                <a:latin typeface="Noto Sans"/>
              </a:rPr>
              <a:t>3 個 C · REPEATED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16567" y="1481328"/>
            <a:ext cx="2377440" cy="13898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26295" y="1664208"/>
            <a:ext cx="2157984" cy="38404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C96A3D"/>
                </a:solidFill>
                <a:latin typeface="Noto Sans"/>
              </a:rPr>
              <a:t>67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26295" y="2084831"/>
            <a:ext cx="2157984" cy="237744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950" b="0">
                <a:solidFill>
                  <a:srgbClr val="6B7780"/>
                </a:solidFill>
                <a:latin typeface="Noto Sans"/>
              </a:rPr>
              <a:t>unique objects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26295" y="2404872"/>
            <a:ext cx="2157984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3"/>
                </a:solidFill>
                <a:latin typeface="Noto Sans"/>
              </a:rPr>
              <a:t>4 個 C · PERSISTENT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41248" y="3227832"/>
            <a:ext cx="6629400" cy="1417320"/>
          </a:xfrm>
          <a:prstGeom prst="roundRect">
            <a:avLst/>
          </a:prstGeom>
          <a:solidFill>
            <a:srgbClr val="E9F0F7"/>
          </a:solidFill>
          <a:ln w="12700">
            <a:solidFill>
              <a:srgbClr val="EB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" y="3493008"/>
            <a:ext cx="6217920" cy="3474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600" b="1">
                <a:solidFill>
                  <a:srgbClr val="1F2933"/>
                </a:solidFill>
                <a:latin typeface="Noto Sans"/>
              </a:rPr>
              <a:t>106×1 + 123×2 + 96×3 + 67×4 = 908 occurrences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78992" y="3977639"/>
            <a:ext cx="6172200" cy="3200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000" b="0">
                <a:solidFill>
                  <a:srgbClr val="6B7780"/>
                </a:solidFill>
                <a:latin typeface="Noto Sans"/>
              </a:rPr>
              <a:t>Persistence(x) = x 在 C={2,3,4,5} 中被判為 conflict 的 distinct client-count 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3127248"/>
            <a:ext cx="342900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818120" y="3127248"/>
            <a:ext cx="73152" cy="932688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19288" y="3273552"/>
            <a:ext cx="3136392" cy="3474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200" b="1">
                <a:solidFill>
                  <a:srgbClr val="2B7A78"/>
                </a:solidFill>
                <a:latin typeface="Noto Sans"/>
              </a:rPr>
              <a:t>286 / 392 = 73.0%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19288" y="3675887"/>
            <a:ext cx="3136392" cy="29260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019" b="1">
                <a:solidFill>
                  <a:srgbClr val="1F2933"/>
                </a:solidFill>
                <a:latin typeface="Noto Sans"/>
              </a:rPr>
              <a:t>至少在 2 個 C 重複 conflict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4187952"/>
            <a:ext cx="3429000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818120" y="4187952"/>
            <a:ext cx="73152" cy="932688"/>
          </a:xfrm>
          <a:prstGeom prst="rect">
            <a:avLst/>
          </a:prstGeom>
          <a:solidFill>
            <a:srgbClr val="C9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19288" y="4334256"/>
            <a:ext cx="3136392" cy="3474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200" b="1">
                <a:solidFill>
                  <a:srgbClr val="C96A3D"/>
                </a:solidFill>
                <a:latin typeface="Noto Sans"/>
              </a:rPr>
              <a:t>67 / 392 = 17.1%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19288" y="4736592"/>
            <a:ext cx="3136392" cy="29260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019" b="1">
                <a:solidFill>
                  <a:srgbClr val="1F2933"/>
                </a:solidFill>
                <a:latin typeface="Noto Sans"/>
              </a:rPr>
              <a:t>四種 C 全部 conflict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" y="4956048"/>
            <a:ext cx="6400800" cy="36576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050" b="1">
                <a:solidFill>
                  <a:srgbClr val="2B7A78"/>
                </a:solidFill>
                <a:latin typeface="Noto Sans"/>
              </a:rPr>
              <a:t>67 個 persistent objects 貢獻 268 / 908 = 29.5% 的 conflict occurrences。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2688" y="5340096"/>
            <a:ext cx="10287000" cy="34747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919" b="0">
                <a:solidFill>
                  <a:srgbClr val="6B7780"/>
                </a:solidFill>
                <a:latin typeface="Noto Sans"/>
              </a:rPr>
              <a:t>解讀邊界：這證明 frozen split 下存在「反覆出現」的 subset；它提示 structural overlap，但本身還不是 causal proof。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5879592"/>
            <a:ext cx="73152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950" b="1">
                <a:solidFill>
                  <a:srgbClr val="2B7A78"/>
                </a:solidFill>
                <a:latin typeface="Noto Sans"/>
              </a:rPr>
              <a:t>結論：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5843016"/>
            <a:ext cx="9646920" cy="29260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940" b="0">
                <a:solidFill>
                  <a:srgbClr val="1F2933"/>
                </a:solidFill>
                <a:latin typeface="Noto Sans"/>
              </a:rPr>
              <a:t>Conflict 同時包含 partition-sensitive 與 persistent cases；不能把 908 全部直接叫成 structural conflict。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780" b="0">
                <a:solidFill>
                  <a:srgbClr val="6B7780"/>
                </a:solidFill>
                <a:latin typeface="Noto Sans"/>
              </a:rPr>
              <a:t>Federated LEM2 · Conflict concentration audit · 2026-10-25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/>
            <a:r>
              <a:rPr sz="780" b="0">
                <a:solidFill>
                  <a:srgbClr val="6B7780"/>
                </a:solidFill>
                <a:latin typeface="Noto Sans"/>
              </a:rPr>
              <a:t>27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350" b="1">
                <a:solidFill>
                  <a:srgbClr val="1F2933"/>
                </a:solidFill>
                <a:latin typeface="Noto Sans"/>
              </a:rPr>
              <a:t>Conflict 不是平均撞：高度集中在少數 decision boundaries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2B7A78"/>
                </a:solidFill>
                <a:latin typeface="Noto Sans"/>
              </a:rPr>
              <a:t>Candidate(x) 組合顯示 cross-decision overlap 有明顯結構，不是在所有 class pairs 均勻散開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1426464"/>
            <a:ext cx="3401568" cy="3456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27632"/>
            <a:ext cx="2999232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220" b="1">
                <a:solidFill>
                  <a:srgbClr val="1F2933"/>
                </a:solidFill>
                <a:latin typeface="Noto Sans"/>
              </a:rPr>
              <a:t>Balance Scale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084831"/>
            <a:ext cx="2999232" cy="21945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869" b="0">
                <a:solidFill>
                  <a:srgbClr val="6B7780"/>
                </a:solidFill>
                <a:latin typeface="Noto Sans"/>
              </a:rPr>
              <a:t>Top candidate signature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95728"/>
            <a:ext cx="2999232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2000" b="1">
                <a:solidFill>
                  <a:srgbClr val="2B7A78"/>
                </a:solidFill>
                <a:latin typeface="Noto Sans"/>
              </a:rPr>
              <a:t>L | 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35224"/>
            <a:ext cx="2999232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220" b="1">
                <a:solidFill>
                  <a:srgbClr val="1F2933"/>
                </a:solidFill>
                <a:latin typeface="Noto Sans"/>
              </a:rPr>
              <a:t>149 / 266 = 56.0%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3401568"/>
            <a:ext cx="2633472" cy="164592"/>
          </a:xfrm>
          <a:prstGeom prst="rect">
            <a:avLst/>
          </a:prstGeom>
          <a:solidFill>
            <a:srgbClr val="EBF1F3"/>
          </a:solidFill>
          <a:ln>
            <a:solidFill>
              <a:srgbClr val="EB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3401568"/>
            <a:ext cx="1475140" cy="164592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2999232" cy="21031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840" b="0">
                <a:solidFill>
                  <a:srgbClr val="6B7780"/>
                </a:solidFill>
                <a:latin typeface="Noto Sans"/>
              </a:rPr>
              <a:t>True-class conflict occurrences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133087"/>
            <a:ext cx="2999232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940" b="1">
                <a:solidFill>
                  <a:srgbClr val="1F2933"/>
                </a:solidFill>
                <a:latin typeface="Noto Sans"/>
              </a:rPr>
              <a:t>R 128 · L 106 · B 32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07992" y="1426464"/>
            <a:ext cx="3401568" cy="3456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1627632"/>
            <a:ext cx="2999232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220" b="1">
                <a:solidFill>
                  <a:srgbClr val="1F2933"/>
                </a:solidFill>
                <a:latin typeface="Noto Sans"/>
              </a:rPr>
              <a:t>Car Evaluation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2084831"/>
            <a:ext cx="2999232" cy="21945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869" b="0">
                <a:solidFill>
                  <a:srgbClr val="6B7780"/>
                </a:solidFill>
                <a:latin typeface="Noto Sans"/>
              </a:rPr>
              <a:t>Top candidate signature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395728"/>
            <a:ext cx="2999232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2000" b="1">
                <a:solidFill>
                  <a:srgbClr val="4A78A8"/>
                </a:solidFill>
                <a:latin typeface="Noto Sans"/>
              </a:rPr>
              <a:t>acc | unacc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935224"/>
            <a:ext cx="2999232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220" b="1">
                <a:solidFill>
                  <a:srgbClr val="1F2933"/>
                </a:solidFill>
                <a:latin typeface="Noto Sans"/>
              </a:rPr>
              <a:t>335 / 598 = 56.0%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92040" y="3401568"/>
            <a:ext cx="2633472" cy="164592"/>
          </a:xfrm>
          <a:prstGeom prst="rect">
            <a:avLst/>
          </a:prstGeom>
          <a:solidFill>
            <a:srgbClr val="EBF1F3"/>
          </a:solidFill>
          <a:ln>
            <a:solidFill>
              <a:srgbClr val="EB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892040" y="3401568"/>
            <a:ext cx="1475272" cy="164592"/>
          </a:xfrm>
          <a:prstGeom prst="rect">
            <a:avLst/>
          </a:prstGeom>
          <a:solidFill>
            <a:srgbClr val="4A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709160" y="3840480"/>
            <a:ext cx="2999232" cy="21031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840" b="0">
                <a:solidFill>
                  <a:srgbClr val="6B7780"/>
                </a:solidFill>
                <a:latin typeface="Noto Sans"/>
              </a:rPr>
              <a:t>True-class conflict occurrences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09160" y="4133087"/>
            <a:ext cx="2999232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940" b="1">
                <a:solidFill>
                  <a:srgbClr val="1F2933"/>
                </a:solidFill>
                <a:latin typeface="Noto Sans"/>
              </a:rPr>
              <a:t>unacc 374 · acc 151 · good 41 · vgood 32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302752" y="1426464"/>
            <a:ext cx="3401568" cy="345643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0" y="1627632"/>
            <a:ext cx="2999232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220" b="1">
                <a:solidFill>
                  <a:srgbClr val="1F2933"/>
                </a:solidFill>
                <a:latin typeface="Noto Sans"/>
              </a:rPr>
              <a:t>Hayes-Roth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2084831"/>
            <a:ext cx="2999232" cy="21945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869" b="0">
                <a:solidFill>
                  <a:srgbClr val="6B7780"/>
                </a:solidFill>
                <a:latin typeface="Noto Sans"/>
              </a:rPr>
              <a:t>Top candidate signature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2395728"/>
            <a:ext cx="2999232" cy="4572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2000" b="1">
                <a:solidFill>
                  <a:srgbClr val="C96A3D"/>
                </a:solidFill>
                <a:latin typeface="Noto Sans"/>
              </a:rPr>
              <a:t>1.0 | 2.0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03920" y="2935224"/>
            <a:ext cx="2999232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220" b="1">
                <a:solidFill>
                  <a:srgbClr val="1F2933"/>
                </a:solidFill>
                <a:latin typeface="Noto Sans"/>
              </a:rPr>
              <a:t>30 / 44 = 68.2%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686800" y="3401568"/>
            <a:ext cx="2633472" cy="164592"/>
          </a:xfrm>
          <a:prstGeom prst="rect">
            <a:avLst/>
          </a:prstGeom>
          <a:solidFill>
            <a:srgbClr val="EBF1F3"/>
          </a:solidFill>
          <a:ln>
            <a:solidFill>
              <a:srgbClr val="EB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686800" y="3401568"/>
            <a:ext cx="1795549" cy="164592"/>
          </a:xfrm>
          <a:prstGeom prst="rect">
            <a:avLst/>
          </a:prstGeom>
          <a:solidFill>
            <a:srgbClr val="C9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20" y="3840480"/>
            <a:ext cx="2999232" cy="21031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840" b="0">
                <a:solidFill>
                  <a:srgbClr val="6B7780"/>
                </a:solidFill>
                <a:latin typeface="Noto Sans"/>
              </a:rPr>
              <a:t>True-class conflict occurrences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03920" y="4133087"/>
            <a:ext cx="2999232" cy="5029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940" b="1">
                <a:solidFill>
                  <a:srgbClr val="1F2933"/>
                </a:solidFill>
                <a:latin typeface="Noto Sans"/>
              </a:rPr>
              <a:t>class1 18 · class3 14 · class2 12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" y="5102352"/>
            <a:ext cx="10442448" cy="530352"/>
          </a:xfrm>
          <a:prstGeom prst="roundRect">
            <a:avLst/>
          </a:prstGeom>
          <a:solidFill>
            <a:srgbClr val="F8E9E9"/>
          </a:solidFill>
          <a:ln w="12700">
            <a:solidFill>
              <a:srgbClr val="F8E9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05840" y="5230368"/>
            <a:ext cx="10104120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900" b="0">
                <a:solidFill>
                  <a:srgbClr val="B65252"/>
                </a:solidFill>
                <a:latin typeface="Noto Sans"/>
              </a:rPr>
              <a:t>注意：true-class / factor-value 目前都是「conflict 內部的出現次數」，沒有 non-conflict denominator，因此不能直接解讀成 class risk 或因果效果。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" y="5879592"/>
            <a:ext cx="73152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950" b="1">
                <a:solidFill>
                  <a:srgbClr val="2B7A78"/>
                </a:solidFill>
                <a:latin typeface="Noto Sans"/>
              </a:rPr>
              <a:t>結論：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5843016"/>
            <a:ext cx="9646920" cy="29260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940" b="0">
                <a:solidFill>
                  <a:srgbClr val="1F2933"/>
                </a:solidFill>
                <a:latin typeface="Noto Sans"/>
              </a:rPr>
              <a:t>最主要的 conflict boundary 已可定位：Balance 的 L↔R、Car 的 acc↔unacc、Hayes 的 class 1↔2 最集中。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780" b="0">
                <a:solidFill>
                  <a:srgbClr val="6B7780"/>
                </a:solidFill>
                <a:latin typeface="Noto Sans"/>
              </a:rPr>
              <a:t>Federated LEM2 · Conflict concentration audit · 2026-10-25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/>
            <a:r>
              <a:rPr sz="780" b="0">
                <a:solidFill>
                  <a:srgbClr val="6B7780"/>
                </a:solidFill>
                <a:latin typeface="Noto Sans"/>
              </a:rPr>
              <a:t>28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350" b="1">
                <a:solidFill>
                  <a:srgbClr val="1F2933"/>
                </a:solidFill>
                <a:latin typeface="Noto Sans"/>
              </a:rPr>
              <a:t>同一個 Conflict，六種方法各自可能在哪裡出問題？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2B7A78"/>
                </a:solidFill>
                <a:latin typeface="Noto Sans"/>
              </a:rPr>
              <a:t>Conflict set 完全相同；差別不是「誰製造 conflict」，而是 resolver 使用哪種 evidence、因此產生哪種 bias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325880"/>
            <a:ext cx="5166360" cy="1060704"/>
          </a:xfrm>
          <a:prstGeom prst="roundRect">
            <a:avLst/>
          </a:prstGeom>
          <a:solidFill>
            <a:srgbClr val="F8EEE9"/>
          </a:solidFill>
          <a:ln w="12700">
            <a:solidFill>
              <a:srgbClr val="EB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24128" y="1472184"/>
            <a:ext cx="64008" cy="795528"/>
          </a:xfrm>
          <a:prstGeom prst="rect">
            <a:avLst/>
          </a:prstGeom>
          <a:solidFill>
            <a:srgbClr val="C9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25296" y="1490472"/>
            <a:ext cx="4572000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3"/>
                </a:solidFill>
                <a:latin typeface="Noto Sans"/>
              </a:rPr>
              <a:t>FIRST_MATCH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25296" y="1837943"/>
            <a:ext cx="4572000" cy="44805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940" b="0">
                <a:solidFill>
                  <a:srgbClr val="1F2933"/>
                </a:solidFill>
                <a:latin typeface="Noto Sans"/>
              </a:rPr>
              <a:t>Order bias：第一條 matching rule 直接決定 winner。
較晚出現、即使證據更強的 rule 也可能完全被忽略。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325880"/>
            <a:ext cx="5166360" cy="1060704"/>
          </a:xfrm>
          <a:prstGeom prst="roundRect">
            <a:avLst/>
          </a:prstGeom>
          <a:solidFill>
            <a:srgbClr val="F8F3DE"/>
          </a:solidFill>
          <a:ln w="12700">
            <a:solidFill>
              <a:srgbClr val="EB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56248" y="1472184"/>
            <a:ext cx="64008" cy="795528"/>
          </a:xfrm>
          <a:prstGeom prst="rect">
            <a:avLst/>
          </a:prstGeom>
          <a:solidFill>
            <a:srgbClr val="A98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57416" y="1490472"/>
            <a:ext cx="4572000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3"/>
                </a:solidFill>
                <a:latin typeface="Noto Sans"/>
              </a:rPr>
              <a:t>SIMPLE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57416" y="1837943"/>
            <a:ext cx="4572000" cy="44805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940" b="0">
                <a:solidFill>
                  <a:srgbClr val="1F2933"/>
                </a:solidFill>
                <a:latin typeface="Noto Sans"/>
              </a:rPr>
              <a:t>Rule-count bias：每條 rule 等權。
多條寬／重疊 rules 可用票數壓過較少但 evidence 更強的 rules。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679191"/>
            <a:ext cx="5166360" cy="1060704"/>
          </a:xfrm>
          <a:prstGeom prst="roundRect">
            <a:avLst/>
          </a:prstGeom>
          <a:solidFill>
            <a:srgbClr val="E9F0F7"/>
          </a:solidFill>
          <a:ln w="12700">
            <a:solidFill>
              <a:srgbClr val="EB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24128" y="2825496"/>
            <a:ext cx="64008" cy="795528"/>
          </a:xfrm>
          <a:prstGeom prst="rect">
            <a:avLst/>
          </a:prstGeom>
          <a:solidFill>
            <a:srgbClr val="4A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25296" y="2843784"/>
            <a:ext cx="4572000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3"/>
                </a:solidFill>
                <a:latin typeface="Noto Sans"/>
              </a:rPr>
              <a:t>STANDARD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25296" y="3191256"/>
            <a:ext cx="4572000" cy="44805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940" b="0">
                <a:solidFill>
                  <a:srgbClr val="1F2933"/>
                </a:solidFill>
                <a:latin typeface="Noto Sans"/>
              </a:rPr>
              <a:t>Duplication bias：比較 T_d = support occurrences。
同一 training object 可跨多條 matching rules 被重複計價。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46520" y="2679191"/>
            <a:ext cx="5166360" cy="1060704"/>
          </a:xfrm>
          <a:prstGeom prst="roundRect">
            <a:avLst/>
          </a:prstGeom>
          <a:solidFill>
            <a:srgbClr val="E6F1E7"/>
          </a:solidFill>
          <a:ln w="12700">
            <a:solidFill>
              <a:srgbClr val="EB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56248" y="2825496"/>
            <a:ext cx="64008" cy="795528"/>
          </a:xfrm>
          <a:prstGeom prst="rect">
            <a:avLst/>
          </a:prstGeom>
          <a:solidFill>
            <a:srgbClr val="4C8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57416" y="2843784"/>
            <a:ext cx="4572000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3"/>
                </a:solidFill>
                <a:latin typeface="Noto Sans"/>
              </a:rPr>
              <a:t>GLOBAL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57416" y="3191256"/>
            <a:ext cx="4572000" cy="44805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940" b="0">
                <a:solidFill>
                  <a:srgbClr val="1F2933"/>
                </a:solidFill>
                <a:latin typeface="Noto Sans"/>
              </a:rPr>
              <a:t>Relative-coverage sensitivity：比較 U_d / N_d。
已對 object 去重，但看的是 class 內「相對覆蓋率」，不是絕對 evidence 量。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032504"/>
            <a:ext cx="5166360" cy="1060704"/>
          </a:xfrm>
          <a:prstGeom prst="roundRect">
            <a:avLst/>
          </a:prstGeom>
          <a:solidFill>
            <a:srgbClr val="E8F3F1"/>
          </a:solidFill>
          <a:ln w="12700">
            <a:solidFill>
              <a:srgbClr val="EB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24128" y="4178808"/>
            <a:ext cx="64008" cy="795528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25296" y="4197096"/>
            <a:ext cx="4572000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3"/>
                </a:solidFill>
                <a:latin typeface="Noto Sans"/>
              </a:rPr>
              <a:t>POPULATION STANDARD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25296" y="4544568"/>
            <a:ext cx="4572000" cy="44805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940" b="0">
                <a:solidFill>
                  <a:srgbClr val="1F2933"/>
                </a:solidFill>
                <a:latin typeface="Noto Sans"/>
              </a:rPr>
              <a:t>De-dup over-correction：只比較 unique U_d。
16 次翻 winner：6 corrected · 9 harmed · 1 wrong→wrong。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46520" y="4032504"/>
            <a:ext cx="5166360" cy="1060704"/>
          </a:xfrm>
          <a:prstGeom prst="roundRect">
            <a:avLst/>
          </a:prstGeom>
          <a:solidFill>
            <a:srgbClr val="F8E9E9"/>
          </a:solidFill>
          <a:ln w="12700">
            <a:solidFill>
              <a:srgbClr val="EB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556248" y="4178808"/>
            <a:ext cx="64008" cy="795528"/>
          </a:xfrm>
          <a:prstGeom prst="rect">
            <a:avLst/>
          </a:prstGeom>
          <a:solidFill>
            <a:srgbClr val="B6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57416" y="4197096"/>
            <a:ext cx="4572000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120" b="1">
                <a:solidFill>
                  <a:srgbClr val="1F2933"/>
                </a:solidFill>
                <a:latin typeface="Noto Sans"/>
              </a:rPr>
              <a:t>POPULATION GLOBAL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57416" y="4544568"/>
            <a:ext cx="4572000" cy="44805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940" b="0">
                <a:solidFill>
                  <a:srgbClr val="1F2933"/>
                </a:solidFill>
                <a:latin typeface="Noto Sans"/>
              </a:rPr>
              <a:t>Redundancy-penalty over-correction：GS × U_d/T_d。
27 次翻 winner：10 corrected · 13 harmed · 4 same correctness。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5431536"/>
            <a:ext cx="4389120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919" b="1">
                <a:solidFill>
                  <a:srgbClr val="6B7780"/>
                </a:solidFill>
                <a:latin typeface="Noto Sans"/>
              </a:rPr>
              <a:t>Mechanism-level failure modes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431536"/>
            <a:ext cx="4389120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919" b="1">
                <a:solidFill>
                  <a:srgbClr val="B65252"/>
                </a:solidFill>
                <a:latin typeface="Noto Sans"/>
              </a:rPr>
              <a:t>Observed population-correction outcomes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" y="5879592"/>
            <a:ext cx="73152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950" b="1">
                <a:solidFill>
                  <a:srgbClr val="2B7A78"/>
                </a:solidFill>
                <a:latin typeface="Noto Sans"/>
              </a:rPr>
              <a:t>結論：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08760" y="5843016"/>
            <a:ext cx="9646920" cy="29260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940" b="0">
                <a:solidFill>
                  <a:srgbClr val="1F2933"/>
                </a:solidFill>
                <a:latin typeface="Noto Sans"/>
              </a:rPr>
              <a:t>同一 908 cases 的 resolver audit 已完成：整體 conflict-only accuracy 最高為 STANDARD 77.0%，但各 dataset 的最佳 resolver 不同。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780" b="0">
                <a:solidFill>
                  <a:srgbClr val="6B7780"/>
                </a:solidFill>
                <a:latin typeface="Noto Sans"/>
              </a:rPr>
              <a:t>Federated LEM2 · Conflict concentration audit · 2026-10-25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/>
            <a:r>
              <a:rPr sz="780" b="0">
                <a:solidFill>
                  <a:srgbClr val="6B7780"/>
                </a:solidFill>
                <a:latin typeface="Noto Sans"/>
              </a:rPr>
              <a:t>30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10896"/>
            <a:ext cx="11018520" cy="43891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2350" b="1">
                <a:solidFill>
                  <a:srgbClr val="1F2933"/>
                </a:solidFill>
                <a:latin typeface="Noto Sans"/>
              </a:rPr>
              <a:t>同一 908 個 Conflict：六種 Resolver 到底誰比較會選對？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85216" y="786384"/>
            <a:ext cx="10972800" cy="310896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200" b="0">
                <a:solidFill>
                  <a:srgbClr val="2B7A78"/>
                </a:solidFill>
                <a:latin typeface="Noto Sans"/>
              </a:rPr>
              <a:t>Conflict-only accuracy；六種方法的分母完全相同 = 908，現在可以直接比較 resolver 本身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58368" y="1344168"/>
            <a:ext cx="6876288" cy="43159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B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627632"/>
            <a:ext cx="2011680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910" b="1">
                <a:solidFill>
                  <a:srgbClr val="1F2933"/>
                </a:solidFill>
                <a:latin typeface="Noto Sans"/>
              </a:rPr>
              <a:t>STANDARD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2816352" y="1645920"/>
            <a:ext cx="3337560" cy="201168"/>
          </a:xfrm>
          <a:prstGeom prst="rect">
            <a:avLst/>
          </a:prstGeom>
          <a:solidFill>
            <a:srgbClr val="EB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816352" y="1645920"/>
            <a:ext cx="2569333" cy="201168"/>
          </a:xfrm>
          <a:prstGeom prst="rect">
            <a:avLst/>
          </a:prstGeom>
          <a:solidFill>
            <a:srgbClr val="2B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27648" y="1600200"/>
            <a:ext cx="96012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/>
            <a:r>
              <a:rPr sz="900" b="1">
                <a:solidFill>
                  <a:srgbClr val="2B7A78"/>
                </a:solidFill>
                <a:latin typeface="Noto Sans"/>
              </a:rPr>
              <a:t>77.0%  (699/908)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49424"/>
            <a:ext cx="2011680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910" b="1">
                <a:solidFill>
                  <a:srgbClr val="1F2933"/>
                </a:solidFill>
                <a:latin typeface="Noto Sans"/>
              </a:rPr>
              <a:t>POPULATION STANDARD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16352" y="2267712"/>
            <a:ext cx="3337560" cy="201168"/>
          </a:xfrm>
          <a:prstGeom prst="rect">
            <a:avLst/>
          </a:prstGeom>
          <a:solidFill>
            <a:srgbClr val="EB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16352" y="2267712"/>
            <a:ext cx="2558305" cy="201168"/>
          </a:xfrm>
          <a:prstGeom prst="rect">
            <a:avLst/>
          </a:prstGeom>
          <a:solidFill>
            <a:srgbClr val="4C8A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27648" y="2221992"/>
            <a:ext cx="96012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/>
            <a:r>
              <a:rPr sz="900" b="1">
                <a:solidFill>
                  <a:srgbClr val="4C8A61"/>
                </a:solidFill>
                <a:latin typeface="Noto Sans"/>
              </a:rPr>
              <a:t>76.7%  (696/908)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2871216"/>
            <a:ext cx="2011680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910" b="1">
                <a:solidFill>
                  <a:srgbClr val="1F2933"/>
                </a:solidFill>
                <a:latin typeface="Noto Sans"/>
              </a:rPr>
              <a:t>GLOBAL STRENGTH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816352" y="2889504"/>
            <a:ext cx="3337560" cy="201168"/>
          </a:xfrm>
          <a:prstGeom prst="rect">
            <a:avLst/>
          </a:prstGeom>
          <a:solidFill>
            <a:srgbClr val="EB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816352" y="2889504"/>
            <a:ext cx="2429655" cy="201168"/>
          </a:xfrm>
          <a:prstGeom prst="rect">
            <a:avLst/>
          </a:prstGeom>
          <a:solidFill>
            <a:srgbClr val="4A78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2843784"/>
            <a:ext cx="96012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/>
            <a:r>
              <a:rPr sz="900" b="1">
                <a:solidFill>
                  <a:srgbClr val="4A78A8"/>
                </a:solidFill>
                <a:latin typeface="Noto Sans"/>
              </a:rPr>
              <a:t>72.8%  (661/908)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3493008"/>
            <a:ext cx="2011680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910" b="1">
                <a:solidFill>
                  <a:srgbClr val="1F2933"/>
                </a:solidFill>
                <a:latin typeface="Noto Sans"/>
              </a:rPr>
              <a:t>POPULATION GLOBAL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16352" y="3511296"/>
            <a:ext cx="3337560" cy="201168"/>
          </a:xfrm>
          <a:prstGeom prst="rect">
            <a:avLst/>
          </a:prstGeom>
          <a:solidFill>
            <a:srgbClr val="EB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16352" y="3511296"/>
            <a:ext cx="2418628" cy="201168"/>
          </a:xfrm>
          <a:prstGeom prst="rect">
            <a:avLst/>
          </a:prstGeom>
          <a:solidFill>
            <a:srgbClr val="A980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27648" y="3465576"/>
            <a:ext cx="96012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/>
            <a:r>
              <a:rPr sz="900" b="1">
                <a:solidFill>
                  <a:srgbClr val="A98025"/>
                </a:solidFill>
                <a:latin typeface="Noto Sans"/>
              </a:rPr>
              <a:t>72.5%  (658/908)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4114800"/>
            <a:ext cx="2011680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910" b="1">
                <a:solidFill>
                  <a:srgbClr val="1F2933"/>
                </a:solidFill>
                <a:latin typeface="Noto Sans"/>
              </a:rPr>
              <a:t>FIRST MATCH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16352" y="4133087"/>
            <a:ext cx="3337560" cy="201168"/>
          </a:xfrm>
          <a:prstGeom prst="rect">
            <a:avLst/>
          </a:prstGeom>
          <a:solidFill>
            <a:srgbClr val="EB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16352" y="4133087"/>
            <a:ext cx="2407601" cy="201168"/>
          </a:xfrm>
          <a:prstGeom prst="rect">
            <a:avLst/>
          </a:prstGeom>
          <a:solidFill>
            <a:srgbClr val="C96A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27648" y="4087368"/>
            <a:ext cx="96012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/>
            <a:r>
              <a:rPr sz="900" b="1">
                <a:solidFill>
                  <a:srgbClr val="C96A3D"/>
                </a:solidFill>
                <a:latin typeface="Noto Sans"/>
              </a:rPr>
              <a:t>72.1%  (655/908)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736592"/>
            <a:ext cx="2011680" cy="25603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910" b="1">
                <a:solidFill>
                  <a:srgbClr val="1F2933"/>
                </a:solidFill>
                <a:latin typeface="Noto Sans"/>
              </a:rPr>
              <a:t>SIMPLE VOTING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816352" y="4754880"/>
            <a:ext cx="3337560" cy="201168"/>
          </a:xfrm>
          <a:prstGeom prst="rect">
            <a:avLst/>
          </a:prstGeom>
          <a:solidFill>
            <a:srgbClr val="EB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816352" y="4754880"/>
            <a:ext cx="2286302" cy="201168"/>
          </a:xfrm>
          <a:prstGeom prst="rect">
            <a:avLst/>
          </a:prstGeom>
          <a:solidFill>
            <a:srgbClr val="6B77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27648" y="4709160"/>
            <a:ext cx="96012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/>
            <a:r>
              <a:rPr sz="900" b="1">
                <a:solidFill>
                  <a:srgbClr val="6B7780"/>
                </a:solidFill>
                <a:latin typeface="Noto Sans"/>
              </a:rPr>
              <a:t>68.5%  (622/908)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790688" y="1344168"/>
            <a:ext cx="3493008" cy="2148840"/>
          </a:xfrm>
          <a:prstGeom prst="roundRect">
            <a:avLst/>
          </a:prstGeom>
          <a:solidFill>
            <a:srgbClr val="E9F0F7"/>
          </a:solidFill>
          <a:ln w="12700">
            <a:solidFill>
              <a:srgbClr val="EB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28431" y="1572768"/>
            <a:ext cx="301752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120" b="1">
                <a:solidFill>
                  <a:srgbClr val="1F2933"/>
                </a:solidFill>
                <a:latin typeface="Noto Sans"/>
              </a:rPr>
              <a:t>Dataset-specific best resolver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2011680"/>
            <a:ext cx="2788920" cy="100584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1010" b="1">
                <a:solidFill>
                  <a:srgbClr val="1F2933"/>
                </a:solidFill>
                <a:latin typeface="Noto Sans"/>
              </a:rPr>
              <a:t>Balance   PS  195/266 = 73.3%
Car       FIRST 486/598 = 81.3%
Hayes     FIRST 36/44 = 81.8%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46720" y="3044952"/>
            <a:ext cx="2971800" cy="22860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980" b="1">
                <a:solidFill>
                  <a:srgbClr val="2B7A78"/>
                </a:solidFill>
                <a:latin typeface="Noto Sans"/>
              </a:rPr>
              <a:t>→ 沒有 universal winner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90688" y="3685032"/>
            <a:ext cx="3493008" cy="1901952"/>
          </a:xfrm>
          <a:prstGeom prst="roundRect">
            <a:avLst/>
          </a:prstGeom>
          <a:solidFill>
            <a:srgbClr val="F8EEE9"/>
          </a:solidFill>
          <a:ln w="12700">
            <a:solidFill>
              <a:srgbClr val="EB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28431" y="3886200"/>
            <a:ext cx="3017520" cy="27432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ctr"/>
            <a:r>
              <a:rPr sz="1080" b="1">
                <a:solidFill>
                  <a:srgbClr val="1F2933"/>
                </a:solidFill>
                <a:latin typeface="Noto Sans"/>
              </a:rPr>
              <a:t>Population correction 的 net effect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4315968"/>
            <a:ext cx="2788920" cy="1097280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919" b="0">
                <a:solidFill>
                  <a:srgbClr val="1F2933"/>
                </a:solidFill>
                <a:latin typeface="Noto Sans"/>
              </a:rPr>
              <a:t>STD → PS
6 corrected vs 9 harmed → net −3 correct
GS → PG
10 corrected vs 13 harmed → net −3 correct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" y="5879592"/>
            <a:ext cx="731520" cy="20116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950" b="1">
                <a:solidFill>
                  <a:srgbClr val="2B7A78"/>
                </a:solidFill>
                <a:latin typeface="Noto Sans"/>
              </a:rPr>
              <a:t>結論：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08760" y="5843016"/>
            <a:ext cx="9646920" cy="292608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940" b="0">
                <a:solidFill>
                  <a:srgbClr val="1F2933"/>
                </a:solidFill>
                <a:latin typeface="Noto Sans"/>
              </a:rPr>
              <a:t>Population correction 的行為符合去重設計，但在目前 frozen experiment 並沒有整體勝過原 Standard / Global baseline。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6519672"/>
            <a:ext cx="9601200" cy="16459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l"/>
            <a:r>
              <a:rPr sz="780" b="0">
                <a:solidFill>
                  <a:srgbClr val="6B7780"/>
                </a:solidFill>
                <a:latin typeface="Noto Sans"/>
              </a:rPr>
              <a:t>Federated LEM2 · Conflict concentration audit · 2026-10-25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155680" y="6519672"/>
            <a:ext cx="365760" cy="164592"/>
          </a:xfrm>
          <a:prstGeom prst="rect">
            <a:avLst/>
          </a:prstGeom>
          <a:noFill/>
        </p:spPr>
        <p:txBody>
          <a:bodyPr wrap="square" anchor="t" lIns="27432" rIns="27432" tIns="18288" bIns="18288">
            <a:spAutoFit/>
          </a:bodyPr>
          <a:lstStyle/>
          <a:p>
            <a:pPr algn="r"/>
            <a:r>
              <a:rPr sz="780" b="0">
                <a:solidFill>
                  <a:srgbClr val="6B7780"/>
                </a:solidFill>
                <a:latin typeface="Noto Sans"/>
              </a:rPr>
              <a:t>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