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780"/>
                </a:solidFill>
                <a:latin typeface="Aptos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7899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ptos"/>
              </a:rPr>
              <a:t>Federated LEM2：Rule Conflict、Population Correction
與 Redundancy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240280"/>
            <a:ext cx="105156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50" b="0">
                <a:solidFill>
                  <a:srgbClr val="2B7A78"/>
                </a:solidFill>
                <a:latin typeface="Aptos"/>
              </a:rPr>
              <a:t>Federated LEM2 中，client fragmentation 如何透過 rule structure、support redundancy 與 conflict，改變 prediction policy 的結果？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977639"/>
            <a:ext cx="1554480" cy="38404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78224"/>
            <a:ext cx="146303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ptos"/>
              </a:rPr>
              <a:t>Client Fragmentation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51176" y="3977639"/>
            <a:ext cx="1353312" cy="38404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6896" y="4078224"/>
            <a:ext cx="12618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ptos"/>
              </a:rPr>
              <a:t>Rule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15384" y="3977639"/>
            <a:ext cx="1353312" cy="38404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4078224"/>
            <a:ext cx="12618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ptos"/>
              </a:rPr>
              <a:t>Conflict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9592" y="3977639"/>
            <a:ext cx="1353312" cy="384048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25312" y="4078224"/>
            <a:ext cx="12618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ptos"/>
              </a:rPr>
              <a:t>Support Redundancy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977639"/>
            <a:ext cx="1353312" cy="38404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078224"/>
            <a:ext cx="12618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ptos"/>
              </a:rPr>
              <a:t>Redundancy Asymmetry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08008" y="3977639"/>
            <a:ext cx="1353312" cy="38404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4078224"/>
            <a:ext cx="12618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ptos"/>
              </a:rPr>
              <a:t>Prediction Policy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72216" y="3977639"/>
            <a:ext cx="1353312" cy="384048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17936" y="4078224"/>
            <a:ext cx="12618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ptos"/>
              </a:rP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103327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3"/>
                </a:solidFill>
                <a:latin typeface="Aptos"/>
              </a:rPr>
              <a:t>本輪新增：6-policy experiment · 15 target backtrace · 908 conflict occurrences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58384"/>
            <a:ext cx="10332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780"/>
                </a:solidFill>
                <a:latin typeface="Aptos"/>
              </a:rPr>
              <a:t>PR #5 維持 Draft / Open / Not merged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這次更新了什麼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從「四種 policy 比較」往下挖到 population-level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33172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39"/>
            <a:ext cx="2148839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4A78A8"/>
                </a:solidFill>
                <a:latin typeface="Aptos"/>
              </a:rPr>
              <a:t>80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21991"/>
            <a:ext cx="2057400" cy="612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20% holdout 不參與 reduct / LEM2 / support / weight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08760"/>
            <a:ext cx="2331720" cy="141732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691639"/>
            <a:ext cx="2148839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4C8A61"/>
                </a:solidFill>
                <a:latin typeface="Apto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2221991"/>
            <a:ext cx="2057400" cy="612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4 baseline + 2 population variants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508760"/>
            <a:ext cx="2331720" cy="141732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79" y="1691639"/>
            <a:ext cx="2148839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C96A3D"/>
                </a:solidFill>
                <a:latin typeface="Aptos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21991"/>
            <a:ext cx="2057400" cy="612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三個資料集各 5 個 target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508760"/>
            <a:ext cx="2331720" cy="141732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691639"/>
            <a:ext cx="2148839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B65252"/>
                </a:solidFill>
                <a:latin typeface="Aptos"/>
              </a:rPr>
              <a:t>908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221991"/>
            <a:ext cx="2057400" cy="612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C=2~5 的全部 conflict occurrences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37560"/>
            <a:ext cx="5120640" cy="173736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3465576"/>
            <a:ext cx="54864" cy="1481328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483864"/>
            <a:ext cx="46634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新增核心量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3867911"/>
            <a:ext cx="461772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T_d = support occurrences
U_d = unique supporting population
P_d = U_d / T_d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337560"/>
            <a:ext cx="4663440" cy="173736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73368" y="3465576"/>
            <a:ext cx="54864" cy="148132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4536" y="3483864"/>
            <a:ext cx="4206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研究焦點改變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3867911"/>
            <a:ext cx="416052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Aptos"/>
              </a:rPr>
              <a:t>不是再加更多 voting，而是回答：
「同一批 population 被多條 rule 重複計價時，何時修正有效？何時會 over-correct？」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研究問題已從 policy ranking 收斂到 support redundancy 與 redundancy asymmetry。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六種方法共用同一個 frozen artifact，只在最後 prediction layer 分岔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920240"/>
            <a:ext cx="1325880" cy="123444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2139696"/>
            <a:ext cx="117957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ptos"/>
              </a:rPr>
              <a:t>Decision
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697480"/>
            <a:ext cx="1179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F2933"/>
                </a:solidFill>
                <a:latin typeface="Aptos"/>
              </a:rPr>
              <a:t>attrs + decision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47672" y="2532888"/>
            <a:ext cx="210312" cy="0"/>
          </a:xfrm>
          <a:prstGeom prst="line">
            <a:avLst/>
          </a:prstGeom>
          <a:ln w="19050">
            <a:solidFill>
              <a:srgbClr val="AAB4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12848" y="1920240"/>
            <a:ext cx="1325880" cy="123444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39696"/>
            <a:ext cx="117957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ptos"/>
              </a:rPr>
              <a:t>80/20
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97480"/>
            <a:ext cx="1179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F2933"/>
                </a:solidFill>
                <a:latin typeface="Aptos"/>
              </a:rPr>
              <a:t>20% untouched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6160" y="2532888"/>
            <a:ext cx="201168" cy="0"/>
          </a:xfrm>
          <a:prstGeom prst="line">
            <a:avLst/>
          </a:prstGeom>
          <a:ln w="19050">
            <a:solidFill>
              <a:srgbClr val="AAB4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22191" y="1920240"/>
            <a:ext cx="1325880" cy="12344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2139696"/>
            <a:ext cx="117957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ptos"/>
              </a:rPr>
              <a:t>Client
Partition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2697480"/>
            <a:ext cx="1179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F2933"/>
                </a:solidFill>
                <a:latin typeface="Aptos"/>
              </a:rPr>
              <a:t>C=2,3,4,5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75504" y="2532888"/>
            <a:ext cx="210312" cy="0"/>
          </a:xfrm>
          <a:prstGeom prst="line">
            <a:avLst/>
          </a:prstGeom>
          <a:ln w="19050">
            <a:solidFill>
              <a:srgbClr val="AAB4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1920240"/>
            <a:ext cx="1325880" cy="123444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3832" y="2139696"/>
            <a:ext cx="117957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ptos"/>
              </a:rPr>
              <a:t>Local
LEM2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832" y="2697480"/>
            <a:ext cx="1179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F2933"/>
                </a:solidFill>
                <a:latin typeface="Aptos"/>
              </a:rPr>
              <a:t>local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93992" y="2532888"/>
            <a:ext cx="210312" cy="0"/>
          </a:xfrm>
          <a:prstGeom prst="line">
            <a:avLst/>
          </a:prstGeom>
          <a:ln w="19050">
            <a:solidFill>
              <a:srgbClr val="AAB4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59168" y="1920240"/>
            <a:ext cx="1325880" cy="12344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139696"/>
            <a:ext cx="117957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ptos"/>
              </a:rPr>
              <a:t>UNION
Aggregation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697480"/>
            <a:ext cx="1179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F2933"/>
                </a:solidFill>
                <a:latin typeface="Aptos"/>
              </a:rPr>
              <a:t>R_G=∪R_c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532888"/>
            <a:ext cx="210312" cy="0"/>
          </a:xfrm>
          <a:prstGeom prst="line">
            <a:avLst/>
          </a:prstGeom>
          <a:ln w="19050">
            <a:solidFill>
              <a:srgbClr val="AAB4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77656" y="1920240"/>
            <a:ext cx="1325880" cy="12344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0808" y="2139696"/>
            <a:ext cx="117957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ptos"/>
              </a:rPr>
              <a:t>Conflict
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8" y="2697480"/>
            <a:ext cx="1179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F2933"/>
                </a:solidFill>
                <a:latin typeface="Aptos"/>
              </a:rPr>
              <a:t>prediction-time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30968" y="2532888"/>
            <a:ext cx="137160" cy="0"/>
          </a:xfrm>
          <a:prstGeom prst="line">
            <a:avLst/>
          </a:prstGeom>
          <a:ln w="19050">
            <a:solidFill>
              <a:srgbClr val="AAB4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222992" y="1920240"/>
            <a:ext cx="1325880" cy="12344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96144" y="2139696"/>
            <a:ext cx="117957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ptos"/>
              </a:rPr>
              <a:t>6 Policies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96144" y="2697480"/>
            <a:ext cx="117957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F2933"/>
                </a:solidFill>
                <a:latin typeface="Aptos"/>
              </a:rPr>
              <a:t>same test set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703320"/>
            <a:ext cx="324612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" y="3831335"/>
            <a:ext cx="54864" cy="116128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136" y="3849624"/>
            <a:ext cx="27889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Training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" y="4233672"/>
            <a:ext cx="27432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F2933"/>
                </a:solidFill>
                <a:latin typeface="Aptos"/>
              </a:rPr>
              <a:t>reduct · discretisation · local LEM2 · support · weights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3703320"/>
            <a:ext cx="3246120" cy="141732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53128" y="3831335"/>
            <a:ext cx="54864" cy="1161288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4296" y="3849624"/>
            <a:ext cx="27889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Aggregation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54296" y="4233672"/>
            <a:ext cx="27432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F2933"/>
                </a:solidFill>
                <a:latin typeface="Aptos"/>
              </a:rPr>
              <a:t>UNION 保留 antecedent + decision identity；不處理 conflict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09560" y="3703320"/>
            <a:ext cx="3246120" cy="141732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9288" y="3831335"/>
            <a:ext cx="54864" cy="1161288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0456" y="3849624"/>
            <a:ext cx="27889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Holdout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0456" y="4233672"/>
            <a:ext cx="27432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Aptos"/>
              </a:rPr>
              <a:t>prediction · Accuracy · Recall · F1 · BA · Overall / Target Coverage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C 是外層實驗因素；UNION 只做 aggregation；conflict resolution 發生在 prediction policy。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Conflict：先分 Candidate Generation，再分 Candidate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有些錯誤不是 voting 問題，而是 true class 根本沒有 matching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47548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2933"/>
                </a:solidFill>
                <a:latin typeface="Aptos"/>
              </a:rPr>
              <a:t>M(x) = { r ∈ R_G : x matches Ante(r)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56692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96A3D"/>
                </a:solidFill>
                <a:latin typeface="Aptos"/>
              </a:rPr>
              <a:t>C_conflict = { x : |{ d_r : r ∈ M(x) }| &gt; 1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4800600" cy="20574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2871216"/>
            <a:ext cx="54864" cy="180136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889504"/>
            <a:ext cx="43434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Layer A · Candidate Generation /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3273552"/>
            <a:ext cx="429768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Aptos"/>
              </a:rPr>
              <a:t>true class 是否至少有一條 matching rule？
若 true class 不在 candidate decisions 中，任何 voting / population weighting 都救不了。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743200"/>
            <a:ext cx="4800600" cy="205740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9048" y="2871216"/>
            <a:ext cx="54864" cy="1801368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889504"/>
            <a:ext cx="43434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Layer B · Candidate Ranking / Conflict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273552"/>
            <a:ext cx="429768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Aptos"/>
              </a:rPr>
              <a:t>多個 candidate decisions 同時存在時，哪個應該贏？
六種 prediction methods 的差異只發生在這一層。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先區分「沒有正確 candidate」與「candidate 排序錯」，才能知道該修 induction 還是 scoring。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四個既有 Prediction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四個 baseline 使用四種不同層次的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195560" cy="86868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545336"/>
            <a:ext cx="54864" cy="612647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563624"/>
            <a:ext cx="97383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FIRST_MATCH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1947672"/>
            <a:ext cx="96926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F2933"/>
                </a:solidFill>
                <a:latin typeface="Aptos"/>
              </a:rPr>
              <a:t>Order · 第一條 matching rule 決定答案 · Woźniak et al. (2026)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96312"/>
            <a:ext cx="10195560" cy="868680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2624328"/>
            <a:ext cx="54864" cy="612647"/>
          </a:xfrm>
          <a:prstGeom prst="rect">
            <a:avLst/>
          </a:prstGeom>
          <a:solidFill>
            <a:srgbClr val="A98025"/>
          </a:solidFill>
          <a:ln>
            <a:solidFill>
              <a:srgbClr val="A98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642616"/>
            <a:ext cx="97383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SIMPLE_VOTING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26664"/>
            <a:ext cx="96926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F2933"/>
                </a:solidFill>
                <a:latin typeface="Aptos"/>
              </a:rPr>
              <a:t>Rule Count · one matching rule = one vote · Lazo-Cortés et al. (2020)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75304"/>
            <a:ext cx="10195560" cy="86868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" y="3703320"/>
            <a:ext cx="54864" cy="612647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721608"/>
            <a:ext cx="97383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STANDARD_VOTING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4105656"/>
            <a:ext cx="96926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F2933"/>
                </a:solidFill>
                <a:latin typeface="Aptos"/>
              </a:rPr>
              <a:t>Support Sum · Σ |S(r)| · support overlap 會重複計數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54296"/>
            <a:ext cx="10195560" cy="86868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" y="4782312"/>
            <a:ext cx="54864" cy="612647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800600"/>
            <a:ext cx="97383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GLOBAL_STRENGTH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5184648"/>
            <a:ext cx="96926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F2933"/>
                </a:solidFill>
                <a:latin typeface="Aptos"/>
              </a:rPr>
              <a:t>Unique Coverage · |∪S(r)| / N_d · Bazan et al. (2000)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B7A78"/>
                </a:solidFill>
                <a:latin typeface="Aptos"/>
              </a:rPr>
              <a:t>Order  →  Rule Count  →  Rule Support Sum  →  Unique Class Coverage Ratio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為什麼 Standard 會「重複放大」support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同一 training object 若被多條 same-decision rules cover，會被重複加進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017520" cy="224028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545336"/>
            <a:ext cx="54864" cy="1984248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563624"/>
            <a:ext cx="25603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Matching rules for class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1947672"/>
            <a:ext cx="251460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Aptos"/>
              </a:rPr>
              <a:t>r1 → A : {u1, u2, u3}
r2 → A : {u2, u3, u4}
u2、u3 同時支持 r1 與 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17320"/>
            <a:ext cx="3017520" cy="224028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0248" y="1545336"/>
            <a:ext cx="54864" cy="198424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563624"/>
            <a:ext cx="25603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STANDARD_VOTING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947672"/>
            <a:ext cx="251460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F2933"/>
                </a:solidFill>
                <a:latin typeface="Aptos"/>
              </a:rPr>
              <a:t>|S(r1)| = 3
|S(r2)| = 3
Score_STD(A|x) = 3 + 3 =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017520" cy="224028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53527" y="1545336"/>
            <a:ext cx="54864" cy="1984248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4696" y="1563624"/>
            <a:ext cx="25603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Unique population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1947672"/>
            <a:ext cx="251460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Aptos"/>
              </a:rPr>
              <a:t>S(r1) ∪ S(r2) = {u1,u2,u3,u4}
真正不同的 supporting objects =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0584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B65252"/>
                </a:solidFill>
                <a:latin typeface="Aptos"/>
              </a:rPr>
              <a:t>重複量 = T_A - U_A = 6 - 4 =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00600"/>
            <a:ext cx="96926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0">
                <a:solidFill>
                  <a:srgbClr val="1F2933"/>
                </a:solidFill>
                <a:latin typeface="Aptos"/>
              </a:rPr>
              <a:t>問題不是「support 大不大」，而是「support occurrences 中有多少其實是同一批 population 重複出現」。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Standard 以 rule 為加總單位，因此 support overlap 會造成 evidence inflation。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Population Correction：T / U /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兩個方法是 project-defined experimental variants，不宣稱來自既有文獻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154680" cy="150876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545336"/>
            <a:ext cx="54864" cy="125272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1563624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T_d · Support Occurrences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1947672"/>
            <a:ext cx="265176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T_d = Σ |S_G(r)|
保留每一條 rule 的 raw support 次數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17320"/>
            <a:ext cx="3154680" cy="150876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24528" y="1545336"/>
            <a:ext cx="54864" cy="1252728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563624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U_d · Unique 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1947672"/>
            <a:ext cx="265176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U_d = | ∪ S_G(r) |
同一 training object 只算一次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417320"/>
            <a:ext cx="3154680" cy="150876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07807" y="1545336"/>
            <a:ext cx="54864" cy="1252728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8975" y="1563624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P_d · Nonredundancy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1947672"/>
            <a:ext cx="265176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P_d = U_d / T_d
例：4 / 6 = 2 /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429000"/>
            <a:ext cx="4480560" cy="14630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7007" y="3557016"/>
            <a:ext cx="54864" cy="1207008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8176" y="3575304"/>
            <a:ext cx="40233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POPULATION_STANDARD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959352"/>
            <a:ext cx="397764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Score_PS(d|x) = U_d
把 Standard 的 duplicate support inflation 直接去重。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4480560" cy="14630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557016"/>
            <a:ext cx="54864" cy="120700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3575304"/>
            <a:ext cx="40233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POPULATION_GLOBAL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959352"/>
            <a:ext cx="397764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Score_PG(d|x) = (U_d / N_d) × (U_d / T_d)
= U_d² / (N_d T_d)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Population correction 的目的不是保證更準，而是降低同一批 population 被多條 rule 重複計價的影響。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三個 UCI datasets × 四個 client counts × 六種 methods = 72 組 holdout 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583680" cy="214884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545336"/>
            <a:ext cx="54864" cy="1892808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1563624"/>
            <a:ext cx="6126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Dataset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1947672"/>
            <a:ext cx="608076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Aptos"/>
              </a:rPr>
              <a:t>Hayes-Roth: 132 rows · 4 attrs · 3 classes · 106/26
Car Evaluation: 1,728 · 6 attrs · 4 classes · 1,382/346
Balance Scale: 625 · 4 attrs · 3 classes · 499/126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17320"/>
            <a:ext cx="1508760" cy="132588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600200"/>
            <a:ext cx="13258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2B7A78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30552"/>
            <a:ext cx="1234439" cy="52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C = 2,3,4,5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1417320"/>
            <a:ext cx="1508760" cy="132588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1600200"/>
            <a:ext cx="13258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4C8A61"/>
                </a:solidFill>
                <a:latin typeface="Aptos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130552"/>
            <a:ext cx="1234439" cy="52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Prediction methods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926080"/>
            <a:ext cx="3154680" cy="132588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3108960"/>
            <a:ext cx="29718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C96A3D"/>
                </a:solidFill>
                <a:latin typeface="Aptos"/>
              </a:rPr>
              <a:t>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639312"/>
            <a:ext cx="2880360" cy="52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dataset × C × method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80"/>
            <a:ext cx="4937760" cy="123444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" y="4197096"/>
            <a:ext cx="54864" cy="978408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215384"/>
            <a:ext cx="44805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固定比較條件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4599432"/>
            <a:ext cx="44348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Aptos"/>
              </a:rPr>
              <a:t>同一 dataset · 同一 seed42 split · 同一 client partition · 同一 frozen rule artifact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069080"/>
            <a:ext cx="4846320" cy="123444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4197096"/>
            <a:ext cx="54864" cy="978408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4215384"/>
            <a:ext cx="43891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最後只看 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599432"/>
            <a:ext cx="43434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F2933"/>
                </a:solidFill>
                <a:latin typeface="Aptos"/>
              </a:rPr>
              <a:t>Accuracy · Recall · Macro-F1 · BA · Overall Coverage · Target Coverage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六種方法的差異不來自資料切法，而是同一 conflict evidence 的 scoring semantics。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Six-Policy Results：沒有 Universal Winner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Population correction 在部分設定改善，但不是全面性 accuracy upgrade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520440" cy="35204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53895"/>
            <a:ext cx="54864" cy="3264408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472184"/>
            <a:ext cx="3063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Hayes-Roth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1856231"/>
            <a:ext cx="3017520" cy="2880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30" b="0">
                <a:solidFill>
                  <a:srgbClr val="1F2933"/>
                </a:solidFill>
                <a:latin typeface="Aptos"/>
              </a:rPr>
              <a:t>C2：多方法並列 0.7667
C3：FIRST_MATCH 0.8333
C4：FIRST_MATCH 0.7778
C5：FIRST_MATCH 0.8333
PG C5 = 0.6333，較 GS 0.7333 明顯下降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35204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53128" y="1453895"/>
            <a:ext cx="54864" cy="3264408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472184"/>
            <a:ext cx="3063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Car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1856231"/>
            <a:ext cx="3017520" cy="2880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30" b="0">
                <a:solidFill>
                  <a:srgbClr val="1F2933"/>
                </a:solidFill>
                <a:latin typeface="Aptos"/>
              </a:rPr>
              <a:t>C2：GLOBAL / PG = 0.7174
C3：PG = 0.8005 最佳
C4：GLOBAL = 0.6832
C5：PG = 0.6338 最佳
Population Global 在 C3、C5 有正向改善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520440" cy="352044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0727" y="1453895"/>
            <a:ext cx="54864" cy="326440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1472184"/>
            <a:ext cx="3063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Balance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1856231"/>
            <a:ext cx="3017520" cy="2880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30" b="0">
                <a:solidFill>
                  <a:srgbClr val="1F2933"/>
                </a:solidFill>
                <a:latin typeface="Aptos"/>
              </a:rPr>
              <a:t>C2：PS = 0.5632 最佳
C3：STD / PS = 0.5862
C4：STD / PS = 0.5977
C5：GS / PG = 0.5908
Population Standard 在部分設定改善或打平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Population correction 是條件式修正；效果取決於 competing decisions 的 support redundancy 結構。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Target Backtrace：從整體分數回到單筆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三個資料集各挑 5 個代表性 holdout cases，另外再掃全部 conflict cases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508760"/>
            <a:ext cx="685800" cy="685800"/>
          </a:xfrm>
          <a:prstGeom prst="ellipse">
            <a:avLst/>
          </a:prstGeom>
          <a:solidFill>
            <a:srgbClr val="E7F2F1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B7A78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1F2933"/>
                </a:solidFill>
                <a:latin typeface="Aptos"/>
              </a:rPr>
              <a:t>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79776"/>
            <a:ext cx="1783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B7780"/>
                </a:solidFill>
                <a:latin typeface="Aptos"/>
              </a:rPr>
              <a:t>保留因素值</a:t>
            </a:r>
          </a:p>
        </p:txBody>
      </p:sp>
      <p:sp>
        <p:nvSpPr>
          <p:cNvPr id="8" name="Oval 7"/>
          <p:cNvSpPr/>
          <p:nvPr/>
        </p:nvSpPr>
        <p:spPr>
          <a:xfrm>
            <a:off x="3611880" y="1508760"/>
            <a:ext cx="685800" cy="685800"/>
          </a:xfrm>
          <a:prstGeom prst="ellipse">
            <a:avLst/>
          </a:prstGeom>
          <a:solidFill>
            <a:srgbClr val="E7F2F1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B7A78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95728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1F2933"/>
                </a:solidFill>
                <a:latin typeface="Aptos"/>
              </a:rPr>
              <a:t>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79776"/>
            <a:ext cx="1783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B7780"/>
                </a:solidFill>
                <a:latin typeface="Aptos"/>
              </a:rPr>
              <a:t>列 matching rules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0" y="1508760"/>
            <a:ext cx="685800" cy="685800"/>
          </a:xfrm>
          <a:prstGeom prst="ellipse">
            <a:avLst/>
          </a:prstGeom>
          <a:solidFill>
            <a:srgbClr val="E7F2F1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691640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B7A78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395728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1F2933"/>
                </a:solidFill>
                <a:latin typeface="Aptos"/>
              </a:rPr>
              <a:t>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779776"/>
            <a:ext cx="1783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B7780"/>
                </a:solidFill>
                <a:latin typeface="Aptos"/>
              </a:rPr>
              <a:t>分 candidate decision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1508760"/>
            <a:ext cx="685800" cy="685800"/>
          </a:xfrm>
          <a:prstGeom prst="ellipse">
            <a:avLst/>
          </a:prstGeom>
          <a:solidFill>
            <a:srgbClr val="F8EAE3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691640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C96A3D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395728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1F2933"/>
                </a:solidFill>
                <a:latin typeface="Aptos"/>
              </a:rPr>
              <a:t>T / U / 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779776"/>
            <a:ext cx="1783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B7780"/>
                </a:solidFill>
                <a:latin typeface="Aptos"/>
              </a:rPr>
              <a:t>回查 redundancy</a:t>
            </a:r>
          </a:p>
        </p:txBody>
      </p:sp>
      <p:sp>
        <p:nvSpPr>
          <p:cNvPr id="20" name="Oval 19"/>
          <p:cNvSpPr/>
          <p:nvPr/>
        </p:nvSpPr>
        <p:spPr>
          <a:xfrm>
            <a:off x="10332720" y="1508760"/>
            <a:ext cx="685800" cy="685800"/>
          </a:xfrm>
          <a:prstGeom prst="ellipse">
            <a:avLst/>
          </a:prstGeom>
          <a:solidFill>
            <a:srgbClr val="F8EAE3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1691640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C96A3D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395728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1F2933"/>
                </a:solidFill>
                <a:latin typeface="Aptos"/>
              </a:rPr>
              <a:t>6 Predictions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779776"/>
            <a:ext cx="1783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B7780"/>
                </a:solidFill>
                <a:latin typeface="Aptos"/>
              </a:rPr>
              <a:t>比較 winner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160520"/>
            <a:ext cx="2468880" cy="11430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4343400"/>
            <a:ext cx="22860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4A78A8"/>
                </a:solidFill>
                <a:latin typeface="Aptos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873752"/>
            <a:ext cx="219456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selected target cases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4160520"/>
            <a:ext cx="2468880" cy="114300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343400"/>
            <a:ext cx="22860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C96A3D"/>
                </a:solidFill>
                <a:latin typeface="Aptos"/>
              </a:rPr>
              <a:t>908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873752"/>
            <a:ext cx="219456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all conflict occurrences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4160520"/>
            <a:ext cx="2468880" cy="114300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343400"/>
            <a:ext cx="22860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B65252"/>
                </a:solidFill>
                <a:latin typeface="Aptos"/>
              </a:rPr>
              <a:t>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873752"/>
            <a:ext cx="219456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winner changes from PS + PG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目標不是再追一個更高 BA，而是解釋「為什麼這一筆被修正、另一筆被修壞」。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Balance Scale：同一去重機制，可以救對也可以修壞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關鍵不是 redundancy 是否存在，而是 redundancy 落在正確 decision 還是錯誤 competitor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74920" cy="32918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545336"/>
            <a:ext cx="54864" cy="3035808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1563624"/>
            <a:ext cx="4617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Target 1 · CORRECTED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1947672"/>
            <a:ext cx="4572000" cy="2651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True = R
Standard：L=19 &gt; R=18 → 錯
L：T=19, U=16
R：T=18, U=18
PS：L=16 &lt; R=18 → 正確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074920" cy="32918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1928" y="1545336"/>
            <a:ext cx="54864" cy="303580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1563624"/>
            <a:ext cx="4617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Target 3 · HARMED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947672"/>
            <a:ext cx="4572000" cy="2651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True = L
Standard：L=21 &gt; R=19 → 正確
L：T=21, U=17
R：T=19, U=19
PS：L=17 &lt; R=19 → 錯誤 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重複 evidence 不等於錯誤 evidence；若 true decision 本身高度重複，Population correction 可能 over-correct。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Car Evaluation：最清楚的成功與 Over-correction 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Population correction 會重新排序 candidate decisions，而不是增加新的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520440" cy="3749039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53895"/>
            <a:ext cx="54864" cy="3493007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472184"/>
            <a:ext cx="3063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Target 1 · PS CORRECTED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1856231"/>
            <a:ext cx="3017520" cy="31089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1F2933"/>
                </a:solidFill>
                <a:latin typeface="Aptos"/>
              </a:rPr>
              <a:t>True = vgood
Standard：good=9，vgood=9
good：T=9, U=7
vgood：T=9, U=9
PS：good=7 &lt; vgood=9
→ 修成 vgood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3749039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53128" y="1453895"/>
            <a:ext cx="54864" cy="3493007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472184"/>
            <a:ext cx="3063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Target 2 · PG CORRECTED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1856231"/>
            <a:ext cx="3017520" cy="31089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1F2933"/>
                </a:solidFill>
                <a:latin typeface="Aptos"/>
              </a:rPr>
              <a:t>True = good
GS(acc)=0.1140 &gt; GS(good)=0.0909
acc：T=50, U=35, P=0.70
PG(acc)=0.0798
PG(good)=0.0909
→ acc 改判 good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520440" cy="3749039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0727" y="1453895"/>
            <a:ext cx="54864" cy="3493007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1472184"/>
            <a:ext cx="3063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Target 4 · PG HARMED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1856231"/>
            <a:ext cx="3017520" cy="31089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1F2933"/>
                </a:solidFill>
                <a:latin typeface="Aptos"/>
              </a:rPr>
              <a:t>True = acc
GS(acc)=0.1270 &gt; GS(unacc)=0.1095
acc：T=67, U=39, P=0.5821
PG(acc)=0.0739
→ 被 unacc 反超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如果 repeated support 本來就是有效證據，Population penalty 就可能造成 over-correction。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Hayes-Roth：小樣本下的 Over-correction 風險最明顯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重要反例：不能把 Population 方法包裝成 universal improvement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4937760" cy="210312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591056"/>
            <a:ext cx="54864" cy="1847087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09344"/>
            <a:ext cx="44805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Target 1 · PS 成功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1993392"/>
            <a:ext cx="4434840" cy="1463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True = class 3
錯誤 class 1：T=10 → U=7
真實 class 3：T=9 → U=9
PS：7 &lt; 9 → 修正成功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463040"/>
            <a:ext cx="4937760" cy="210312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0488" y="1591056"/>
            <a:ext cx="54864" cy="1847087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6" y="1609344"/>
            <a:ext cx="44805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Target 2 · PS 修壞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1993392"/>
            <a:ext cx="4434840" cy="14630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True = class 1
真實 class 1：T=15 → U=8
class 2：T=9 → U=9
PS：8 &lt; 9 → 原正確結果被翻掉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4069080"/>
            <a:ext cx="2926080" cy="105156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251960"/>
            <a:ext cx="27432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B65252"/>
                </a:solidFill>
                <a:latin typeface="Aptos"/>
              </a:rPr>
              <a:t>-10.0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782312"/>
            <a:ext cx="2651760" cy="246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Hayes C5：GS 0.7333 → PG 0.6333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3977639"/>
            <a:ext cx="5943600" cy="12344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0328" y="4105655"/>
            <a:ext cx="54864" cy="978408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4123944"/>
            <a:ext cx="54864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目前只能形成機制假說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6" y="4507992"/>
            <a:ext cx="5440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40" b="0">
                <a:solidFill>
                  <a:srgbClr val="1F2933"/>
                </a:solidFill>
                <a:latin typeface="Aptos"/>
              </a:rPr>
              <a:t>small local sample + high overlap 可能讓 redundancy penalty 過度懲罰有效 support；需要 repeated seeds / splits 才能正式驗證。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方法行為合理，不代表方法在每個資料條件下都會提升 performance。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有些 Case 根本不是 Scoring 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若 true class 沒有 matching rule，六種方法都只是在錯誤 candidates 中重新排序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4892040" cy="219456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545336"/>
            <a:ext cx="54864" cy="193852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563624"/>
            <a:ext cx="44348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Balance Target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1947672"/>
            <a:ext cx="4389120" cy="155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True = B
Candidate decisions = {L, R}
B 不在 matching-rule decisions 中。
PG 即使把 R 改成 L，兩者仍都不是 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17320"/>
            <a:ext cx="4892040" cy="219456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4768" y="1545336"/>
            <a:ext cx="54864" cy="1938528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563624"/>
            <a:ext cx="44348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Car Target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1947672"/>
            <a:ext cx="4389120" cy="155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True = good
Candidate decisions = {acc, vgood}
good 沒有 matching rule。
Population correction 只能換錯誤 winner。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60520"/>
            <a:ext cx="38404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4A78A8"/>
                </a:solidFill>
                <a:latin typeface="Aptos"/>
              </a:rPr>
              <a:t>Coverage / Induction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4133087"/>
            <a:ext cx="4572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6B7780"/>
                </a:solidFill>
                <a:latin typeface="Aptos"/>
              </a:rPr>
              <a:t>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38404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C96A3D"/>
                </a:solidFill>
                <a:latin typeface="Aptos"/>
              </a:rPr>
              <a:t>Conflict Ranking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0">
                <a:solidFill>
                  <a:srgbClr val="1F2933"/>
                </a:solidFill>
                <a:latin typeface="Aptos"/>
              </a:rPr>
              <a:t>Target Coverage 看「有沒有 rule 能處理該 class」；Recall 才看「最後有沒有判對」。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先把 candidate generation 與 candidate ranking 拆開，才能避免把所有錯誤都歸咎於 voting。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908 個 Conflict Occurrences：Population 只改少數 Borderline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大部分 conflict cases 的 winner 沒變；真正變動集中在 redundancy 足以翻轉排序的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7406640" cy="365760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53895"/>
            <a:ext cx="54864" cy="3401568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472184"/>
            <a:ext cx="69494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Status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1856231"/>
            <a:ext cx="690372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10" b="0">
                <a:solidFill>
                  <a:srgbClr val="1F2933"/>
                </a:solidFill>
                <a:latin typeface="Aptos"/>
              </a:rPr>
              <a:t>Balance · PS：Corrected 3 / Harmed 1 / Other 1 / Unchanged 261
Balance · PG：Corrected 3 / Harmed 3 / Other 3 / Unchanged 257
Car · PS：Corrected 2 / Harmed 4 / Unchanged 592
Car · PG：Corrected 7 / Harmed 6 / Other 1 / Unchanged 584
Hayes · PS：Corrected 1 / Harmed 4 / Unchanged 39
Hayes · PG：Corrected 0 / Harmed 4 / Unchanged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463040"/>
            <a:ext cx="2194560" cy="12344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645920"/>
            <a:ext cx="2011679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C96A3D"/>
                </a:solidFill>
                <a:latin typeface="Aptos"/>
              </a:rPr>
              <a:t>908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76272"/>
            <a:ext cx="1920240" cy="4297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conflict occurrences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880360"/>
            <a:ext cx="2194560" cy="12344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2011679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B65252"/>
                </a:solidFill>
                <a:latin typeface="Aptos"/>
              </a:rPr>
              <a:t>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593591"/>
            <a:ext cx="1920240" cy="4297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winner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389120"/>
            <a:ext cx="201168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Aptos"/>
              </a:rPr>
              <a:t>PS changed = 16
PG changed = 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Population correction 不會重洗全部 conflict；它只影響少數 scoring margin 接近的 cases。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最重要的 Mechanism Check：43 /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所有被 Population correction 改變的 winner，都往 support redundancy 較低的 decision 移動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417320"/>
            <a:ext cx="3657600" cy="18288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347472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4C8A61"/>
                </a:solidFill>
                <a:latin typeface="Aptos"/>
              </a:rPr>
              <a:t>43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30552"/>
            <a:ext cx="3383280" cy="10241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Aptos"/>
              </a:rPr>
              <a:t>changed winners → lower-redundancy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417320"/>
            <a:ext cx="5715000" cy="182880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3208" y="1545336"/>
            <a:ext cx="54864" cy="1572768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94376" y="1563624"/>
            <a:ext cx="52578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這證明了什麼？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94376" y="1947672"/>
            <a:ext cx="521208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Population correction 確實降低重複 evidence 的 scoring influence。
但它只證明「在做去重」，不代表「去重一定提升真實分類」。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49039"/>
            <a:ext cx="3063240" cy="118872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968" y="3877055"/>
            <a:ext cx="54864" cy="932688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895344"/>
            <a:ext cx="26060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成功修正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4279392"/>
            <a:ext cx="25603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Aptos"/>
              </a:rPr>
              <a:t>錯誤 competitor redundancy 高於 true 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749039"/>
            <a:ext cx="3063240" cy="118872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81728" y="3877055"/>
            <a:ext cx="54864" cy="93268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3895344"/>
            <a:ext cx="26060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Over-correction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4279392"/>
            <a:ext cx="25603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Aptos"/>
              </a:rPr>
              <a:t>true decision 自己的有效 evidence 更重複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3749039"/>
            <a:ext cx="3063240" cy="118872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76488" y="3877055"/>
            <a:ext cx="54864" cy="93268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77656" y="3895344"/>
            <a:ext cx="26060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Coverage 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6" y="4279392"/>
            <a:ext cx="25603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Aptos"/>
              </a:rPr>
              <a:t>true decision 不在 candidate set；weighting 救不了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方法確實執行去重，但「去重是否值得」取決於 redundancy 的位置。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真正值得研究的是 Redundancy Asymmetry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不是單看 P_d，而是比較 true decision 與 competing decision 誰更依賴重複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1F2933"/>
                </a:solidFill>
                <a:latin typeface="Aptos"/>
              </a:rPr>
              <a:t>A(x) = Redundancy_competitor − Redundancy_true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4800600" cy="196596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" y="2459736"/>
            <a:ext cx="54864" cy="1709928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478024"/>
            <a:ext cx="43434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A(x) &gt;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862072"/>
            <a:ext cx="4297680" cy="1325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錯誤 competitor 的 evidence 更重複
Population penalty 比較可能壓低錯誤 winner
→ CORRECTED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331720"/>
            <a:ext cx="4800600" cy="196596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9048" y="2459736"/>
            <a:ext cx="54864" cy="170992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2478024"/>
            <a:ext cx="43434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A(x) &lt;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862072"/>
            <a:ext cx="4297680" cy="1325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true decision 的 evidence 更重複
Population penalty 可能把有效 evidence 一起壓低
→ HARMED / over-correction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709160"/>
            <a:ext cx="28346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C96A3D"/>
                </a:solidFill>
                <a:latin typeface="Aptos"/>
              </a:rPr>
              <a:t>Redundancy ≠ Noise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709160"/>
            <a:ext cx="44805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B7A78"/>
                </a:solidFill>
                <a:latin typeface="Aptos"/>
              </a:rPr>
              <a:t>Redundancy Asymmetry = 下一個 mechanism variable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下一輪應用 repeated seeds 驗證 asymmetry 是否穩定預測 corrected / harmed，而不是再加第七種 voting。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目前整體結論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從「哪個 policy 最好」進一步變成「什麼 evidence structure 讓哪個 policy 有效」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E7F2F1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19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B7A78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61872"/>
            <a:ext cx="4572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Aptos"/>
              </a:rPr>
              <a:t>UNION 不解決 conflict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39"/>
            <a:ext cx="457200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780"/>
                </a:solidFill>
                <a:latin typeface="Aptos"/>
              </a:rPr>
              <a:t>真正影響分類的是 prediction-time competing decisions。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697480"/>
            <a:ext cx="502920" cy="502920"/>
          </a:xfrm>
          <a:prstGeom prst="ellipse">
            <a:avLst/>
          </a:prstGeom>
          <a:solidFill>
            <a:srgbClr val="E7F2F1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B7A78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79192"/>
            <a:ext cx="4572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Aptos"/>
              </a:rPr>
              <a:t>沒有 universal winner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457200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780"/>
                </a:solidFill>
                <a:latin typeface="Aptos"/>
              </a:rPr>
              <a:t>最佳 method 依 dataset、C、rule structure 與 conflict workload 改變。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E7F2F1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51960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B7A78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96512"/>
            <a:ext cx="4572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Aptos"/>
              </a:rPr>
              <a:t>Standard 的確會重複計價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26280"/>
            <a:ext cx="457200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780"/>
                </a:solidFill>
                <a:latin typeface="Aptos"/>
              </a:rPr>
              <a:t>support occurrences 與 unique supporting objects 是兩個不同概念。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1280160"/>
            <a:ext cx="502920" cy="502920"/>
          </a:xfrm>
          <a:prstGeom prst="ellipse">
            <a:avLst/>
          </a:prstGeom>
          <a:solidFill>
            <a:srgbClr val="F8EAE3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417319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C96A3D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261872"/>
            <a:ext cx="4572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Aptos"/>
              </a:rPr>
              <a:t>Population 是條件式修正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691639"/>
            <a:ext cx="457200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780"/>
                </a:solidFill>
                <a:latin typeface="Aptos"/>
              </a:rPr>
              <a:t>能壓掉錯誤 redundancy，也可能懲罰有效 repeated evidence。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2697480"/>
            <a:ext cx="502920" cy="502920"/>
          </a:xfrm>
          <a:prstGeom prst="ellipse">
            <a:avLst/>
          </a:prstGeom>
          <a:solidFill>
            <a:srgbClr val="F8EAE3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834640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C96A3D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679192"/>
            <a:ext cx="4572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Aptos"/>
              </a:rPr>
              <a:t>Coverage 與 Ranking 必須分開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108960"/>
            <a:ext cx="457200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780"/>
                </a:solidFill>
                <a:latin typeface="Aptos"/>
              </a:rPr>
              <a:t>true class 缺席時，任何 scoring policy 都無法救回。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4114800"/>
            <a:ext cx="502920" cy="502920"/>
          </a:xfrm>
          <a:prstGeom prst="ellipse">
            <a:avLst/>
          </a:prstGeom>
          <a:solidFill>
            <a:srgbClr val="F8EAE3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251960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C96A3D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096512"/>
            <a:ext cx="4572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Aptos"/>
              </a:rPr>
              <a:t>核心是 redundancy asymmetry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526280"/>
            <a:ext cx="457200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780"/>
                </a:solidFill>
                <a:latin typeface="Aptos"/>
              </a:rPr>
              <a:t>43/43 changed winners 都往 redundancy 較低的 decision 移動。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目前最站得住腳的貢獻不是「新方法一定更準」，而是揭示 support redundancy 的作用與限制。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F2933"/>
                </a:solidFill>
                <a:latin typeface="Aptos"/>
              </a:rPr>
              <a:t>下一步：把 Mechanism Evidence 變成 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972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2B7A78"/>
                </a:solidFill>
                <a:latin typeface="Aptos"/>
              </a:rPr>
              <a:t>目前 seed42 / single 80-20 split 可形成假說，但還不能做強因果或顯著性主張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18288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53895"/>
            <a:ext cx="54864" cy="157276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472184"/>
            <a:ext cx="29260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1 · Repeated seeds / splits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1856231"/>
            <a:ext cx="288036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每個 dataset × C × policy 建立分佈，而不是單一數字。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1453895"/>
            <a:ext cx="54864" cy="1572768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1472184"/>
            <a:ext cx="29260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2 · Asymmetry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1856231"/>
            <a:ext cx="288036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對全部 conflict cases 輸出 true / competitor redundancy、margin 與 coverage state。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8288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02167" y="1453895"/>
            <a:ext cx="54864" cy="1572768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472184"/>
            <a:ext cx="29260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3 · Statistical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1856231"/>
            <a:ext cx="288036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F2933"/>
                </a:solidFill>
                <a:latin typeface="Aptos"/>
              </a:rPr>
              <a:t>Friedman + post-hoc；paired Wilcoxon；避免把 test rows 當 algorithm-level replicates。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703320"/>
            <a:ext cx="4572000" cy="132588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7007" y="3831335"/>
            <a:ext cx="54864" cy="1069848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8176" y="3849624"/>
            <a:ext cx="41148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Research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4233672"/>
            <a:ext cx="40690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1F2933"/>
                </a:solidFill>
                <a:latin typeface="Aptos"/>
              </a:rPr>
              <a:t>Client fragmentation 如何透過 rule structure 與 redundancy asymmetry，改變 conflict-resolution policy 的 performance？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03320"/>
            <a:ext cx="4572000" cy="132588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831335"/>
            <a:ext cx="54864" cy="1069848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3849624"/>
            <a:ext cx="41148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Aptos"/>
              </a:rPr>
              <a:t>Repository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233672"/>
            <a:ext cx="40690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Aptos"/>
              </a:rPr>
              <a:t>Jimmy0307/LEM2
branch: research/conflict-client-sweep-20261020
PR #5: Draft · Open · Not merged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715000"/>
            <a:ext cx="10881360" cy="5486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87044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B7A78"/>
                </a:solidFill>
                <a:latin typeface="Aptos"/>
              </a:rPr>
              <a:t>這張圖要證明：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5824728"/>
            <a:ext cx="90982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Aptos"/>
              </a:rPr>
              <a:t>下一步先驗證 redundancy asymmetry；不要再增加 method，避免研究主軸被 voting variants 稀釋。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19672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ptos"/>
              </a:rPr>
              <a:t>Federated LEM2 · 2026-10 · research/conflict-client-sweep-20261020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196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78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