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9" r:id="rId30"/>
    <p:sldId id="280" r:id="rId31"/>
    <p:sldId id="281" r:id="rId32"/>
    <p:sldId id="282" r:id="rId33"/>
    <p:sldId id="283" r:id="rId34"/>
    <p:sldId id="271" r:id="rId22"/>
    <p:sldId id="272" r:id="rId23"/>
    <p:sldId id="273" r:id="rId24"/>
    <p:sldId id="284" r:id="rId35"/>
    <p:sldId id="285" r:id="rId36"/>
    <p:sldId id="286" r:id="rId37"/>
    <p:sldId id="287" r:id="rId38"/>
    <p:sldId id="288" r:id="rId39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6B7780"/>
                </a:solidFill>
                <a:latin typeface="Noto Sans CJK TC"/>
              </a:rPr>
              <a:t>PROFESSOR QUESTION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78992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1F2933"/>
                </a:solidFill>
                <a:latin typeface="Noto Sans CJK TC"/>
              </a:rPr>
              <a:t>Federated LEM2：把上次老師的問題逐題回答完整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0574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B7A78"/>
                </a:solidFill>
                <a:latin typeface="Noto Sans CJK TC"/>
              </a:rPr>
              <a:t>資料規模 → 80/20 → 六方法 → Coverage → Standard / Global 改前改後 → 3×5 Target 回查 → 錯誤分解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520440"/>
            <a:ext cx="2377440" cy="12344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4A78A8"/>
                </a:solidFill>
                <a:latin typeface="Noto Sans CJK TC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UCI datasets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8728" y="3520440"/>
            <a:ext cx="2377440" cy="12344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4C8A61"/>
                </a:solidFill>
                <a:latin typeface="Noto Sans CJK T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8456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prediction methods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3520440"/>
            <a:ext cx="2377440" cy="12344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C96A3D"/>
                </a:solidFill>
                <a:latin typeface="Noto Sans CJK TC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target backtraces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3520440"/>
            <a:ext cx="2377440" cy="12344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3144" y="3703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B65252"/>
                </a:solidFill>
                <a:latin typeface="Noto Sans CJK TC"/>
              </a:rPr>
              <a:t>908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418795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F2933"/>
                </a:solidFill>
                <a:latin typeface="Noto Sans CJK TC"/>
              </a:rPr>
              <a:t>conflict occurrences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30368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3"/>
                </a:solidFill>
                <a:latin typeface="Noto Sans CJK TC"/>
              </a:rPr>
              <a:t>這一版不先談「新發現」，而是先把老師上次每一題用 code → evidence → result 回答完。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老師上次到底問了什麼？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本版簡報的順序完全照這張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98448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36245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三份資料有幾筆？幾個 headers / factors？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98424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80/20 怎麼切？20% 有沒有參與建模？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42032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15184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2606040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同一資料跑六種方法，Acc / Recall / F1 到底是多少？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36976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322783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Overall Coverage、Target Coverage 到底是多少？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85616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58768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84962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Standard 的 3+3 為什麼有問題？改完 A/B 誰贏？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07408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4471416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Global 改法和原 GlobalStrength 差在哪？winner 怎麼變？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29200"/>
            <a:ext cx="420624" cy="42062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02352"/>
            <a:ext cx="4206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2B7A78"/>
                </a:solidFill>
                <a:latin typeface="Noto Sans CJK T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509320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每個 dataset 的 Target 1–5 回查後，差別到底在哪？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後面的 Redundancy Asymmetry 只能放在「回答完老師」之後，不能反過來取代老師的問題。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1. 資料規模：Rows、Headers、Factors 全部明列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Headers = condition attributes + 1 decision column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老師問的「資料比數＋標頭量」現在由程式自動輸出，不再只寫 Attrs。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1417320"/>
            <a:ext cx="315468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1572768"/>
            <a:ext cx="64008" cy="3246120"/>
          </a:xfrm>
          <a:prstGeom prst="rect">
            <a:avLst/>
          </a:prstGeom>
          <a:solidFill>
            <a:srgbClr val="5882A4"/>
          </a:solidFill>
          <a:ln w="10160">
            <a:solidFill>
              <a:srgbClr val="5882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1" y="1572768"/>
            <a:ext cx="260604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5882A4"/>
                </a:solidFill>
                <a:latin typeface="Noto Sans CJK TC"/>
              </a:rPr>
              <a:t>Hayes-Roth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" y="2057400"/>
            <a:ext cx="2606040" cy="4389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273A4C"/>
                </a:solidFill>
                <a:latin typeface="Noto Sans CJK TC"/>
              </a:rPr>
              <a:t>132 rows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1" y="2697480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40864" y="2697480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1" y="3118104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Factors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40864" y="3118104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1" y="3538728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Classes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0864" y="3538728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1" y="3959352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Train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40864" y="3959352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106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1" y="4379976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Test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40864" y="4379976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1" y="4590288"/>
            <a:ext cx="260604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30" b="0">
                <a:solidFill>
                  <a:srgbClr val="667580"/>
                </a:solidFill>
                <a:latin typeface="Noto Sans CJK TC"/>
              </a:rPr>
              <a:t>Headers = factors + 1 decision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33087" y="1417320"/>
            <a:ext cx="315468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42816" y="1572768"/>
            <a:ext cx="64008" cy="3246120"/>
          </a:xfrm>
          <a:prstGeom prst="rect">
            <a:avLst/>
          </a:prstGeom>
          <a:solidFill>
            <a:srgbClr val="36756C"/>
          </a:solidFill>
          <a:ln w="10160">
            <a:solidFill>
              <a:srgbClr val="3675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7" y="1572768"/>
            <a:ext cx="260604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36756C"/>
                </a:solidFill>
                <a:latin typeface="Noto Sans CJK TC"/>
              </a:rPr>
              <a:t>Car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53127" y="2057400"/>
            <a:ext cx="2606040" cy="4389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273A4C"/>
                </a:solidFill>
                <a:latin typeface="Noto Sans CJK TC"/>
              </a:rPr>
              <a:t>1728 rows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3127" y="2697480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Headers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2697480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53127" y="3118104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Factors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720" y="3118104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53127" y="3538728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Classes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3538728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53127" y="3959352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Train 80%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0" y="3959352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1382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3127" y="4379976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Test 20%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379976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346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53127" y="4590288"/>
            <a:ext cx="260604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30" b="0">
                <a:solidFill>
                  <a:srgbClr val="667580"/>
                </a:solidFill>
                <a:latin typeface="Noto Sans CJK TC"/>
              </a:rPr>
              <a:t>Headers = factors + 1 decision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552944" y="1417320"/>
            <a:ext cx="3154680" cy="3611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62671" y="1572768"/>
            <a:ext cx="64008" cy="3246120"/>
          </a:xfrm>
          <a:prstGeom prst="rect">
            <a:avLst/>
          </a:prstGeom>
          <a:solidFill>
            <a:srgbClr val="937737"/>
          </a:solidFill>
          <a:ln w="10160">
            <a:solidFill>
              <a:srgbClr val="937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72983" y="1572768"/>
            <a:ext cx="260604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500" b="1">
                <a:solidFill>
                  <a:srgbClr val="937737"/>
                </a:solidFill>
                <a:latin typeface="Noto Sans CJK TC"/>
              </a:rPr>
              <a:t>Balance Scale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72983" y="2057400"/>
            <a:ext cx="2606040" cy="4389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273A4C"/>
                </a:solidFill>
                <a:latin typeface="Noto Sans CJK TC"/>
              </a:rPr>
              <a:t>625 rows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72983" y="2697480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Headers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0576" y="2697480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72983" y="3118104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Factors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3118104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72983" y="3538728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Classes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80576" y="3538728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72983" y="3959352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Train 80%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0576" y="3959352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499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72983" y="4379976"/>
            <a:ext cx="123444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19" b="0">
                <a:solidFill>
                  <a:srgbClr val="667580"/>
                </a:solidFill>
                <a:latin typeface="Noto Sans CJK TC"/>
              </a:rPr>
              <a:t>Test 20%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0576" y="4379976"/>
            <a:ext cx="960120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20" b="1">
                <a:solidFill>
                  <a:srgbClr val="36454F"/>
                </a:solidFill>
                <a:latin typeface="Noto Sans CJK TC"/>
              </a:rPr>
              <a:t>126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72983" y="4590288"/>
            <a:ext cx="260604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30" b="0">
                <a:solidFill>
                  <a:srgbClr val="667580"/>
                </a:solidFill>
                <a:latin typeface="Noto Sans CJK TC"/>
              </a:rPr>
              <a:t>Headers = factors + 1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2. 80 / 20：最後 20% 完全不參與前面建模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同一 split 被六種方法共用；這是 final prediction set，不是 training accuracy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600200" cy="137160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76072" y="2084831"/>
            <a:ext cx="1453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6B7780"/>
                </a:solidFill>
                <a:latin typeface="Noto Sans CJK TC"/>
              </a:rPr>
              <a:t>100%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542032"/>
            <a:ext cx="1453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原始 decision table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57984" y="2523744"/>
            <a:ext cx="29260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4600" y="1828800"/>
            <a:ext cx="1600200" cy="13716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87752" y="2084831"/>
            <a:ext cx="14538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4A78A8"/>
                </a:solidFill>
                <a:latin typeface="Noto Sans CJK TC"/>
              </a:rPr>
              <a:t>80% 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7752" y="2542032"/>
            <a:ext cx="1453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唯一可以學習的資料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69663" y="2523744"/>
            <a:ext cx="338329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0" y="1828800"/>
            <a:ext cx="3154680" cy="137160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84831"/>
            <a:ext cx="3008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2B7A78"/>
                </a:solidFill>
                <a:latin typeface="Noto Sans CJK TC"/>
              </a:rPr>
              <a:t>Reduct → Clients → LEM2 → UNION → Support /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542032"/>
            <a:ext cx="30083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全部在 80% 內完成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81544" y="2523744"/>
            <a:ext cx="38404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29600" y="1828800"/>
            <a:ext cx="1417320" cy="137160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2084831"/>
            <a:ext cx="12710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C96A3D"/>
                </a:solidFill>
                <a:latin typeface="Noto Sans CJK TC"/>
              </a:rPr>
              <a:t>20% Holdout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542032"/>
            <a:ext cx="127101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最後才拿來 prediction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701784" y="2523744"/>
            <a:ext cx="292608" cy="0"/>
          </a:xfrm>
          <a:prstGeom prst="line">
            <a:avLst/>
          </a:prstGeom>
          <a:ln w="1905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058400" y="1828800"/>
            <a:ext cx="1554480" cy="13716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31552" y="2084831"/>
            <a:ext cx="14081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4C8A61"/>
                </a:solidFill>
                <a:latin typeface="Noto Sans CJK TC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31552" y="2542032"/>
            <a:ext cx="14081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F2933"/>
                </a:solidFill>
                <a:latin typeface="Noto Sans CJK TC"/>
              </a:rPr>
              <a:t>Acc · Recall · F1 · BA · Coverage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794760"/>
            <a:ext cx="5074920" cy="14630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" y="3931920"/>
            <a:ext cx="50292" cy="11887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93192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20% 不可以做的事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4306824"/>
            <a:ext cx="46177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× reduct selection
× local LEM2 induction
× UNION support construction
× voting weight fitting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794760"/>
            <a:ext cx="5074920" cy="14630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73368" y="3931920"/>
            <a:ext cx="50292" cy="11887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93192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20% 唯一做的事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4306824"/>
            <a:ext cx="461772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✓ matching / prediction
✓ Accuracy / Recall / Macro-F1 / Balanced Accuracy
✓ Overall / Target / Target Candidate Coverage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所有 reported prediction metrics 都只看 final 20%；不存在 test leakage。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3. 同一個 frozen rule artifact 跑六種方法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前四個是既有 baseline；後兩個是本研究的 experimental variants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5074920" cy="1069848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463039"/>
            <a:ext cx="50292" cy="795527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463039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FIRST_MATCH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37943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順序：第一條 matching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325880"/>
            <a:ext cx="5074920" cy="1069848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463039"/>
            <a:ext cx="50292" cy="795527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SIMPLE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37943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rule count：一條 rule 一票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79191"/>
            <a:ext cx="5074920" cy="1069848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6968" y="2816351"/>
            <a:ext cx="50292" cy="795527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2816351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191256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support occurrences：Σ|S(r)|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679191"/>
            <a:ext cx="5074920" cy="1069848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19088" y="2816351"/>
            <a:ext cx="50292" cy="795527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816351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GLOBAL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3191256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unique class coverage：|∪S(r)|/N_d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32504"/>
            <a:ext cx="5074920" cy="1069848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68" y="4169664"/>
            <a:ext cx="50292" cy="795527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169664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POPULATION STANDARD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544568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unique population：U_d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59" y="4032504"/>
            <a:ext cx="5074920" cy="1069848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9088" y="4169664"/>
            <a:ext cx="50292" cy="795527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4169664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POPULATION GLOBAL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4544568"/>
            <a:ext cx="46177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(U_d/N_d) × (U_d/T_d)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40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B7780"/>
                </a:solidFill>
                <a:latin typeface="Noto Sans CJK TC"/>
              </a:rPr>
              <a:t>Established baselines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4406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65252"/>
                </a:solidFill>
                <a:latin typeface="Noto Sans CJK TC"/>
              </a:rPr>
              <a:t>Project-defined variants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六種方法的比較必須在相同 20% test、相同 global rules、相同 conflict cases 上進行。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Hayes-Roth：六種方法的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FIRST/STD/GS/PS/PG 0.767 · C3: FIRST 0.833 · C4: FIRST 0.778 · C5: FIRST 0.833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298448"/>
            <a:ext cx="1417320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307592"/>
            <a:ext cx="138074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5688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93976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3983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1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79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7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3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773936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78308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FIRST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75688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0.767  ·  F1 0.766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3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1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0.808  ·  BA 0.833  ·  F1 0.833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79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0567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0.769  ·  BA 0.778  ·  F1 0.791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0576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98863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0.808  ·  BA 0.833  ·  F1 0.829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286000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295144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SIMPLE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93976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0.654  ·  BA 0.656  ·  F1 0.679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43983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62271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0.654  ·  BA 0.611  ·  F1 0.617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79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0567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0.577  ·  BA 0.567  ·  F1 0.595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0576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98863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0.577  ·  BA 0.522  ·  F1 0.503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2798064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2807208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STD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93976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0.767  ·  F1 0.766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3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2271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0.744  ·  F1 0.756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7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0.615  ·  BA 0.622  ·  F1 0.646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80576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98863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0.615  ·  BA 0.578  ·  F1 0.583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3310128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319272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75688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0.767  ·  F1 0.766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43983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2271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0.692  ·  BA 0.733  ·  F1 0.733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12279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30567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0.692  ·  BA 0.733  ·  F1 0.731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80576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98863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0.692  ·  BA 0.733  ·  F1 0.731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3822191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3831335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75688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93976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0.767  ·  F1 0.766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3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62271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0.654  ·  BA 0.678  ·  F1 0.694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12279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30567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0.615  ·  BA 0.622  ·  F1 0.646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0576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98863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0.577  ·  BA 0.567  ·  F1 0.592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" y="4334256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" y="434340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75688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93976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0.731  ·  BA 0.767  ·  F1 0.766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43983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62271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0.692  ·  BA 0.733  ·  F1 0.733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79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0567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0.654  ·  BA 0.700  ·  F1 0.699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80576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98863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0.577  ·  BA 0.633  ·  F1 0.625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4736592"/>
            <a:ext cx="10561320" cy="3840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F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4782312"/>
            <a:ext cx="102412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50" b="1">
                <a:solidFill>
                  <a:srgbClr val="5882A4"/>
                </a:solidFill>
                <a:latin typeface="Noto Sans CJK TC"/>
              </a:rPr>
              <a:t>每個 cell 固定為單行：Accuracy · Balanced Accuracy (= Macro Recall) · Macro-F1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Car Evaluation：六種方法的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GS/PG 0.717 · C3: PG 0.801 · C4: GS 0.683 · C5: PG 0.634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298448"/>
            <a:ext cx="1417320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307592"/>
            <a:ext cx="138074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5688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93976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3983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1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79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7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3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773936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78308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FIRST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75688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0.899  ·  BA 0.664  ·  F1 0.658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3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1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0.905  ·  BA 0.674  ·  F1 0.682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79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0567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0.887  ·  BA 0.631  ·  F1 0.630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0576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98863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0.873  ·  BA 0.596  ·  F1 0.607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286000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295144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SIMPLE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93976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0.876  ·  BA 0.621  ·  F1 0.629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43983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62271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0.887  ·  BA 0.710  ·  F1 0.714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79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0567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0.841  ·  BA 0.582  ·  F1 0.598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0576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98863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0.806  ·  BA 0.540  ·  F1 0.527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2798064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2807208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STD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93976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0.902  ·  BA 0.669  ·  F1 0.672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3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2271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0.910  ·  BA 0.709  ·  F1 0.708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7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0.879  ·  BA 0.593  ·  F1 0.635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80576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98863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0.858  ·  BA 0.544  ·  F1 0.568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3310128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319272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75688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0.887  ·  BA 0.717  ·  F1 0.676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43983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2271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0.887  ·  BA 0.798  ·  F1 0.735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12279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30567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0.853  ·  BA 0.683  ·  F1 0.630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80576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98863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0.829  ·  BA 0.624  ·  F1 0.572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3822191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3831335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75688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93976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0.905  ·  BA 0.689  ·  F1 0.687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3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62271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0.908  ·  BA 0.706  ·  F1 0.700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12279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30567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0.879  ·  BA 0.591  ·  F1 0.628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0576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98863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0.853  ·  BA 0.537  ·  F1 0.562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" y="4334256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" y="434340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75688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93976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0.887  ·  BA 0.717  ·  F1 0.676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43983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62271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0.893  ·  BA 0.801  ·  F1 0.735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79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0567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0.850  ·  BA 0.678  ·  F1 0.621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80576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98863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0.829  ·  BA 0.634  ·  F1 0.586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4736592"/>
            <a:ext cx="10561320" cy="3840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F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4782312"/>
            <a:ext cx="102412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50" b="1">
                <a:solidFill>
                  <a:srgbClr val="5882A4"/>
                </a:solidFill>
                <a:latin typeface="Noto Sans CJK TC"/>
              </a:rPr>
              <a:t>每個 cell 固定為單行：Accuracy · Balanced Accuracy (= Macro Recall) · Macro-F1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4. Balance Scale：六種方法的 20% Prediction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每個 cell = Accuracy / Balanced Accuracy(=Macro Recall) / Macro-F1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330952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780"/>
                </a:solidFill>
                <a:latin typeface="Noto Sans CJK TC"/>
              </a:rPr>
              <a:t>cell 順序：Acc / BA(=Recall_macro) / Macro-F1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5285232"/>
            <a:ext cx="5532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2B7A78"/>
                </a:solidFill>
                <a:latin typeface="Noto Sans CJK TC"/>
              </a:rPr>
              <a:t>BA best → C2: PS 0.563 · C3: STD/PS 0.586 · C4: STD/PS 0.598 · C5: GS/PG 0.591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Accuracy 與 class-balanced 指標可能選出不同 winner；不能只報一個 Accuracy。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298448"/>
            <a:ext cx="1417320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307592"/>
            <a:ext cx="138074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75688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93976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43983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2271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79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7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298448"/>
            <a:ext cx="2368296" cy="475488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98863" y="1307592"/>
            <a:ext cx="2331720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50" b="1">
                <a:solidFill>
                  <a:srgbClr val="36756C"/>
                </a:solidFill>
                <a:latin typeface="Noto Sans CJK TC"/>
              </a:rPr>
              <a:t>C=5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1773936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78308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FIRST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75688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0.675  ·  BA 0.489  ·  F1 0.504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3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1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0.651  ·  BA 0.471  ·  F1 0.488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79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30567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0.706  ·  BA 0.511  ·  F1 0.510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80576" y="1773936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98863" y="178308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0.675  ·  BA 0.489  ·  F1 0.484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286000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295144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SIMPLE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75688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93976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0.722  ·  BA 0.523  ·  F1 0.523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43983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62271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0.738  ·  BA 0.534  ·  F1 0.529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12279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0567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0.794  ·  BA 0.575  ·  F1 0.558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80576" y="2286000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98863" y="2295144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0.746  ·  BA 0.540  ·  F1 0.525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2798064"/>
            <a:ext cx="141732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2807208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STD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75688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93976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0.770  ·  BA 0.557  ·  F1 0.544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3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62271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0.810  ·  BA 0.586  ·  F1 0.564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12279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7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0.825  ·  BA 0.598  ·  F1 0.573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80576" y="2798064"/>
            <a:ext cx="2368296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98863" y="2807208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0.778  ·  BA 0.563  ·  F1 0.542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3310128"/>
            <a:ext cx="1417320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6656" y="3319272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36454F"/>
                </a:solidFill>
                <a:latin typeface="Noto Sans CJK TC"/>
              </a:rPr>
              <a:t>GS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75688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93976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0.738  ·  BA 0.534  ·  F1 0.537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43983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2271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0.786  ·  BA 0.569  ·  F1 0.555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12279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30567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0.810  ·  BA 0.586  ·  F1 0.571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80576" y="3310128"/>
            <a:ext cx="2368296" cy="512064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98863" y="3319272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0.778  ·  BA 0.591  ·  F1 0.591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3822191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6656" y="3831335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075688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93976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0.778  ·  BA 0.563  ·  F1 0.550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3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62271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0.810  ·  BA 0.586  ·  F1 0.564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12279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30567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0.825  ·  BA 0.598  ·  F1 0.573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0576" y="3822191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98863" y="3831335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0.786  ·  BA 0.569  ·  F1 0.548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58368" y="4334256"/>
            <a:ext cx="1417320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76656" y="4343400"/>
            <a:ext cx="1380744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100" b="1">
                <a:solidFill>
                  <a:srgbClr val="BF675E"/>
                </a:solidFill>
                <a:latin typeface="Noto Sans CJK TC"/>
              </a:rPr>
              <a:t>PG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75688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93976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0.738  ·  BA 0.534  ·  F1 0.537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43983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62271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0.794  ·  BA 0.575  ·  F1 0.560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12279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30567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0.802  ·  BA 0.580  ·  F1 0.565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80576" y="4334256"/>
            <a:ext cx="2368296" cy="512064"/>
          </a:xfrm>
          <a:prstGeom prst="rect">
            <a:avLst/>
          </a:prstGeom>
          <a:solidFill>
            <a:srgbClr val="FAEBE9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98863" y="4343400"/>
            <a:ext cx="2331720" cy="49377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40" b="0">
                <a:solidFill>
                  <a:srgbClr val="36454F"/>
                </a:solidFill>
                <a:latin typeface="Noto Sans CJK TC"/>
              </a:rPr>
              <a:t>Acc 0.778  ·  BA 0.591  ·  F1 0.590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4736592"/>
            <a:ext cx="10561320" cy="3840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FDD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4782312"/>
            <a:ext cx="102412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1050" b="1">
                <a:solidFill>
                  <a:srgbClr val="5882A4"/>
                </a:solidFill>
                <a:latin typeface="Noto Sans CJK TC"/>
              </a:rPr>
              <a:t>每個 cell 固定為單行：Accuracy · Balanced Accuracy (= Macro Recall) · Macro-F1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5. Coverage：要拆成三個問題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這是本次補 code 後最重要的新區分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337560" cy="19202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63039"/>
            <a:ext cx="50292" cy="164592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Overall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整個 20% test 中，有沒有任何 rule match？
|{x : M(x)≠∅}| / |U_test|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37560" cy="192024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44568" y="1463039"/>
            <a:ext cx="50292" cy="164592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Target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真實屬於 class d 的 test cases 中，有沒有任何 rule match？
不要求 matching rule 的 decision=d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337560" cy="19202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93607" y="1463039"/>
            <a:ext cx="50292" cy="164592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7648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Target Candidate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1837943"/>
            <a:ext cx="2880360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真實屬於 class d 的 test cases 中，是否至少有一條 matching rule 真的提出 d？
這才偵測「true class 根本沒進 candidate set」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1">
                <a:solidFill>
                  <a:srgbClr val="B65252"/>
                </a:solidFill>
                <a:latin typeface="Noto Sans CJK TC"/>
              </a:rPr>
              <a:t>Coverage ≠ Recall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005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F2933"/>
                </a:solidFill>
                <a:latin typeface="Noto Sans CJK TC"/>
              </a:rPr>
              <a:t>Coverage 問「能不能進決策」；Recall 問「最後有沒有判對」。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617720"/>
            <a:ext cx="9966960" cy="7772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07007" y="4754880"/>
            <a:ext cx="50292" cy="5029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4754880"/>
            <a:ext cx="9528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F2933"/>
                </a:solidFill>
                <a:latin typeface="Noto Sans CJK TC"/>
              </a:rPr>
              <a:t>為什麼要多這一層？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129783"/>
            <a:ext cx="9509760" cy="173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F2933"/>
                </a:solidFill>
                <a:latin typeface="Noto Sans CJK TC"/>
              </a:rPr>
              <a:t>真實 B 可能有 rule match，但 matching rules 只有 L / R。舊 Target Coverage 會算 covered；Target Candidate Coverage 才會判斷 B 沒有被產生。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Candidate Generation / Coverage failure 與 Candidate Ranking / Conflict error 必須分開。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6. 三個 UCI 的實際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三個數字都由同一 20% holdout 自動計算；六種 policy 的 coverage 相同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468112"/>
            <a:ext cx="10561320" cy="41148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5605272"/>
            <a:ext cx="50292" cy="13716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5605272"/>
            <a:ext cx="10122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1">
                <a:solidFill>
                  <a:srgbClr val="1F2933"/>
                </a:solidFill>
                <a:latin typeface="Noto Sans CJK TC"/>
              </a:rPr>
              <a:t>最大差距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5980176"/>
            <a:ext cx="10104120" cy="-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F2933"/>
                </a:solidFill>
                <a:latin typeface="Noto Sans CJK TC"/>
              </a:rPr>
              <a:t>Balance C=2：Target(any rule)=93.2%，但 Target(candidate)=57.5%；代表「有規則 match」不等於「真正 target class 有 candidate rule」。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" y="1280160"/>
            <a:ext cx="3273552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417320"/>
            <a:ext cx="2926080" cy="34747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5882A4"/>
                </a:solidFill>
                <a:latin typeface="Noto Sans CJK TC"/>
              </a:rPr>
              <a:t>Balance Scale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" y="1874519"/>
            <a:ext cx="475488" cy="438912"/>
          </a:xfrm>
          <a:prstGeom prst="rect">
            <a:avLst/>
          </a:prstGeom>
          <a:solidFill>
            <a:srgbClr val="E9F1F7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1883663"/>
            <a:ext cx="438912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5882A4"/>
                </a:solidFill>
                <a:latin typeface="Noto Sans CJK TC"/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79576" y="1874519"/>
            <a:ext cx="804672" cy="438912"/>
          </a:xfrm>
          <a:prstGeom prst="rect">
            <a:avLst/>
          </a:prstGeom>
          <a:solidFill>
            <a:srgbClr val="E9F1F7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1883663"/>
            <a:ext cx="76809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5882A4"/>
                </a:solidFill>
                <a:latin typeface="Noto Sans CJK TC"/>
              </a:rPr>
              <a:t>Overall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84248" y="1874519"/>
            <a:ext cx="896112" cy="438912"/>
          </a:xfrm>
          <a:prstGeom prst="rect">
            <a:avLst/>
          </a:prstGeom>
          <a:solidFill>
            <a:srgbClr val="E9F1F7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1883663"/>
            <a:ext cx="85953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5882A4"/>
                </a:solidFill>
                <a:latin typeface="Noto Sans CJK TC"/>
              </a:rPr>
              <a:t>Any rule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80360" y="1874519"/>
            <a:ext cx="914400" cy="438912"/>
          </a:xfrm>
          <a:prstGeom prst="rect">
            <a:avLst/>
          </a:prstGeom>
          <a:solidFill>
            <a:srgbClr val="E9F1F7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98648" y="1883663"/>
            <a:ext cx="877824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5882A4"/>
                </a:solidFill>
                <a:latin typeface="Noto Sans CJK TC"/>
              </a:rPr>
              <a:t>Candidate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" y="2313432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2322575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79576" y="2313432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7864" y="2322575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94.4%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84248" y="2313432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02536" y="2322575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93.2%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360" y="2313432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98648" y="2322575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5882A4"/>
                </a:solidFill>
                <a:latin typeface="Noto Sans CJK TC"/>
              </a:rPr>
              <a:t>57.5%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" y="2889503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2898647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79576" y="2889503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7864" y="2898647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98.4%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84248" y="2889503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02536" y="2898647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98.9%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360" y="2889503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2898647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5882A4"/>
                </a:solidFill>
                <a:latin typeface="Noto Sans CJK TC"/>
              </a:rPr>
              <a:t>61.5%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" y="3465575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3474719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79576" y="3465575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97864" y="3474719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84248" y="3465575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02536" y="3474719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80360" y="3465575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98648" y="3474719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5882A4"/>
                </a:solidFill>
                <a:latin typeface="Noto Sans CJK TC"/>
              </a:rPr>
              <a:t>72.2%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4088" y="4041648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2376" y="4050791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79576" y="4041648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97864" y="4050791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99.2%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84248" y="4041648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02536" y="4050791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99.4%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4041648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98648" y="4050791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5882A4"/>
                </a:solidFill>
                <a:latin typeface="Noto Sans CJK TC"/>
              </a:rPr>
              <a:t>67.1%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4718304"/>
            <a:ext cx="2871216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667580"/>
                </a:solidFill>
                <a:latin typeface="Noto Sans CJK TC"/>
              </a:rPr>
              <a:t>Target(candidate) = true class 是否真的進入 matching candidate set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87952" y="1280160"/>
            <a:ext cx="3273552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52544" y="1417320"/>
            <a:ext cx="2926080" cy="34747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36756C"/>
                </a:solidFill>
                <a:latin typeface="Noto Sans CJK TC"/>
              </a:rPr>
              <a:t>Car Evaluation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79392" y="1874519"/>
            <a:ext cx="475488" cy="438912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97679" y="1883663"/>
            <a:ext cx="438912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756C"/>
                </a:solidFill>
                <a:latin typeface="Noto Sans CJK TC"/>
              </a:rPr>
              <a:t>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79" y="1874519"/>
            <a:ext cx="804672" cy="438912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73167" y="1883663"/>
            <a:ext cx="76809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756C"/>
                </a:solidFill>
                <a:latin typeface="Noto Sans CJK TC"/>
              </a:rPr>
              <a:t>Overall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59551" y="1874519"/>
            <a:ext cx="896112" cy="438912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577839" y="1883663"/>
            <a:ext cx="85953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756C"/>
                </a:solidFill>
                <a:latin typeface="Noto Sans CJK TC"/>
              </a:rPr>
              <a:t>Any rule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55663" y="1874519"/>
            <a:ext cx="914400" cy="438912"/>
          </a:xfrm>
          <a:prstGeom prst="rect">
            <a:avLst/>
          </a:prstGeom>
          <a:solidFill>
            <a:srgbClr val="E8F3F1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73951" y="1883663"/>
            <a:ext cx="877824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756C"/>
                </a:solidFill>
                <a:latin typeface="Noto Sans CJK TC"/>
              </a:rPr>
              <a:t>Candidate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79392" y="2313432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97679" y="2322575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54879" y="2313432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73167" y="2322575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97.7%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59551" y="2313432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77839" y="2322575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92.9%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55663" y="2313432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73951" y="2322575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756C"/>
                </a:solidFill>
                <a:latin typeface="Noto Sans CJK TC"/>
              </a:rPr>
              <a:t>80.9%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79392" y="2889503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97679" y="2898647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79" y="2889503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73167" y="2898647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98.3%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59551" y="2889503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77839" y="2898647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98.3%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55663" y="2889503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73951" y="2898647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756C"/>
                </a:solidFill>
                <a:latin typeface="Noto Sans CJK TC"/>
              </a:rPr>
              <a:t>91.0%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279392" y="3465575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97679" y="3474719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79" y="3465575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73167" y="3474719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99.4%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559551" y="3465575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577839" y="3474719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97.8%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5663" y="3465575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73951" y="3474719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756C"/>
                </a:solidFill>
                <a:latin typeface="Noto Sans CJK TC"/>
              </a:rPr>
              <a:t>95.0%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279392" y="4041648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97679" y="4050791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754879" y="4041648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73167" y="4050791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59551" y="4041648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577839" y="4050791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55663" y="4041648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73951" y="4050791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756C"/>
                </a:solidFill>
                <a:latin typeface="Noto Sans CJK TC"/>
              </a:rPr>
              <a:t>87.3%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89120" y="4718304"/>
            <a:ext cx="2871216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667580"/>
                </a:solidFill>
                <a:latin typeface="Noto Sans CJK TC"/>
              </a:rPr>
              <a:t>Target(candidate) = true class 是否真的進入 matching candidate set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763256" y="1280160"/>
            <a:ext cx="3273552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27848" y="1417320"/>
            <a:ext cx="2926080" cy="34747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937737"/>
                </a:solidFill>
                <a:latin typeface="Noto Sans CJK TC"/>
              </a:rPr>
              <a:t>Hayes-Roth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54696" y="1874519"/>
            <a:ext cx="475488" cy="438912"/>
          </a:xfrm>
          <a:prstGeom prst="rect">
            <a:avLst/>
          </a:prstGeom>
          <a:solidFill>
            <a:srgbClr val="F8F3DE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872983" y="1883663"/>
            <a:ext cx="438912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937737"/>
                </a:solidFill>
                <a:latin typeface="Noto Sans CJK TC"/>
              </a:rPr>
              <a:t>C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30183" y="1874519"/>
            <a:ext cx="804672" cy="438912"/>
          </a:xfrm>
          <a:prstGeom prst="rect">
            <a:avLst/>
          </a:prstGeom>
          <a:solidFill>
            <a:srgbClr val="F8F3DE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1" y="1883663"/>
            <a:ext cx="76809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937737"/>
                </a:solidFill>
                <a:latin typeface="Noto Sans CJK TC"/>
              </a:rPr>
              <a:t>Overall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34856" y="1874519"/>
            <a:ext cx="896112" cy="438912"/>
          </a:xfrm>
          <a:prstGeom prst="rect">
            <a:avLst/>
          </a:prstGeom>
          <a:solidFill>
            <a:srgbClr val="F8F3DE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153144" y="1883663"/>
            <a:ext cx="859536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937737"/>
                </a:solidFill>
                <a:latin typeface="Noto Sans CJK TC"/>
              </a:rPr>
              <a:t>Any rule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30968" y="1874519"/>
            <a:ext cx="914400" cy="438912"/>
          </a:xfrm>
          <a:prstGeom prst="rect">
            <a:avLst/>
          </a:prstGeom>
          <a:solidFill>
            <a:srgbClr val="F8F3DE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49256" y="1883663"/>
            <a:ext cx="877824" cy="420623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937737"/>
                </a:solidFill>
                <a:latin typeface="Noto Sans CJK TC"/>
              </a:rPr>
              <a:t>Candidate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54696" y="2313432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872983" y="2322575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330183" y="2313432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48471" y="2322575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92.3%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34856" y="2313432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53144" y="2322575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93.3%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30968" y="2313432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49256" y="2322575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937737"/>
                </a:solidFill>
                <a:latin typeface="Noto Sans CJK TC"/>
              </a:rPr>
              <a:t>73.3%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854696" y="2889503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872983" y="2898647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330183" y="2889503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48471" y="2898647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134856" y="2889503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153144" y="2898647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030968" y="2889503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49256" y="2898647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937737"/>
                </a:solidFill>
                <a:latin typeface="Noto Sans CJK TC"/>
              </a:rPr>
              <a:t>93.3%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854696" y="3465575"/>
            <a:ext cx="475488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872983" y="3474719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4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330183" y="3465575"/>
            <a:ext cx="80467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348471" y="3474719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34856" y="3465575"/>
            <a:ext cx="896112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53144" y="3474719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030968" y="3465575"/>
            <a:ext cx="914400" cy="5760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049256" y="3474719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937737"/>
                </a:solidFill>
                <a:latin typeface="Noto Sans CJK TC"/>
              </a:rPr>
              <a:t>86.7%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854696" y="4041648"/>
            <a:ext cx="475488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872983" y="4050791"/>
            <a:ext cx="438912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36454F"/>
                </a:solidFill>
                <a:latin typeface="Noto Sans CJK TC"/>
              </a:rPr>
              <a:t>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330183" y="4041648"/>
            <a:ext cx="80467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348471" y="4050791"/>
            <a:ext cx="76809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34856" y="4041648"/>
            <a:ext cx="896112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53144" y="4050791"/>
            <a:ext cx="859536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0">
                <a:solidFill>
                  <a:srgbClr val="36454F"/>
                </a:solidFill>
                <a:latin typeface="Noto Sans CJK TC"/>
              </a:rPr>
              <a:t>100.0%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030968" y="4041648"/>
            <a:ext cx="914400" cy="576072"/>
          </a:xfrm>
          <a:prstGeom prst="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49256" y="4050791"/>
            <a:ext cx="877824" cy="55778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937737"/>
                </a:solidFill>
                <a:latin typeface="Noto Sans CJK TC"/>
              </a:rPr>
              <a:t>93.3%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964424" y="4718304"/>
            <a:ext cx="2871216" cy="3017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667580"/>
                </a:solidFill>
                <a:latin typeface="Noto Sans CJK TC"/>
              </a:rPr>
              <a:t>Target(candidate) = true class 是否真的進入 matching candidate 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Candidate Coverage：真正暴露 induction / coverage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特別是 Balance 的 B class，舊 coverage 幾乎看不出問題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Balance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Car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234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Hayes-Roth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5321808"/>
            <a:ext cx="3154680" cy="438912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B65252"/>
                </a:solidFill>
                <a:latin typeface="Noto Sans CJK TC"/>
              </a:rPr>
              <a:t>Balance B：C2=0%、C3=0%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5321808"/>
            <a:ext cx="3154680" cy="438912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C96A3D"/>
                </a:solidFill>
                <a:latin typeface="Noto Sans CJK TC"/>
              </a:rPr>
              <a:t>Car good：C2 只有 57.1%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5321808"/>
            <a:ext cx="3154680" cy="438912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5440680"/>
            <a:ext cx="2971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80" b="1">
                <a:solidFill>
                  <a:srgbClr val="4A78A8"/>
                </a:solidFill>
                <a:latin typeface="Noto Sans CJK TC"/>
              </a:rPr>
              <a:t>Hayes C2：class1/2 都只有 60%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1609344"/>
            <a:ext cx="3474720" cy="35478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1783080"/>
            <a:ext cx="3255264" cy="7132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1856231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5882A4"/>
                </a:solidFill>
                <a:latin typeface="Noto Sans CJK TC"/>
              </a:rPr>
              <a:t>C2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1837943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B 0.0% · L 84.5% · R 87.9%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2569464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642616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5882A4"/>
                </a:solidFill>
                <a:latin typeface="Noto Sans CJK TC"/>
              </a:rPr>
              <a:t>C3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2624328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B 0.0% · L 94.8% · R 89.7%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355848"/>
            <a:ext cx="3255264" cy="7132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429000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5882A4"/>
                </a:solidFill>
                <a:latin typeface="Noto Sans CJK TC"/>
              </a:rPr>
              <a:t>C4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61872" y="3410712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B 20.0% · L 98.3% · R 98.3%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142232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215384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5882A4"/>
                </a:solidFill>
                <a:latin typeface="Noto Sans CJK TC"/>
              </a:rPr>
              <a:t>C5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4197096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B 10.0% · L 94.8% · R 96.6%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1609344"/>
            <a:ext cx="3474720" cy="35478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44568" y="1783080"/>
            <a:ext cx="3255264" cy="7132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4296" y="1856231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756C"/>
                </a:solidFill>
                <a:latin typeface="Noto Sans CJK TC"/>
              </a:rPr>
              <a:t>C2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8072" y="1837943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acc 81.8% · good 57.1%
unacc 100.0% · vgood 84.6%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44568" y="2569464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54296" y="2642616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756C"/>
                </a:solidFill>
                <a:latin typeface="Noto Sans CJK TC"/>
              </a:rPr>
              <a:t>C3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2624328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acc 93.5% · good 78.6%
unacc 99.6% · vgood 92.3%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44568" y="3355848"/>
            <a:ext cx="3255264" cy="7132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54296" y="3429000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756C"/>
                </a:solidFill>
                <a:latin typeface="Noto Sans CJK TC"/>
              </a:rPr>
              <a:t>C4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48072" y="3410712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acc 94.8% · good 92.9%
unacc 100.0% · vgood 92.3%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44568" y="4142232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4296" y="4215384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756C"/>
                </a:solidFill>
                <a:latin typeface="Noto Sans CJK TC"/>
              </a:rPr>
              <a:t>C5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4197096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acc 93.5% · good 71.4%
unacc 99.6% · vgood 84.6%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1609344"/>
            <a:ext cx="3474720" cy="35478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30767" y="1783080"/>
            <a:ext cx="3255264" cy="713232"/>
          </a:xfrm>
          <a:prstGeom prst="roundRect">
            <a:avLst/>
          </a:prstGeom>
          <a:solidFill>
            <a:srgbClr val="F8F3DE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0496" y="1856231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937737"/>
                </a:solidFill>
                <a:latin typeface="Noto Sans CJK TC"/>
              </a:rPr>
              <a:t>C2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1837943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1 60.0% · 2 60.0% · 3 100.0%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7" y="2569464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0496" y="2642616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937737"/>
                </a:solidFill>
                <a:latin typeface="Noto Sans CJK TC"/>
              </a:rPr>
              <a:t>C3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4272" y="2624328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1 90.0% · 2 90.0% · 3 100.0%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30767" y="3355848"/>
            <a:ext cx="3255264" cy="713232"/>
          </a:xfrm>
          <a:prstGeom prst="roundRect">
            <a:avLst/>
          </a:prstGeom>
          <a:solidFill>
            <a:srgbClr val="F8F3DE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40496" y="3429000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937737"/>
                </a:solidFill>
                <a:latin typeface="Noto Sans CJK TC"/>
              </a:rPr>
              <a:t>C4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34272" y="3410712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1 80.0% · 2 80.0% · 3 100.0%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30767" y="4142232"/>
            <a:ext cx="3255264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0496" y="4215384"/>
            <a:ext cx="475488" cy="56692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937737"/>
                </a:solidFill>
                <a:latin typeface="Noto Sans CJK TC"/>
              </a:rPr>
              <a:t>C5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4272" y="4197096"/>
            <a:ext cx="2514600" cy="603504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869" b="0">
                <a:solidFill>
                  <a:srgbClr val="36454F"/>
                </a:solidFill>
                <a:latin typeface="Noto Sans CJK TC"/>
              </a:rPr>
              <a:t>1 100.0% · 2 80.0% · 3 100.0%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7. Standard：老師的「3+3」問題，現在完整算到 winner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核心不是把多的 u 當負分，而是避免同一 population 被 rule occurrences 重複放大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80160"/>
            <a:ext cx="3017520" cy="214884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17319"/>
            <a:ext cx="50292" cy="187452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17319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 的兩條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92224"/>
            <a:ext cx="256032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3"/>
                </a:solidFill>
                <a:latin typeface="Noto Sans CJK TC"/>
              </a:rPr>
              <a:t>r1→A : {u1,u2,u3}
r2→A : {u2,u3,u4}
T_A = 3+3 = 6
U_A = 4
P_A = 4/6 = 2/3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69080" y="1280160"/>
            <a:ext cx="3017520" cy="214884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78808" y="1417319"/>
            <a:ext cx="50292" cy="187452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417319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若 B 的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792224"/>
            <a:ext cx="256032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F2933"/>
                </a:solidFill>
                <a:latin typeface="Noto Sans CJK TC"/>
              </a:rPr>
              <a:t>假設 T_B = 5
而且五個 support 都不同
U_B = 5
P_B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280160"/>
            <a:ext cx="3886200" cy="21488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62088" y="1417319"/>
            <a:ext cx="50292" cy="18745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8" y="1417319"/>
            <a:ext cx="3447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改前 vs 改後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8" y="1792224"/>
            <a:ext cx="342900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STANDARD：A=6 &gt; B=5 → A
POPULATION STANDARD：
A=U_A=4 &lt; B=U_B=5 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4A78A8"/>
                </a:solidFill>
                <a:latin typeface="Noto Sans CJK TC"/>
              </a:rPr>
              <a:t>Standard 看 T_d（occurrences）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96849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6B7780"/>
                </a:solidFill>
                <a:latin typeface="Noto Sans CJK TC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977639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2B7A78"/>
                </a:solidFill>
                <a:latin typeface="Noto Sans CJK TC"/>
              </a:rPr>
              <a:t>Population Standard 看 U_d（unique objects）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新的 score 不會把「多出來的 unique u」扣分；它只是把重複出現的同一 u 從多次計價改成一次。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Standard 真實回查：同一機制可以 Correct，也可以 Harm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用 20% holdout 的真實 conflict case，不再只看 toy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5074920" cy="333756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508760"/>
            <a:ext cx="50292" cy="306324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Corrected case · Car Target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83664"/>
            <a:ext cx="4617720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True = vgood
STD winner = good   →   PS winner = vgood
old: T=9, U=7, P=0.778
new: T=9, U=9, P=1.000
CORRECTED · A(x)=0.222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074920" cy="333756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508760"/>
            <a:ext cx="50292" cy="306324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Harmed case · Car Target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83664"/>
            <a:ext cx="4617720" cy="273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True = acc
STD winner = acc   →   PS winner = unacc
old: T=38, U=25, P=0.658
new: T=27, U=27, P=1.000
HARMED · A(x)=-0.342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83480"/>
            <a:ext cx="10287000" cy="50292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5120640"/>
            <a:ext cx="50292" cy="22860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5120640"/>
            <a:ext cx="9848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1F2933"/>
                </a:solidFill>
                <a:latin typeface="Noto Sans CJK TC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495544"/>
            <a:ext cx="9829800" cy="-100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1F2933"/>
                </a:solidFill>
                <a:latin typeface="Noto Sans CJK TC"/>
              </a:rPr>
              <a:t>同樣是去重：如果錯誤 competitor 的 redundancy 高，可能救回 true class；如果 true class 的 evidence 本身高度重疊，就可能 over-correct。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Redundancy ≠ Noise。去重本身是明確行為，但「重複 evidence 是否該被懲罰」取決於它出現在誰身上。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8. Global：原 GlobalStrength 再乘 Population Nonredundancy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不是把 numerator / denominator 真正倒過來；而是加一個 P_d=U_d/T_d correction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337560" cy="214884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463039"/>
            <a:ext cx="50292" cy="187452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原 GlobalStrength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GS_d = U_d / N_d
U_d：unique support objects
N_d：training decision class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37560" cy="214884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44568" y="1463039"/>
            <a:ext cx="50292" cy="187452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Population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P_d = U_d / T_d
T_d：support occurrences
P_d 越低 → evidence overlap 越高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25880"/>
            <a:ext cx="3337560" cy="214884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47888" y="1463039"/>
            <a:ext cx="50292" cy="187452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463039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Population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1837943"/>
            <a:ext cx="2880360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933"/>
                </a:solidFill>
                <a:latin typeface="Noto Sans CJK TC"/>
              </a:rPr>
              <a:t>PG_d = GS_d × P_d
= U_d² / (N_d T_d)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69080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4C8A61"/>
                </a:solidFill>
                <a:latin typeface="Noto Sans CJK TC"/>
              </a:rPr>
              <a:t>原本回答：「unique population 佔 class 多大？」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4050791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6B7780"/>
                </a:solidFill>
                <a:latin typeface="Noto Sans CJK TC"/>
              </a:rPr>
              <a:t>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96A3D"/>
                </a:solidFill>
                <a:latin typeface="Noto Sans CJK TC"/>
              </a:rPr>
              <a:t>新增回答：「這些 evidence 有多少不是重複計價？」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Population Global 是 experimental correction；GlobalStrength 本身仍保留為 baseline，不被覆蓋。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Global 真實回查：winner 怎麼被 P_d 改變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Car 的 corrected / harmed case 直接算出 old →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5074920" cy="34290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" y="1508760"/>
            <a:ext cx="50292" cy="315468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Corrected · Car Target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883664"/>
            <a:ext cx="4617720" cy="282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>
                <a:solidFill>
                  <a:srgbClr val="1F2933"/>
                </a:solidFill>
                <a:latin typeface="Noto Sans CJK TC"/>
              </a:rPr>
              <a:t>True = good
GS winner = acc   →   PG winner = good
old winner: T=50, U=35, P=0.700
new winner: T=5, U=5, P=1.000
winner redundancy drop = 0.300
CORRECTED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074920" cy="342900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19088" y="1508760"/>
            <a:ext cx="50292" cy="315468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508760"/>
            <a:ext cx="4636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Harmed · Car Target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883664"/>
            <a:ext cx="4617720" cy="282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0" b="0">
                <a:solidFill>
                  <a:srgbClr val="1F2933"/>
                </a:solidFill>
                <a:latin typeface="Noto Sans CJK TC"/>
              </a:rPr>
              <a:t>True = acc
GS winner = acc   →   PG winner = unacc
old winner: T=67, U=39, P=0.582
new winner: T=106, U=106, P=1.000
winner redundancy drop = 0.418
HARMED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74920"/>
            <a:ext cx="10287000" cy="438912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5212080"/>
            <a:ext cx="50292" cy="164592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5212080"/>
            <a:ext cx="9848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F2933"/>
                </a:solidFill>
                <a:latin typeface="Noto Sans CJK TC"/>
              </a:rPr>
              <a:t>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586983"/>
            <a:ext cx="9829800" cy="-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>
                <a:solidFill>
                  <a:srgbClr val="1F2933"/>
                </a:solidFill>
                <a:latin typeface="Noto Sans CJK TC"/>
              </a:rPr>
              <a:t>所有 winner change 都往 redundancy 較低的 decision 移動；但較低 redundancy 不等於一定是真實類別。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PG 的行為符合設計；真正的研究問題是何時這個 penalty 對「錯的人」施加、何時對「對的人」施加。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回查案例 — Balance Scale · 1–5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events=2 · harmed events=2 · true-candidate missing=1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243584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16736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00200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16736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527048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1325880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right_distance=5.0 · right_weight=1.0 · left_distance=3.0 ·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335024"/>
            <a:ext cx="1353312" cy="53035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68B5B"/>
                </a:solidFill>
                <a:latin typeface="Noto Sans CJK TC"/>
              </a:rPr>
              <a:t>Corrected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335024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362456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527048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335024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2084832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157984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441448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157984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368296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2167128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right_distance=3.0 · right_weight=1.0 · left_distance=5.0 ·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176272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2176272"/>
            <a:ext cx="1536192" cy="53035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203704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368296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68B5B"/>
                </a:solidFill>
                <a:latin typeface="Noto Sans CJK TC"/>
              </a:rPr>
              <a:t>Corrected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2176272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926080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9232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282696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2999232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3209544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7632" y="3008376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right_distance=3.0 · right_weight=1.0 · left_distance=4.0 · 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3017520"/>
            <a:ext cx="135331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66760" y="3017520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0" y="3044952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209544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04120" y="3017520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" y="3767328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3840480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4123944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5568" y="3840480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" y="4050791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27632" y="3849624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right_distance=5.0 · right_weight=1.0 · left_distance=4.0 · 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1228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66760" y="3858768"/>
            <a:ext cx="153619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0" y="3886200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4050791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2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4984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0352" y="4608576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4681728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8368" y="4965192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" y="4681728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5568" y="4892040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27632" y="4690872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right_distance=4.0 · right_weight=1.0 · left_distance=4.0 · 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12280" y="4700016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66760" y="4700016"/>
            <a:ext cx="1536192" cy="530352"/>
          </a:xfrm>
          <a:prstGeom prst="roundRect">
            <a:avLst/>
          </a:prstGeom>
          <a:solidFill>
            <a:srgbClr val="F8F3DE"/>
          </a:solidFill>
          <a:ln w="10160">
            <a:solidFill>
              <a:srgbClr val="F8F3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0" y="4727448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892040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937737"/>
                </a:solidFill>
                <a:latin typeface="Noto Sans CJK TC"/>
              </a:rPr>
              <a:t>Changed / same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104120" y="4700016"/>
            <a:ext cx="1353312" cy="530352"/>
          </a:xfrm>
          <a:prstGeom prst="roundRect">
            <a:avLst/>
          </a:prstGeom>
          <a:solidFill>
            <a:srgbClr val="FAEBE9"/>
          </a:solidFill>
          <a:ln w="10160">
            <a:solidFill>
              <a:srgbClr val="FA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4984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984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F675E"/>
                </a:solidFill>
                <a:latin typeface="Noto Sans CJK TC"/>
              </a:rPr>
              <a:t>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回查案例 — Car Evaluation · 1–5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events=2 · harmed events=2 · true-candidate missing=1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243584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16736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00200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16736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527048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vgood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1325880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buying=low · maint=low · doors=2.0 · persons=4 · lug_boot=big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335024"/>
            <a:ext cx="1353312" cy="53035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68B5B"/>
                </a:solidFill>
                <a:latin typeface="Noto Sans CJK TC"/>
              </a:rPr>
              <a:t>Corrected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335024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362456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527048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335024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2084832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157984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441448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157984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368296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good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2167128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buying=med · maint=low · doors=3.0 · persons=4 · lug_boot=big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176272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2176272"/>
            <a:ext cx="1536192" cy="53035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203704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368296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68B5B"/>
                </a:solidFill>
                <a:latin typeface="Noto Sans CJK TC"/>
              </a:rPr>
              <a:t>Corrected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2176272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926080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9232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282696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2999232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3209544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acc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7632" y="3008376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buying=med · maint=vhigh · doors=4.0 · persons=more · lug_boo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3017520"/>
            <a:ext cx="135331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66760" y="3017520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0" y="3044952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209544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04120" y="3017520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" y="3767328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3840480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4123944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5568" y="3840480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" y="4050791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acc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27632" y="3849624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buying=high · maint=low · doors=4.0 · persons=4 · lug_boot=sm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1228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66760" y="3858768"/>
            <a:ext cx="153619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0" y="3886200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4050791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2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4984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0352" y="4608576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4681728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8368" y="4965192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" y="4681728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5568" y="4892040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good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27632" y="4690872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buying=med · maint=low · doors=4.0 · persons=4 · lug_boot=sma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12280" y="4700016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66760" y="4700016"/>
            <a:ext cx="1536192" cy="530352"/>
          </a:xfrm>
          <a:prstGeom prst="roundRect">
            <a:avLst/>
          </a:prstGeom>
          <a:solidFill>
            <a:srgbClr val="F8F3DE"/>
          </a:solidFill>
          <a:ln w="10160">
            <a:solidFill>
              <a:srgbClr val="F8F3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0" y="4727448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892040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937737"/>
                </a:solidFill>
                <a:latin typeface="Noto Sans CJK TC"/>
              </a:rPr>
              <a:t>Changed / same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104120" y="4700016"/>
            <a:ext cx="1353312" cy="530352"/>
          </a:xfrm>
          <a:prstGeom prst="roundRect">
            <a:avLst/>
          </a:prstGeom>
          <a:solidFill>
            <a:srgbClr val="FAEBE9"/>
          </a:solidFill>
          <a:ln w="10160">
            <a:solidFill>
              <a:srgbClr val="FA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4984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984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F675E"/>
                </a:solidFill>
                <a:latin typeface="Noto Sans CJK TC"/>
              </a:rPr>
              <a:t>NO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回查案例 — Hayes-Roth · 1–5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不是挑幾筆漂亮案例；5 個 selected holdout targets 全部列出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0468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7A78"/>
                </a:solidFill>
                <a:latin typeface="Noto Sans CJK TC"/>
              </a:rPr>
              <a:t>這 5 筆：corrected events=1 · harmed events=2 · true-candidate missing=0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243584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16736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00200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16736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527048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1325880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hobby=2.0 · age=3.0 · educational_level=4.0 · marital_status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335024"/>
            <a:ext cx="1353312" cy="53035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68B5B"/>
                </a:solidFill>
                <a:latin typeface="Noto Sans CJK TC"/>
              </a:rPr>
              <a:t>Corrected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335024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362456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527048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335024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0" y="1362456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1527048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2084832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157984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441448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157984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368296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2167128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hobby=3.0 · age=1.0 · educational_level=1.0 · marital_status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2176272"/>
            <a:ext cx="135331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2176272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203704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368296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2176272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0" y="2203704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368296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2926080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2999232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282696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" y="2999232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3209544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27632" y="3008376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hobby=2.0 · age=1.0 · educational_level=1.0 · marital_status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12280" y="3017520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66760" y="3017520"/>
            <a:ext cx="1536192" cy="53035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0" y="3044952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209544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BE5D54"/>
                </a:solidFill>
                <a:latin typeface="Noto Sans CJK TC"/>
              </a:rPr>
              <a:t>Harmed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04120" y="3017520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3044952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209544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" y="3767328"/>
            <a:ext cx="11137392" cy="731520"/>
          </a:xfrm>
          <a:prstGeom prst="roundRect">
            <a:avLst/>
          </a:prstGeom>
          <a:solidFill>
            <a:srgbClr val="F4F7F8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3840480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4123944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5568" y="3840480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" y="4050791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27632" y="3849624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hobby=3.0 · age=1.0 · educational_level=2.0 · marital_status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81228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66760" y="3858768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0" y="3886200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4050791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20" y="3858768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49840" y="3886200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49840" y="4050791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0352" y="4608576"/>
            <a:ext cx="11137392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4681728"/>
            <a:ext cx="411480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273A4C"/>
                </a:solidFill>
                <a:latin typeface="Noto Sans CJK TC"/>
              </a:rPr>
              <a:t>T5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8368" y="4965192"/>
            <a:ext cx="411480" cy="21031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80" b="0">
                <a:solidFill>
                  <a:srgbClr val="667580"/>
                </a:solidFill>
                <a:latin typeface="Noto Sans CJK TC"/>
              </a:rPr>
              <a:t>C=5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5568" y="4681728"/>
            <a:ext cx="4114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0" b="0">
                <a:solidFill>
                  <a:srgbClr val="667580"/>
                </a:solidFill>
                <a:latin typeface="Noto Sans CJK TC"/>
              </a:rPr>
              <a:t>True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5568" y="4892040"/>
            <a:ext cx="41148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100" b="1">
                <a:solidFill>
                  <a:srgbClr val="36454F"/>
                </a:solidFill>
                <a:latin typeface="Noto Sans CJK TC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27632" y="4690872"/>
            <a:ext cx="4983480" cy="5486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36454F"/>
                </a:solidFill>
                <a:latin typeface="Noto Sans CJK TC"/>
              </a:rPr>
              <a:t>hobby=1.0 · age=1.0 · educational_level=3.0 · marital_status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12280" y="4700016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STD→PS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66760" y="4700016"/>
            <a:ext cx="153619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0" y="4727448"/>
            <a:ext cx="1444751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GS→PG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892040"/>
            <a:ext cx="1444751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Unchanged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104120" y="4700016"/>
            <a:ext cx="1353312" cy="53035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E9F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49840" y="4727448"/>
            <a:ext cx="1261872" cy="1554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740" b="0">
                <a:solidFill>
                  <a:srgbClr val="667580"/>
                </a:solidFill>
                <a:latin typeface="Noto Sans CJK TC"/>
              </a:rPr>
              <a:t>True cand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49840" y="4892040"/>
            <a:ext cx="1261872" cy="24688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40" b="1">
                <a:solidFill>
                  <a:srgbClr val="5882A4"/>
                </a:solidFill>
                <a:latin typeface="Noto Sans CJK TC"/>
              </a:rPr>
              <a:t>YES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Summary — 908 個 Conflict Occurrences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Population correction 只改 43 個 borderline cases；另外有 45 個 conflict cases 的 true class 根本不在 candidate 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160520"/>
            <a:ext cx="2423160" cy="114300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C96A3D"/>
                </a:solidFill>
                <a:latin typeface="Noto Sans CJK TC"/>
              </a:rPr>
              <a:t>908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conflict occurrences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4160520"/>
            <a:ext cx="2423160" cy="114300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B65252"/>
                </a:solidFill>
                <a:latin typeface="Noto Sans CJK TC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0168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population-induced winner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4160520"/>
            <a:ext cx="2423160" cy="11430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4A78A8"/>
                </a:solidFill>
                <a:latin typeface="Noto Sans CJK TC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conflict cases without true candidate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34856" y="4160520"/>
            <a:ext cx="2423160" cy="114300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26296" y="4343400"/>
            <a:ext cx="22402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300" b="1">
                <a:solidFill>
                  <a:srgbClr val="4C8A61"/>
                </a:solidFill>
                <a:latin typeface="Noto Sans CJK TC"/>
              </a:rPr>
              <a:t>43/43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2872" y="4754880"/>
            <a:ext cx="2167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1F2933"/>
                </a:solidFill>
                <a:latin typeface="Noto Sans CJK TC"/>
              </a:rPr>
              <a:t>changed winner → lower redundancy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Coverage / induction failure 不能用 voting 修；Ranking error 才是 Standard / Global / Population policies 能處理的範圍。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" y="1353312"/>
            <a:ext cx="3273552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1481328"/>
            <a:ext cx="2999232" cy="3200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5882A4"/>
                </a:solidFill>
                <a:latin typeface="Noto Sans CJK TC"/>
              </a:rPr>
              <a:t>Balance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901952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Conflict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1901952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266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295144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True candidate absent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70632" y="2295144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688336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PS corrected / harmed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688336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3 /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081528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PG corrected / harmed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632" y="3081528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3 / 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69663" y="1353312"/>
            <a:ext cx="3273552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6824" y="1481328"/>
            <a:ext cx="2999232" cy="3200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36756C"/>
                </a:solidFill>
                <a:latin typeface="Noto Sans CJK TC"/>
              </a:rPr>
              <a:t>Car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70831" y="1901952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Conflict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18504" y="1901952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598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0831" y="2295144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True candidate absent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8504" y="2295144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70831" y="2688336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PS corrected / harmed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8504" y="2688336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2 /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0831" y="3081528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PG corrected / harmed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8504" y="3081528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7 / 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17536" y="1353312"/>
            <a:ext cx="3273552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B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54696" y="1481328"/>
            <a:ext cx="2999232" cy="32004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937737"/>
                </a:solidFill>
                <a:latin typeface="Noto Sans CJK TC"/>
              </a:rPr>
              <a:t>Hayes-Roth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18704" y="1901952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Conflict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66376" y="1901952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18704" y="2295144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True candidate absent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66376" y="2295144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18704" y="2688336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PS corrected / harmed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66376" y="2688336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1 /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18704" y="3081528"/>
            <a:ext cx="196596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l"/>
            <a:r>
              <a:rPr sz="900" b="0">
                <a:solidFill>
                  <a:srgbClr val="667580"/>
                </a:solidFill>
                <a:latin typeface="Noto Sans CJK TC"/>
              </a:rPr>
              <a:t>PG corrected / harmed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66376" y="3081528"/>
            <a:ext cx="868680" cy="25603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r"/>
            <a:r>
              <a:rPr sz="1100" b="1">
                <a:solidFill>
                  <a:srgbClr val="36454F"/>
                </a:solidFill>
                <a:latin typeface="Noto Sans CJK TC"/>
              </a:rPr>
              <a:t>0 /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Summary — Redundancy Asymmetry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這是 mechanism diagnostic，不是既有文獻 metric，也不是獨立 causal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1F2933"/>
                </a:solidFill>
                <a:latin typeface="Noto Sans CJK TC"/>
              </a:rPr>
              <a:t>R_d = 1 - P_d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417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>
                <a:solidFill>
                  <a:srgbClr val="2B7A78"/>
                </a:solidFill>
                <a:latin typeface="Noto Sans CJK TC"/>
              </a:rPr>
              <a:t>A(x) = R_competitor - R_true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4983480" cy="141732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2688" y="2377440"/>
            <a:ext cx="50292" cy="114300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4544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A(x) &gt; 0 · Corrected-side mechanism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52344"/>
            <a:ext cx="452628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錯誤 competitor 的 evidence 比 true decision 更重複。
目前 corrected transitions 的 A(x) 全部為正。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40280"/>
            <a:ext cx="4983480" cy="141732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3368" y="2377440"/>
            <a:ext cx="50292" cy="114300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6248" y="2377440"/>
            <a:ext cx="4544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A(x) &lt; 0 · Over-correction-side mechanism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752344"/>
            <a:ext cx="452628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true decision 本身的 evidence 比錯誤 competitor 更重複。
目前 harmed transitions 的 A(x) 全部為負。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A(x) 的 sign 在 changed cases 中是機制一致性檢查；下一步要在 repeated splits 中測它能否事前預測 corrected / harmed。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" y="4005072"/>
            <a:ext cx="2157984" cy="107899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096512"/>
            <a:ext cx="2011680" cy="21945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60" b="1">
                <a:solidFill>
                  <a:srgbClr val="568B5B"/>
                </a:solidFill>
                <a:latin typeface="Noto Sans CJK TC"/>
              </a:rPr>
              <a:t>PS · CORRECTED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343400"/>
            <a:ext cx="20116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454F"/>
                </a:solidFill>
                <a:latin typeface="Noto Sans CJK TC"/>
              </a:rPr>
              <a:t>n=6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4553712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36454F"/>
                </a:solidFill>
                <a:latin typeface="Noto Sans CJK TC"/>
              </a:rPr>
              <a:t>mean +0.181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" y="4745736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19" b="0">
                <a:solidFill>
                  <a:srgbClr val="667580"/>
                </a:solidFill>
                <a:latin typeface="Noto Sans CJK TC"/>
              </a:rPr>
              <a:t>min +0.062  ·  max +0.300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5887" y="4005072"/>
            <a:ext cx="2157984" cy="107899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4096512"/>
            <a:ext cx="2011680" cy="21945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60" b="1">
                <a:solidFill>
                  <a:srgbClr val="BE5D54"/>
                </a:solidFill>
                <a:latin typeface="Noto Sans CJK TC"/>
              </a:rPr>
              <a:t>PS · HARMED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343400"/>
            <a:ext cx="20116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454F"/>
                </a:solidFill>
                <a:latin typeface="Noto Sans CJK TC"/>
              </a:rPr>
              <a:t>n=9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4553712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36454F"/>
                </a:solidFill>
                <a:latin typeface="Noto Sans CJK TC"/>
              </a:rPr>
              <a:t>mean -0.336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745736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19" b="0">
                <a:solidFill>
                  <a:srgbClr val="667580"/>
                </a:solidFill>
                <a:latin typeface="Noto Sans CJK TC"/>
              </a:rPr>
              <a:t>min -0.467  ·  max -0.171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3952" y="4005072"/>
            <a:ext cx="2157984" cy="1078992"/>
          </a:xfrm>
          <a:prstGeom prst="roundRect">
            <a:avLst/>
          </a:prstGeom>
          <a:solidFill>
            <a:srgbClr val="EAF5EB"/>
          </a:solidFill>
          <a:ln w="10160">
            <a:solidFill>
              <a:srgbClr val="EA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4096512"/>
            <a:ext cx="2011680" cy="21945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60" b="1">
                <a:solidFill>
                  <a:srgbClr val="568B5B"/>
                </a:solidFill>
                <a:latin typeface="Noto Sans CJK TC"/>
              </a:rPr>
              <a:t>PG · CORRECTED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4343400"/>
            <a:ext cx="20116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454F"/>
                </a:solidFill>
                <a:latin typeface="Noto Sans CJK TC"/>
              </a:rPr>
              <a:t>n=10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4553712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36454F"/>
                </a:solidFill>
                <a:latin typeface="Noto Sans CJK TC"/>
              </a:rPr>
              <a:t>mean +0.187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4745736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19" b="0">
                <a:solidFill>
                  <a:srgbClr val="667580"/>
                </a:solidFill>
                <a:latin typeface="Noto Sans CJK TC"/>
              </a:rPr>
              <a:t>min +0.133  ·  max +0.300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4005072"/>
            <a:ext cx="2157984" cy="1078992"/>
          </a:xfrm>
          <a:prstGeom prst="roundRect">
            <a:avLst/>
          </a:prstGeom>
          <a:solidFill>
            <a:srgbClr val="FCEBE9"/>
          </a:solidFill>
          <a:ln w="10160">
            <a:solidFill>
              <a:srgbClr val="FCE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096512"/>
            <a:ext cx="2011680" cy="219456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60" b="1">
                <a:solidFill>
                  <a:srgbClr val="BE5D54"/>
                </a:solidFill>
                <a:latin typeface="Noto Sans CJK TC"/>
              </a:rPr>
              <a:t>PG · HARMED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8" y="4343400"/>
            <a:ext cx="2011680" cy="20116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919" b="1">
                <a:solidFill>
                  <a:srgbClr val="36454F"/>
                </a:solidFill>
                <a:latin typeface="Noto Sans CJK TC"/>
              </a:rPr>
              <a:t>n=13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8" y="4553712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69" b="0">
                <a:solidFill>
                  <a:srgbClr val="36454F"/>
                </a:solidFill>
                <a:latin typeface="Noto Sans CJK TC"/>
              </a:rPr>
              <a:t>mean -0.246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4745736"/>
            <a:ext cx="2011680" cy="1828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/>
            <a:r>
              <a:rPr sz="819" b="0">
                <a:solidFill>
                  <a:srgbClr val="667580"/>
                </a:solidFill>
                <a:latin typeface="Noto Sans CJK TC"/>
              </a:rPr>
              <a:t>min -0.418  ·  max -0.107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老師上次問題：現在逐題的最終答案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這頁就是開會最後要交卷的版本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1673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資料量？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289304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132/5、1728/7、625/5（Rows / Headers），並明列 factors、classes、80/20。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65376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4767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20% 有沒有參與？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920240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沒有。20% 只做最後 prediction / evaluation；所有 rules / supports / weights 只由 80% 建立。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96312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78608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六種方法結果？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51176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72 組完整 Acc / Recall(=BA) / Macro-F1 已自動輸出；沒有 universal winner。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27248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20954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Coverage？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3182112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Overall、Target(any rule)、Target Candidate(true class represented) 三層已分開。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58183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840479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Standard 3+3？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813047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T_d 會重複計 support occurrences；PS 改用 U_d，只讓同一 supporting object 計一次。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89120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471416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Global 怎麼改？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443983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保留 GS=U/N，再乘 P=U/T；PG=U²/(NT)。baseline 不被覆蓋。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020056"/>
            <a:ext cx="1874519" cy="438912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102352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80" b="1">
                <a:solidFill>
                  <a:srgbClr val="2B7A78"/>
                </a:solidFill>
                <a:latin typeface="Noto Sans CJK TC"/>
              </a:rPr>
              <a:t>Target 1–5？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074920"/>
            <a:ext cx="8641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0" b="0">
                <a:solidFill>
                  <a:srgbClr val="1F2933"/>
                </a:solidFill>
                <a:latin typeface="Noto Sans CJK TC"/>
              </a:rPr>
              <a:t>三個 dataset 各 5 筆全部回查；可分 corrected、harmed、coverage failure。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老師要求的每一題現在都有對應 code、CSV evidence 與簡報頁，不再靠人工口頭補。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Code / Evidence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這次不是只改 PPT；缺的 diagnostics 已正式進 research branch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429000" cy="1874519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463039"/>
            <a:ext cx="50292" cy="1600199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Code 補齊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0">
                <a:solidFill>
                  <a:srgbClr val="1F2933"/>
                </a:solidFill>
                <a:latin typeface="Noto Sans CJK TC"/>
              </a:rPr>
              <a:t>✓ Target Candidate Coverage
✓ Redundancy Asymmetry helper
✓ Coverage vs Ranking error classification
✓ Standard / Global transition decomposition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29000" cy="1874519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98848" y="1463039"/>
            <a:ext cx="50292" cy="1600199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Teacher CSVs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✓ dataset metadata
✓ six-policy metrics
✓ coverage by class
✓ target 1–5
✓ STD/GS transitions
✓ error/asymmetry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429000" cy="1874519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02167" y="1463039"/>
            <a:ext cx="50292" cy="1600199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837943"/>
            <a:ext cx="297180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Noto Sans CJK TC"/>
              </a:rPr>
              <a:t>TDD RED：缺 function / module 時 CI fail
GREEN：implementation 後
118 tests passed · compile PASS
backtrace workflow SUCCESS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03320"/>
            <a:ext cx="10561320" cy="132588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2688" y="3840480"/>
            <a:ext cx="50292" cy="1051560"/>
          </a:xfrm>
          <a:prstGeom prst="rect">
            <a:avLst/>
          </a:prstGeom>
          <a:solidFill>
            <a:srgbClr val="6B7780"/>
          </a:solidFill>
          <a:ln>
            <a:solidFill>
              <a:srgbClr val="6B77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840480"/>
            <a:ext cx="10122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Repository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215383"/>
            <a:ext cx="10104120" cy="722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Branch: research/conflict-client-sweep-20261020
PR #5: Draft / Open / Not merged
Frozen production main remains unchanged.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這一輪完成的是 professor-question evidence layer，不修改 frozen main，也不新增第七種 prediction policy。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現在可以下什麼結論、還不能下什麼結論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把「已證明的 code 行為」與「下一步要統計驗證的研究假說」分開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5303520" cy="310896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" y="1463039"/>
            <a:ext cx="50292" cy="283464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63039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目前可以確定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37943"/>
            <a:ext cx="4846320" cy="250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• Population correction 會降低 duplicated support 對 winner 的影響。
• 43/43 changed winners 都往 lower-redundancy decision 移動。
• 它可以 corrected，也可以 harmed。
• true class 不在 candidate set 時，任何 voting 都救不了。
• Target Candidate Coverage 能直接量到這個缺口。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25880"/>
            <a:ext cx="5303520" cy="310896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81928" y="1463039"/>
            <a:ext cx="50292" cy="283464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463039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目前不能直接宣稱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837943"/>
            <a:ext cx="4846320" cy="2505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• Population method universally better。
• Client 數越多就一定越好／越差。
• Redundancy 本身就是 noise。
• A(x) 已經是 causal predictor。
• seed=42 的 72 rows 可直接當獨立樣本做顯著性。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800600"/>
            <a:ext cx="10332720" cy="59436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128" y="4937760"/>
            <a:ext cx="50292" cy="32004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4937760"/>
            <a:ext cx="9893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1F2933"/>
                </a:solidFill>
                <a:latin typeface="Noto Sans CJK TC"/>
              </a:rPr>
              <a:t>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5312664"/>
            <a:ext cx="9875520" cy="-9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F2933"/>
                </a:solidFill>
                <a:latin typeface="Noto Sans CJK TC"/>
              </a:rPr>
              <a:t>Repeated matched seeds / splits → 每個 conflict case 記錄 candidate coverage、T/U/P、score margin、A(x) → Friedman / paired Wilcoxon（block-level）。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下一輪不加新方法；先驗證「什麼 support structure 會讓 Population correction corrected 或 over-correct」。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Professor-question closure · 2026-10-23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Target 回查：一筆測試資料到底怎麼一路算到最後？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先把「回查」定義成可重現的計算鏈，而不是只看最後 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3429000" cy="141732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9808" y="1463039"/>
            <a:ext cx="50292" cy="114300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① Target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37943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20% holdout 的一筆資料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69080" y="2029968"/>
            <a:ext cx="301752" cy="0"/>
          </a:xfrm>
          <a:prstGeom prst="line">
            <a:avLst/>
          </a:prstGeom>
          <a:ln w="1778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62272" y="1325880"/>
            <a:ext cx="3429000" cy="141732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463039"/>
            <a:ext cx="50292" cy="114300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② Matching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837943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M(x) = 符合 antecedent 的 global rules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1271" y="2029968"/>
            <a:ext cx="301753" cy="0"/>
          </a:xfrm>
          <a:prstGeom prst="line">
            <a:avLst/>
          </a:prstGeom>
          <a:ln w="1778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84463" y="1325880"/>
            <a:ext cx="3429000" cy="141732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94191" y="1463039"/>
            <a:ext cx="50292" cy="1143000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1463039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③ Candidate decisions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1837943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Candidate(x) = {d_r : r∈M(x)}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00400"/>
            <a:ext cx="3429000" cy="141732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3337560"/>
            <a:ext cx="50292" cy="1143000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33756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④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712464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每個 decision 算 T_d、U_d、P_d、R_d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69080" y="3904487"/>
            <a:ext cx="301752" cy="0"/>
          </a:xfrm>
          <a:prstGeom prst="line">
            <a:avLst/>
          </a:prstGeom>
          <a:ln w="1778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62272" y="3200400"/>
            <a:ext cx="3429000" cy="141732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337560"/>
            <a:ext cx="50292" cy="114300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0" y="333756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⑤ Policy scores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712464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STD / PS / GS / PG 分別計分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891271" y="3904487"/>
            <a:ext cx="301753" cy="0"/>
          </a:xfrm>
          <a:prstGeom prst="line">
            <a:avLst/>
          </a:prstGeom>
          <a:ln w="1778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84463" y="3200400"/>
            <a:ext cx="3429000" cy="141732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94191" y="3337560"/>
            <a:ext cx="50292" cy="114300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333756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F2933"/>
                </a:solidFill>
                <a:latin typeface="Noto Sans CJK TC"/>
              </a:rPr>
              <a:t>⑥ Outcome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3712464"/>
            <a:ext cx="2971800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Noto Sans CJK TC"/>
              </a:rPr>
              <a:t>old winner → new winner → Corrected / Harmed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34440" y="5010912"/>
            <a:ext cx="9738360" cy="566928"/>
          </a:xfrm>
          <a:prstGeom prst="roundRect">
            <a:avLst/>
          </a:prstGeom>
          <a:solidFill>
            <a:srgbClr val="FBEAEA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5129784"/>
            <a:ext cx="94640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B65252"/>
                </a:solidFill>
                <a:latin typeface="Cambria Math"/>
              </a:rPr>
              <a:t>若 y ∉ Candidate(x) → 這不是 voting 問題，而是 Rule Coverage / Induction Failure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後面的 15 targets、908 conflicts、43 winner changes，全部都是沿著這條鏈計算。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Step 1 — 先找 M(x) 與 Candidate(x)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Balance Scale · Target 1：先確認「哪些 rules 有資格參與這筆 prediction」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234440"/>
            <a:ext cx="2788920" cy="25146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1371600"/>
            <a:ext cx="50292" cy="224028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371600"/>
            <a:ext cx="23500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Target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746504"/>
            <a:ext cx="2331720" cy="191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right_distance = 5
right_weight = 1
left_distance = 3
left_weight = 1
True decision = 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1234440"/>
            <a:ext cx="3886200" cy="251460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3048" y="1371600"/>
            <a:ext cx="50292" cy="224028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95928" y="1371600"/>
            <a:ext cx="3447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Matching rules M(x)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5928" y="1746504"/>
            <a:ext cx="3429000" cy="191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1F2933"/>
                </a:solidFill>
                <a:latin typeface="Noto Sans CJK TC"/>
              </a:rPr>
              <a:t>r1: right_distance=5 AND left_weight=1 → R
r2: right_weight=1 AND right_distance=5 AND left_distance=3 → L
r3: right_weight=1 AND left_distance=3 →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1234440"/>
            <a:ext cx="3675887" cy="251460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371600"/>
            <a:ext cx="50292" cy="2240280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371600"/>
            <a:ext cx="32369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Candidate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746504"/>
            <a:ext cx="3218687" cy="191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>
                <a:solidFill>
                  <a:srgbClr val="1F2933"/>
                </a:solidFill>
                <a:latin typeface="Noto Sans CJK TC"/>
              </a:rPr>
              <a:t>M_R(x) = {r1}
M_L(x) = {r2, r3}
Candidate(x) = {L, R}
因為 |Candidate(x)| = 2，所以這筆是真正的 prediction-time conflict。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133087"/>
            <a:ext cx="4892040" cy="640080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251959"/>
            <a:ext cx="46177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2933"/>
                </a:solidFill>
                <a:latin typeface="Cambria Math"/>
              </a:rPr>
              <a:t>M(x) = { r ∈ R_G : x ⊨ Ante(r) 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33087"/>
            <a:ext cx="4892040" cy="640080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251959"/>
            <a:ext cx="46177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2933"/>
                </a:solidFill>
                <a:latin typeface="Cambria Math"/>
              </a:rPr>
              <a:t>Candidate(x) = { d_r : r ∈ M(x) 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回查的第一件事不是算分數，而是先知道「有哪些 decision 真的被 matching rules 提出」。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Step 2 — 每條 Rule 的 support 從哪裡來？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只回查 80% training objects；20% holdout 永遠不參與 support / weight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07008"/>
            <a:ext cx="10561320" cy="658368"/>
          </a:xfrm>
          <a:prstGeom prst="roundRect">
            <a:avLst/>
          </a:prstGeom>
          <a:solidFill>
            <a:srgbClr val="E7F2F1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25880"/>
            <a:ext cx="10287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2B7A78"/>
                </a:solidFill>
                <a:latin typeface="Cambria Math"/>
              </a:rPr>
              <a:t>S_G(r) = { z ∈ U_train : z ⊨ Ante(r) ∧ D(z)=d_r 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21408"/>
            <a:ext cx="3337560" cy="1874519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2258568"/>
            <a:ext cx="50292" cy="1600199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258568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R 的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633472"/>
            <a:ext cx="288036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r1 → R
|S_G(r1)| = 18
因此：
T_R = 18
U_R =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21408"/>
            <a:ext cx="3337560" cy="1874519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44568" y="2258568"/>
            <a:ext cx="50292" cy="1600199"/>
          </a:xfrm>
          <a:prstGeom prst="rect">
            <a:avLst/>
          </a:prstGeom>
          <a:solidFill>
            <a:srgbClr val="C96A3D"/>
          </a:solidFill>
          <a:ln>
            <a:solidFill>
              <a:srgbClr val="C96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258568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L 的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633472"/>
            <a:ext cx="288036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0" b="0">
                <a:solidFill>
                  <a:srgbClr val="1F2933"/>
                </a:solidFill>
                <a:latin typeface="Noto Sans CJK TC"/>
              </a:rPr>
              <a:t>r2 → L : support = 3
r3 → L : support = 16
Standard 先直接加總：
T_L = 3 + 16 = 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121408"/>
            <a:ext cx="3337560" cy="1874519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02167" y="2258568"/>
            <a:ext cx="50292" cy="1600199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2258568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重複在哪裡？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633472"/>
            <a:ext cx="2880360" cy="1271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>
                <a:solidFill>
                  <a:srgbClr val="1F2933"/>
                </a:solidFill>
                <a:latin typeface="Noto Sans CJK TC"/>
              </a:rPr>
              <a:t>r2 的 3 個 support objects 全部也出現在 r3。
因此 19 次 support occurrences 裡，真正不同的 objects 只有 16 個：
U_L = 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15968"/>
            <a:ext cx="3291840" cy="658368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34840"/>
            <a:ext cx="3017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2933"/>
                </a:solidFill>
                <a:latin typeface="Cambria Math"/>
              </a:rPr>
              <a:t>T_d = Σ_{r∈M_d(x)} |S_G(r)|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4315968"/>
            <a:ext cx="3291840" cy="658368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3017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2933"/>
                </a:solidFill>
                <a:latin typeface="Cambria Math"/>
              </a:rPr>
              <a:t>U_d = | ⋃_{r∈M_d(x)} S_G(r) |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315968"/>
            <a:ext cx="3291840" cy="658368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4434840"/>
            <a:ext cx="3017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1F2933"/>
                </a:solidFill>
                <a:latin typeface="Cambria Math"/>
              </a:rPr>
              <a:t>P_d = U_d / T_d   ;   R_d = 1 - P_d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2120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F2933"/>
                </a:solidFill>
                <a:latin typeface="Noto Sans CJK TC"/>
              </a:rPr>
              <a:t>Balance T1：P_L = 16/19 = 0.8421 → R_L = 0.1579；P_R = 18/18 = 1 → R_R =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T_d 是「被算了幾次」；U_d 是「真正有幾個不同 training objects」；P_d / R_d 描述重複程度。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Step 3 — Standard 為什麼從 L 變成 R？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Balance Scale · Target 1：把公式完整算到 winner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61872"/>
            <a:ext cx="3337560" cy="361188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399031"/>
            <a:ext cx="50292" cy="333756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99031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Standard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73936"/>
            <a:ext cx="2880360" cy="300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Score_STD(L) = T_L = 19
Score_STD(R) = T_R = 18
19 &gt; 18
STD winner = L
True = R
→ WRONG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261872"/>
            <a:ext cx="3337560" cy="361188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1399031"/>
            <a:ext cx="50292" cy="333756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399031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Population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773936"/>
            <a:ext cx="2880360" cy="300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933"/>
                </a:solidFill>
                <a:latin typeface="Noto Sans CJK TC"/>
              </a:rPr>
              <a:t>Score_PS(L) = U_L = 16
Score_PS(R) = U_R = 18
16 &lt; 18
PS winner = R
True = R
→ CORRECT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261872"/>
            <a:ext cx="3337560" cy="361188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57031" y="1399031"/>
            <a:ext cx="50292" cy="333756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1399031"/>
            <a:ext cx="2898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到底改了什麼？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1773936"/>
            <a:ext cx="2880360" cy="300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0">
                <a:solidFill>
                  <a:srgbClr val="1F2933"/>
                </a:solidFill>
                <a:latin typeface="Noto Sans CJK TC"/>
              </a:rPr>
              <a:t>L：T=19 → U=16
代表 3 次 support 是重複計價。
R：T=18 → U=18
沒有重複。
所以不是「給重複資料負分」，而是把同一 training object 的重複 contribution 去重。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138928"/>
            <a:ext cx="2971800" cy="530352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269748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2933"/>
                </a:solidFill>
                <a:latin typeface="Cambria Math"/>
              </a:rPr>
              <a:t>Score_STD(d|x) = T_d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138928"/>
            <a:ext cx="2971800" cy="530352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5257800"/>
            <a:ext cx="269748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1F2933"/>
                </a:solidFill>
                <a:latin typeface="Cambria Math"/>
              </a:rPr>
              <a:t>Score_PS(d|x) = U_d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5138928"/>
            <a:ext cx="2971800" cy="530352"/>
          </a:xfrm>
          <a:prstGeom prst="roundRect">
            <a:avLst/>
          </a:prstGeom>
          <a:solidFill>
            <a:srgbClr val="E8F3E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5257800"/>
            <a:ext cx="2697480" cy="3017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4C8A61"/>
                </a:solidFill>
                <a:latin typeface="Cambria Math"/>
              </a:rPr>
              <a:t>L → R  =  WRONG → CORRECTED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這就是我們在 Target 回查裡標記 CORRECTED 的意思：同一筆資料只改 prediction policy，winner 從錯誤 class 換成 true class。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Step 4 — GlobalStrength 到 Population Global 又怎麼算？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Car Evaluation · Target 2：原本 acc 勝，乘上 nonredundancy 後 good 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07008"/>
            <a:ext cx="3246120" cy="566928"/>
          </a:xfrm>
          <a:prstGeom prst="roundRect">
            <a:avLst/>
          </a:prstGeom>
          <a:solidFill>
            <a:srgbClr val="EAF2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29718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4A78A8"/>
                </a:solidFill>
                <a:latin typeface="Cambria Math"/>
              </a:rPr>
              <a:t>GS_d = U_d / N_d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2272" y="1207008"/>
            <a:ext cx="3246120" cy="566928"/>
          </a:xfrm>
          <a:prstGeom prst="roundRect">
            <a:avLst/>
          </a:prstGeom>
          <a:solidFill>
            <a:srgbClr val="F8EAE3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1325880"/>
            <a:ext cx="29718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C96A3D"/>
                </a:solidFill>
                <a:latin typeface="Cambria Math"/>
              </a:rPr>
              <a:t>P_d = U_d / T_d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207008"/>
            <a:ext cx="3611880" cy="566928"/>
          </a:xfrm>
          <a:prstGeom prst="roundRect">
            <a:avLst/>
          </a:prstGeom>
          <a:solidFill>
            <a:srgbClr val="E7F2F1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0" y="1325880"/>
            <a:ext cx="33375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2B7A78"/>
                </a:solidFill>
                <a:latin typeface="Cambria Math"/>
              </a:rPr>
              <a:t>PG_d = GS_d × P_d = U_d² / (N_d T_d)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5303520" cy="224028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2194560"/>
            <a:ext cx="50292" cy="196596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2194560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原 GlobalStrength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569464"/>
            <a:ext cx="4846320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933"/>
                </a:solidFill>
                <a:latin typeface="Noto Sans CJK TC"/>
              </a:rPr>
              <a:t>True = good
acc: U=35, N=307 → GS=35/307=0.1140
good: U=5, N=55 → GS=5/55=0.0909
0.1140 &gt; 0.0909 → winner = acc → WRONG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03520" cy="224028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7648" y="2194560"/>
            <a:ext cx="50292" cy="196596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194560"/>
            <a:ext cx="4864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Population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569464"/>
            <a:ext cx="4846320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0" b="0">
                <a:solidFill>
                  <a:srgbClr val="1F2933"/>
                </a:solidFill>
                <a:latin typeface="Noto Sans CJK TC"/>
              </a:rPr>
              <a:t>acc: T=50, U=35 → P=35/50=0.70
PG(acc)=0.1140×0.70=0.0798
good: T=5, U=5 → P=1
PG(good)=0.0909×1=0.0909
0.0909 &gt; 0.0798 → winner = good → CORRECT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65960" y="4599432"/>
            <a:ext cx="8275320" cy="86868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75688" y="4736592"/>
            <a:ext cx="50292" cy="594359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4736592"/>
            <a:ext cx="7836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5111496"/>
            <a:ext cx="7818120" cy="265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0">
                <a:solidFill>
                  <a:srgbClr val="1F2933"/>
                </a:solidFill>
                <a:latin typeface="Noto Sans CJK TC"/>
              </a:rPr>
              <a:t>GlobalStrength 已經使用 unique support；Population Global 額外問「這些 unique support 是不是由很多重疊 rules 反覆產生？」因此再乘 P_d。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PG 不是把 numerator / denominator 顛倒，而是在 GlobalStrength 上再加入 support-overlap penalty。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從 15 個 Target 到 908 個 Conflict：怎麼擴大回查？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15 筆用來理解機制；908 筆則是把同一套計算對所有 conflict occurrences 全掃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61872"/>
            <a:ext cx="5166360" cy="205740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8" y="1399031"/>
            <a:ext cx="50292" cy="178308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99031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15 個 selected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1773936"/>
            <a:ext cx="4709160" cy="1453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70" b="0">
                <a:solidFill>
                  <a:srgbClr val="1F2933"/>
                </a:solidFill>
                <a:latin typeface="Noto Sans CJK TC"/>
              </a:rPr>
              <a:t>3 datasets × 5 cases
目的：看清楚 corrected、harmed、winner 不變、true class 缺席等代表性機制。
它們是 descriptive backtrace，不是 statistical sample。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61872"/>
            <a:ext cx="5166360" cy="205740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73368" y="1399031"/>
            <a:ext cx="50292" cy="178308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1399031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2933"/>
                </a:solidFill>
                <a:latin typeface="Noto Sans CJK TC"/>
              </a:rPr>
              <a:t>全體 conflict 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1773936"/>
            <a:ext cx="4709160" cy="1453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對每個 dataset × C ∈ {2,3,4,5} 的 20% holdout：
只要 |Candidate(x)| &gt; 1，就記成一個 prediction-time conflict occurrence。
同一 row 在不同 C 下可以重複出現。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703320"/>
            <a:ext cx="4800600" cy="640080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452628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1F2933"/>
                </a:solidFill>
                <a:latin typeface="Cambria Math"/>
              </a:rPr>
              <a:t>Conflict(x) ⇔ | { d_r : r∈M(x) } | &gt;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11880"/>
            <a:ext cx="4892040" cy="96012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1928" y="3749040"/>
            <a:ext cx="50292" cy="685800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749040"/>
            <a:ext cx="44531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933"/>
                </a:solidFill>
                <a:latin typeface="Noto Sans CJK TC"/>
              </a:rPr>
              <a:t>實際計數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4123944"/>
            <a:ext cx="4434840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80" b="0">
                <a:solidFill>
                  <a:srgbClr val="1F2933"/>
                </a:solidFill>
                <a:latin typeface="Noto Sans CJK TC"/>
              </a:rPr>
              <a:t>Balance: 47+62+74+83 = 266
Car: 85+134+169+210 = 598
Hayes: 3+14+10+17 =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65960" y="4919472"/>
            <a:ext cx="8275320" cy="658368"/>
          </a:xfrm>
          <a:prstGeom prst="roundRect">
            <a:avLst/>
          </a:prstGeom>
          <a:solidFill>
            <a:srgbClr val="FBEAEA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5038344"/>
            <a:ext cx="8001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B65252"/>
                </a:solidFill>
                <a:latin typeface="Cambria Math"/>
              </a:rPr>
              <a:t>266 + 598 + 44 = 908 conflict occurrences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908 不是 908 個 unique people，而是 dataset × client-setting 下的 conflict occurrences。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908 裡先分兩類：能不能被 voting 解決？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先看 true class 有沒有進 Candidate(x)，再談 ranking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074920" cy="621792"/>
          </a:xfrm>
          <a:prstGeom prst="roundRect">
            <a:avLst/>
          </a:prstGeom>
          <a:solidFill>
            <a:srgbClr val="E8F3E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53312"/>
            <a:ext cx="48006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4C8A61"/>
                </a:solidFill>
                <a:latin typeface="Cambria Math"/>
              </a:rPr>
              <a:t>Resolvable(x) ⇔ y ∈ Candidate(x)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074920" cy="621792"/>
          </a:xfrm>
          <a:prstGeom prst="roundRect">
            <a:avLst/>
          </a:prstGeom>
          <a:solidFill>
            <a:srgbClr val="FBEAEA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53312"/>
            <a:ext cx="48006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B65252"/>
                </a:solidFill>
                <a:latin typeface="Cambria Math"/>
              </a:rPr>
              <a:t>Unresolvable(x) ⇔ y ∉ Candidate(x)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166360" cy="224028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286000"/>
            <a:ext cx="50292" cy="1965960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286000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Coverage / Induction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660904"/>
            <a:ext cx="4709160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0" b="0">
                <a:solidFill>
                  <a:srgbClr val="1F2933"/>
                </a:solidFill>
                <a:latin typeface="Noto Sans CJK TC"/>
              </a:rPr>
              <a:t>例如 Balance Target 5：True = B
Candidate(x) = {L, R}
B 根本不存在，任何 FIRST / SIMPLE / STD / GS / PS / PG 都不可能選到 B。
這種錯誤不能怪 voting。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166360" cy="224028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3368" y="2286000"/>
            <a:ext cx="50292" cy="1965960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286000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Conflict Ranking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60904"/>
            <a:ext cx="4709160" cy="1636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0" b="0">
                <a:solidFill>
                  <a:srgbClr val="1F2933"/>
                </a:solidFill>
                <a:latin typeface="Noto Sans CJK TC"/>
              </a:rPr>
              <a:t>如果 y ∈ Candidate(x)，代表 true class 至少有 rule 提出。
此時才有意義比較：
T_d、U_d、P_d、GS_d、PG_d
以及 old winner → new winner。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4736592"/>
            <a:ext cx="5440680" cy="64008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492861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A98025"/>
                </a:solidFill>
                <a:latin typeface="Noto Sans CJK TC"/>
              </a:rPr>
              <a:t>908 conflicts 中有 45 筆：true class 不在 candidate set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所以我們新增 Target Candidate Coverage，就是專門量「true class 是否有進 candidate set」。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43 個 Winner Changes 到底怎麼算？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只要 baseline winner 與 population winner 不同，就記一次 transition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074920" cy="640080"/>
          </a:xfrm>
          <a:prstGeom prst="roundRect">
            <a:avLst/>
          </a:prstGeom>
          <a:solidFill>
            <a:srgbClr val="EAF2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53312"/>
            <a:ext cx="48006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4A78A8"/>
                </a:solidFill>
                <a:latin typeface="Cambria Math"/>
              </a:rPr>
              <a:t>Δ_STD(x) = 1[ ŷ_STD(x) ≠ ŷ_PS(x)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074920" cy="640080"/>
          </a:xfrm>
          <a:prstGeom prst="roundRect">
            <a:avLst/>
          </a:prstGeom>
          <a:solidFill>
            <a:srgbClr val="E7F2F1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353312"/>
            <a:ext cx="48006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2B7A78"/>
                </a:solidFill>
                <a:latin typeface="Cambria Math"/>
              </a:rPr>
              <a:t>Δ_GS(x) = 1[ ŷ_GS(x) ≠ ŷ_PG(x)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76272"/>
            <a:ext cx="5166360" cy="233172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6968" y="2313432"/>
            <a:ext cx="50292" cy="2057400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13432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Standard → Population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688336"/>
            <a:ext cx="4709160" cy="1728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0">
                <a:solidFill>
                  <a:srgbClr val="1F2933"/>
                </a:solidFill>
                <a:latin typeface="Noto Sans CJK TC"/>
              </a:rPr>
              <a:t>Winner changed = 16
6  Corrected: wrong → true
9  Harmed: true → wrong
1  Changed, same correctness: wrong → another wrong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76272"/>
            <a:ext cx="5166360" cy="233172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73368" y="2313432"/>
            <a:ext cx="50292" cy="2057400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313432"/>
            <a:ext cx="4727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Global → Population Global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2688336"/>
            <a:ext cx="4709160" cy="1728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0">
                <a:solidFill>
                  <a:srgbClr val="1F2933"/>
                </a:solidFill>
                <a:latin typeface="Noto Sans CJK TC"/>
              </a:rPr>
              <a:t>Winner changed = 27
10 Corrected: wrong → true
13 Harmed: true → wrong
4  Changed, same correctness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74519" y="4864608"/>
            <a:ext cx="8458200" cy="621792"/>
          </a:xfrm>
          <a:prstGeom prst="roundRect">
            <a:avLst/>
          </a:prstGeom>
          <a:solidFill>
            <a:srgbClr val="F6F0DC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79" y="498348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A98025"/>
                </a:solidFill>
                <a:latin typeface="Cambria Math"/>
              </a:rPr>
              <a:t>16 + 27 = 43 population-induced winner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43 不是「43 筆變好」；它只代表 Population correction 真正改變了最後 winner，之後還要分 corrected / harmed。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Redundancy Asymmetry：最後這個量是怎麼算出來的？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不是另一個 prediction method；它是用來解釋「為什麼同一個 penalty 有時救對、有時修壞」的 diagnostic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170432"/>
            <a:ext cx="4800600" cy="621792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39" y="1289304"/>
            <a:ext cx="45262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2933"/>
                </a:solidFill>
                <a:latin typeface="Cambria Math"/>
              </a:rPr>
              <a:t>R_d = 1 - P_d = 1 - U_d/T_d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170432"/>
            <a:ext cx="4800600" cy="621792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289304"/>
            <a:ext cx="45262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F2933"/>
                </a:solidFill>
                <a:latin typeface="Cambria Math"/>
              </a:rPr>
              <a:t>A(x) = R_competitor - R_true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057400"/>
            <a:ext cx="5257800" cy="2450592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50292" cy="2176272"/>
          </a:xfrm>
          <a:prstGeom prst="rect">
            <a:avLst/>
          </a:prstGeom>
          <a:solidFill>
            <a:srgbClr val="4C8A61"/>
          </a:solidFill>
          <a:ln>
            <a:solidFill>
              <a:srgbClr val="4C8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818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Corrected example · Car Target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69464"/>
            <a:ext cx="4800600" cy="1847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40" b="0">
                <a:solidFill>
                  <a:srgbClr val="1F2933"/>
                </a:solidFill>
                <a:latin typeface="Noto Sans CJK TC"/>
              </a:rPr>
              <a:t>True = good；原 GS winner = acc
R_acc = 1 - 35/50 = 0.300
R_good = 1 - 5/5 = 0
A(x) = 0.300 - 0 = +0.300
錯誤 competitor 比 true class 更重複 → penalty 壓低 acc → good 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2057400"/>
            <a:ext cx="5257800" cy="2450592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2194560"/>
            <a:ext cx="50292" cy="2176272"/>
          </a:xfrm>
          <a:prstGeom prst="rect">
            <a:avLst/>
          </a:prstGeom>
          <a:solidFill>
            <a:srgbClr val="B65252"/>
          </a:solidFill>
          <a:ln>
            <a:solidFill>
              <a:srgbClr val="B65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2194560"/>
            <a:ext cx="4818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Harmed example · Car 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569464"/>
            <a:ext cx="4800600" cy="1847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15" b="0">
                <a:solidFill>
                  <a:srgbClr val="1F2933"/>
                </a:solidFill>
                <a:latin typeface="Noto Sans CJK TC"/>
              </a:rPr>
              <a:t>True = acc；原 GS winner = acc，PG 改成 unacc
R_unacc = 1 - 106/106 = 0
R_acc = 1 - 39/67 = 0.4179
A(x) = 0 - 0.4179 = -0.4179
true class 反而更重複 → penalty 壓掉正確 evidence。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4800600"/>
            <a:ext cx="8183879" cy="566928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974336"/>
            <a:ext cx="7909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2B7A78"/>
                </a:solidFill>
                <a:latin typeface="Noto Sans CJK TC"/>
              </a:rPr>
              <a:t>A(x) &gt; 0：較像 corrected-side mechanism　｜　A(x) &lt; 0：較像 over-correction-side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A(x) 是 mechanism hypothesis / diagnostic；目前不能把它宣稱成已證明的 causal predictor。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933"/>
                </a:solidFill>
                <a:latin typeface="Noto Sans CJK TC"/>
              </a:rPr>
              <a:t>從一筆 Target 到研究結論：完整邏輯不要再跳步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786384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2B7A78"/>
                </a:solidFill>
                <a:latin typeface="Noto Sans CJK TC"/>
              </a:rPr>
              <a:t>這一頁把後半段所有數字放回同一條計算鏈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463040"/>
            <a:ext cx="1371600" cy="96012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4A78A8"/>
                </a:solidFill>
                <a:latin typeface="Noto Sans CJK TC"/>
              </a:rPr>
              <a:t>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20% target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1938528"/>
            <a:ext cx="237743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03120" y="1463040"/>
            <a:ext cx="1371600" cy="96012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39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B7A78"/>
                </a:solidFill>
                <a:latin typeface="Noto Sans CJK TC"/>
              </a:rPr>
              <a:t>M(x)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39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matching rules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93008" y="1938528"/>
            <a:ext cx="237744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67328" y="1463040"/>
            <a:ext cx="1371600" cy="96012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A98025"/>
                </a:solidFill>
                <a:latin typeface="Noto Sans CJK TC"/>
              </a:rPr>
              <a:t>Candidate(x)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3048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可選 decisions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57216" y="1938528"/>
            <a:ext cx="237744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31536" y="1463040"/>
            <a:ext cx="1371600" cy="960120"/>
          </a:xfrm>
          <a:prstGeom prst="roundRect">
            <a:avLst/>
          </a:prstGeom>
          <a:solidFill>
            <a:srgbClr val="F8EAE3"/>
          </a:solidFill>
          <a:ln>
            <a:solidFill>
              <a:srgbClr val="F8EA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77255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C96A3D"/>
                </a:solidFill>
                <a:latin typeface="Noto Sans CJK TC"/>
              </a:rPr>
              <a:t>S_G(r)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7255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training supports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21423" y="1938528"/>
            <a:ext cx="237745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95744" y="1463040"/>
            <a:ext cx="1371600" cy="960120"/>
          </a:xfrm>
          <a:prstGeom prst="roundRect">
            <a:avLst/>
          </a:prstGeom>
          <a:solidFill>
            <a:srgbClr val="FBEAEA"/>
          </a:solidFill>
          <a:ln>
            <a:solidFill>
              <a:srgbClr val="FB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B65252"/>
                </a:solidFill>
                <a:latin typeface="Noto Sans CJK TC"/>
              </a:rPr>
              <a:t>T/U/P/R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1464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重複結構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85632" y="1938528"/>
            <a:ext cx="237744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759952" y="1463040"/>
            <a:ext cx="1371600" cy="960120"/>
          </a:xfrm>
          <a:prstGeom prst="roundRect">
            <a:avLst/>
          </a:prstGeom>
          <a:solidFill>
            <a:srgbClr val="E8F3E8"/>
          </a:solidFill>
          <a:ln>
            <a:solidFill>
              <a:srgbClr val="E8F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4C8A61"/>
                </a:solidFill>
                <a:latin typeface="Noto Sans CJK TC"/>
              </a:rPr>
              <a:t>Scores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5672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STD/PS/GS/PG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149840" y="1938528"/>
            <a:ext cx="237744" cy="0"/>
          </a:xfrm>
          <a:prstGeom prst="line">
            <a:avLst/>
          </a:prstGeom>
          <a:ln w="1651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424160" y="1463040"/>
            <a:ext cx="1371600" cy="960120"/>
          </a:xfrm>
          <a:prstGeom prst="roundRect">
            <a:avLst/>
          </a:prstGeom>
          <a:solidFill>
            <a:srgbClr val="F5F7F8"/>
          </a:solidFill>
          <a:ln>
            <a:solidFill>
              <a:srgbClr val="F5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69880" y="164592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6B7780"/>
                </a:solidFill>
                <a:latin typeface="Noto Sans CJK TC"/>
              </a:rPr>
              <a:t>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993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30" b="0">
                <a:solidFill>
                  <a:srgbClr val="1F2933"/>
                </a:solidFill>
                <a:latin typeface="Noto Sans CJK TC"/>
              </a:rPr>
              <a:t>correct / harm / fail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880360"/>
            <a:ext cx="3429000" cy="1965960"/>
          </a:xfrm>
          <a:prstGeom prst="roundRect">
            <a:avLst/>
          </a:prstGeom>
          <a:solidFill>
            <a:srgbClr val="EAF2F8"/>
          </a:solidFill>
          <a:ln>
            <a:solidFill>
              <a:srgbClr val="EAF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8096" y="3017520"/>
            <a:ext cx="50292" cy="1691639"/>
          </a:xfrm>
          <a:prstGeom prst="rect">
            <a:avLst/>
          </a:prstGeom>
          <a:solidFill>
            <a:srgbClr val="4A78A8"/>
          </a:solidFill>
          <a:ln>
            <a:solidFill>
              <a:srgbClr val="4A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0976" y="301752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Case-level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" y="3392424"/>
            <a:ext cx="2971800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Noto Sans CJK TC"/>
              </a:rPr>
              <a:t>15 selected targets
→ 用來看清楚一筆資料為什麼翻轉
→ 不是顯著性檢定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2880360"/>
            <a:ext cx="3429000" cy="1965960"/>
          </a:xfrm>
          <a:prstGeom prst="roundRect">
            <a:avLst/>
          </a:prstGeom>
          <a:solidFill>
            <a:srgbClr val="F6F0DC"/>
          </a:solidFill>
          <a:ln>
            <a:solidFill>
              <a:srgbClr val="F6F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89704" y="3017520"/>
            <a:ext cx="50292" cy="1691639"/>
          </a:xfrm>
          <a:prstGeom prst="rect">
            <a:avLst/>
          </a:prstGeom>
          <a:solidFill>
            <a:srgbClr val="A98025"/>
          </a:solidFill>
          <a:ln>
            <a:solidFill>
              <a:srgbClr val="A98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72584" y="301752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Exhaustive conflict scan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2584" y="3392424"/>
            <a:ext cx="2971800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F2933"/>
                </a:solidFill>
                <a:latin typeface="Noto Sans CJK TC"/>
              </a:rPr>
              <a:t>908 conflict occurrences
45 true class absent
43 population-induced winner changes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01583" y="2880360"/>
            <a:ext cx="3429000" cy="1965960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11311" y="3017520"/>
            <a:ext cx="50292" cy="1691639"/>
          </a:xfrm>
          <a:prstGeom prst="rect">
            <a:avLst/>
          </a:prstGeom>
          <a:solidFill>
            <a:srgbClr val="2B7A78"/>
          </a:solidFill>
          <a:ln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94192" y="3017520"/>
            <a:ext cx="2990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Noto Sans CJK TC"/>
              </a:rPr>
              <a:t>Mechanism hypothesis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3392424"/>
            <a:ext cx="2971800" cy="1362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>
                <a:solidFill>
                  <a:srgbClr val="1F2933"/>
                </a:solidFill>
                <a:latin typeface="Noto Sans CJK TC"/>
              </a:rPr>
              <a:t>43/43 changed winner → lower redundancy
再用 A(x)=R_comp-R_true 解釋 corrected / harmed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102352"/>
            <a:ext cx="10561320" cy="640080"/>
          </a:xfrm>
          <a:prstGeom prst="roundRect">
            <a:avLst/>
          </a:prstGeom>
          <a:solidFill>
            <a:srgbClr val="F5F7F8"/>
          </a:solidFill>
          <a:ln>
            <a:solidFill>
              <a:srgbClr val="D9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221224"/>
            <a:ext cx="10287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1F2933"/>
                </a:solidFill>
                <a:latin typeface="Cambria Math"/>
              </a:rPr>
              <a:t>Client Fragmentation → Rule Structure → Conflict → Support Redundancy → Redundancy Asymmetry → Prediction Policy → Performance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8368" y="5769864"/>
            <a:ext cx="10881360" cy="512064"/>
          </a:xfrm>
          <a:prstGeom prst="roundRect">
            <a:avLst/>
          </a:prstGeom>
          <a:solidFill>
            <a:srgbClr val="E7F2F1"/>
          </a:solidFill>
          <a:ln>
            <a:solidFill>
              <a:srgbClr val="E7F2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1248" y="5907024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2B7A78"/>
                </a:solidFill>
                <a:latin typeface="Noto Sans CJK TC"/>
              </a:rPr>
              <a:t>結論：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9646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70" b="0">
                <a:solidFill>
                  <a:srgbClr val="1F2933"/>
                </a:solidFill>
                <a:latin typeface="Noto Sans CJK TC"/>
              </a:rPr>
              <a:t>現在後半段不是「直接跳到 908 / 43」，而是每個統計數字都能回到單筆 target 的公式與 support objects。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2920" y="6464808"/>
            <a:ext cx="11155680" cy="0"/>
          </a:xfrm>
          <a:prstGeom prst="line">
            <a:avLst/>
          </a:prstGeom>
          <a:ln w="8890">
            <a:solidFill>
              <a:srgbClr val="D9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66928" y="6519672"/>
            <a:ext cx="9601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B7780"/>
                </a:solidFill>
                <a:latin typeface="Noto Sans CJK TC"/>
              </a:rPr>
              <a:t>Federated LEM2 · Target backtrace explanation · 2026-10-24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51967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