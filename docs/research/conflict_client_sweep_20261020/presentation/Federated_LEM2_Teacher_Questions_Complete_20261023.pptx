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7780"/>
                </a:solidFill>
                <a:latin typeface="Noto Sans CJK TC"/>
              </a:rPr>
              <a:t>PROFESSOR QUESTION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7899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1F2933"/>
                </a:solidFill>
                <a:latin typeface="Noto Sans CJK TC"/>
              </a:rPr>
              <a:t>Federated LEM2：把上次老師的問題逐題回答完整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0574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B7A78"/>
                </a:solidFill>
                <a:latin typeface="Noto Sans CJK TC"/>
              </a:rPr>
              <a:t>資料規模 → 80/20 → 六方法 → Coverage → Standard / Global 改前改後 → 3×5 Target 回查 → 錯誤分解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520440"/>
            <a:ext cx="2377440" cy="123444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703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4A78A8"/>
                </a:solidFill>
                <a:latin typeface="Noto Sans CJK TC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418795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F2933"/>
                </a:solidFill>
                <a:latin typeface="Noto Sans CJK TC"/>
              </a:rPr>
              <a:t>UCI datasets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8728" y="3520440"/>
            <a:ext cx="2377440" cy="123444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3703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4C8A61"/>
                </a:solidFill>
                <a:latin typeface="Noto Sans CJK T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48456" y="418795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F2933"/>
                </a:solidFill>
                <a:latin typeface="Noto Sans CJK TC"/>
              </a:rPr>
              <a:t>prediction methods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3520440"/>
            <a:ext cx="2377440" cy="123444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5" y="3703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C96A3D"/>
                </a:solidFill>
                <a:latin typeface="Noto Sans CJK TC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18795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F2933"/>
                </a:solidFill>
                <a:latin typeface="Noto Sans CJK TC"/>
              </a:rPr>
              <a:t>target backtraces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3520440"/>
            <a:ext cx="2377440" cy="123444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3144" y="3703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B65252"/>
                </a:solidFill>
                <a:latin typeface="Noto Sans CJK TC"/>
              </a:rPr>
              <a:t>908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1432" y="418795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F2933"/>
                </a:solidFill>
                <a:latin typeface="Noto Sans CJK TC"/>
              </a:rPr>
              <a:t>conflict occurrences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30368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933"/>
                </a:solidFill>
                <a:latin typeface="Noto Sans CJK TC"/>
              </a:rPr>
              <a:t>這一版不先談「新發現」，而是先把老師上次每一題用 code → evidence → result 回答完。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老師上次到底問了什麼？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本版簡報的順序完全照這張 checklist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98448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362456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三份資料有幾筆？幾個 headers / factors？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98424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80/20 怎麼切？20% 有沒有參與建模？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542032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15184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2606040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同一資料跑六種方法，Acc / Recall / F1 到底是多少？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63824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36976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22783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Overall Coverage、Target Coverage 到底是多少？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785616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58768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84962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Standard 的 3+3 為什麼有問題？改完 A/B 誰贏？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07408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80560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4471416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Global 改法和原 GlobalStrength 差在哪？winner 怎麼變？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29200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02352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509320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每個 dataset 的 Target 1–5 回查後，差別到底在哪？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後面的 Redundancy Asymmetry 只能放在「回答完老師」之後，不能反過來取代老師的問題。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1. 資料規模：Rows、Headers、Factors 全部明列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Headers = condition attributes + 1 decision column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10927076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1156"/>
                <a:gridCol w="1162455"/>
                <a:gridCol w="1162455"/>
                <a:gridCol w="1162455"/>
                <a:gridCol w="1278700"/>
                <a:gridCol w="1162455"/>
                <a:gridCol w="1278700"/>
                <a:gridCol w="1278700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Dataset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Rows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Headers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Factors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Decision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Classes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Train 80%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Test 20%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Balance Scale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625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499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126</a:t>
                      </a:r>
                    </a:p>
                  </a:txBody>
                  <a:tcPr anchor="ctr"/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Car Evaluation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1728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7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6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class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1382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346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F2933"/>
                          </a:solidFill>
                          <a:latin typeface="Noto Sans CJK TC"/>
                        </a:rPr>
                        <a:t>Hayes-Roth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132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106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3"/>
                          </a:solidFill>
                          <a:latin typeface="Noto Sans CJK TC"/>
                        </a:rPr>
                        <a:t>26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" y="4069080"/>
            <a:ext cx="3246120" cy="123444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4206240"/>
            <a:ext cx="50292" cy="96012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4206240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Hayes-Roth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4581144"/>
            <a:ext cx="278892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132 rows · 5 headers
4 factors + 1 decision · 3 classes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4069080"/>
            <a:ext cx="3246120" cy="123444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44568" y="4206240"/>
            <a:ext cx="50292" cy="96012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4206240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Car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4581144"/>
            <a:ext cx="278892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1,728 rows · 7 headers
6 factors + 1 decision · 4 classes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4069080"/>
            <a:ext cx="3246120" cy="123444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2167" y="4206240"/>
            <a:ext cx="50292" cy="960120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4206240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Balance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4581144"/>
            <a:ext cx="278892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625 rows · 5 headers
4 factors + 1 decision · 3 classes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老師問的「資料比數＋標頭量」現在由程式自動輸出，不再只寫 Attrs。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2. 80 / 20：最後 20% 完全不參與前面建模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同一 split 被六種方法共用；這是 final prediction set，不是 training accuracy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600200" cy="1371600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2084831"/>
            <a:ext cx="14538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6B7780"/>
                </a:solidFill>
                <a:latin typeface="Noto Sans CJK TC"/>
              </a:rPr>
              <a:t>100%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2542032"/>
            <a:ext cx="14538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F2933"/>
                </a:solidFill>
                <a:latin typeface="Noto Sans CJK TC"/>
              </a:rPr>
              <a:t>原始 decision table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57984" y="2523744"/>
            <a:ext cx="292608" cy="0"/>
          </a:xfrm>
          <a:prstGeom prst="line">
            <a:avLst/>
          </a:prstGeom>
          <a:ln w="1905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4600" y="1828800"/>
            <a:ext cx="1600200" cy="137160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87752" y="2084831"/>
            <a:ext cx="14538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4A78A8"/>
                </a:solidFill>
                <a:latin typeface="Noto Sans CJK TC"/>
              </a:rPr>
              <a:t>80% 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7752" y="2542032"/>
            <a:ext cx="14538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F2933"/>
                </a:solidFill>
                <a:latin typeface="Noto Sans CJK TC"/>
              </a:rPr>
              <a:t>唯一可以學習的資料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69663" y="2523744"/>
            <a:ext cx="338329" cy="0"/>
          </a:xfrm>
          <a:prstGeom prst="line">
            <a:avLst/>
          </a:prstGeom>
          <a:ln w="1905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72000" y="1828800"/>
            <a:ext cx="3154680" cy="137160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084831"/>
            <a:ext cx="30083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2B7A78"/>
                </a:solidFill>
                <a:latin typeface="Noto Sans CJK TC"/>
              </a:rPr>
              <a:t>Reduct → Clients → LEM2 → UNION → Support /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542032"/>
            <a:ext cx="30083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F2933"/>
                </a:solidFill>
                <a:latin typeface="Noto Sans CJK TC"/>
              </a:rPr>
              <a:t>全部在 80% 內完成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81544" y="2523744"/>
            <a:ext cx="384048" cy="0"/>
          </a:xfrm>
          <a:prstGeom prst="line">
            <a:avLst/>
          </a:prstGeom>
          <a:ln w="1905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29600" y="1828800"/>
            <a:ext cx="1417320" cy="137160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2084831"/>
            <a:ext cx="12710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C96A3D"/>
                </a:solidFill>
                <a:latin typeface="Noto Sans CJK TC"/>
              </a:rPr>
              <a:t>20% Holdout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542032"/>
            <a:ext cx="12710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F2933"/>
                </a:solidFill>
                <a:latin typeface="Noto Sans CJK TC"/>
              </a:rPr>
              <a:t>最後才拿來 prediction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701784" y="2523744"/>
            <a:ext cx="292608" cy="0"/>
          </a:xfrm>
          <a:prstGeom prst="line">
            <a:avLst/>
          </a:prstGeom>
          <a:ln w="1905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058400" y="1828800"/>
            <a:ext cx="1554480" cy="137160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31552" y="2084831"/>
            <a:ext cx="14081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4C8A61"/>
                </a:solidFill>
                <a:latin typeface="Noto Sans CJK TC"/>
              </a:rPr>
              <a:t>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31552" y="2542032"/>
            <a:ext cx="14081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F2933"/>
                </a:solidFill>
                <a:latin typeface="Noto Sans CJK TC"/>
              </a:rPr>
              <a:t>Acc · Recall · F1 · BA · Coverage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794760"/>
            <a:ext cx="5074920" cy="146304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" y="3931920"/>
            <a:ext cx="50292" cy="118872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393192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20% 不可以做的事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4306824"/>
            <a:ext cx="461772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× reduct selection
× local LEM2 induction
× UNION support construction
× voting weight fitting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794760"/>
            <a:ext cx="5074920" cy="146304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73368" y="3931920"/>
            <a:ext cx="50292" cy="118872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93192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20% 唯一做的事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6248" y="4306824"/>
            <a:ext cx="461772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✓ matching / prediction
✓ Accuracy / Recall / Macro-F1 / Balanced Accuracy
✓ Overall / Target / Target Candidate Coverage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所有 reported prediction metrics 都只看 final 20%；不存在 test leakage。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3. 同一個 frozen rule artifact 跑六種方法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前四個是既有 baseline；後兩個是本研究的 experimental variants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5074920" cy="1069848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" y="1463039"/>
            <a:ext cx="50292" cy="795527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463039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FIRST_MATCH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1837943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順序：第一條 matching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325880"/>
            <a:ext cx="5074920" cy="1069848"/>
          </a:xfrm>
          <a:prstGeom prst="roundRect">
            <a:avLst/>
          </a:prstGeom>
          <a:solidFill>
            <a:srgbClr val="F6F0DC"/>
          </a:solidFill>
          <a:ln>
            <a:solidFill>
              <a:srgbClr val="F6F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9088" y="1463039"/>
            <a:ext cx="50292" cy="795527"/>
          </a:xfrm>
          <a:prstGeom prst="rect">
            <a:avLst/>
          </a:prstGeom>
          <a:solidFill>
            <a:srgbClr val="A98025"/>
          </a:solidFill>
          <a:ln>
            <a:solidFill>
              <a:srgbClr val="A98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463039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SIMPLE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837943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rule count：一條 rule 一票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79191"/>
            <a:ext cx="5074920" cy="1069848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6968" y="2816351"/>
            <a:ext cx="50292" cy="795527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2816351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191256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support occurrences：Σ|S(r)|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2679191"/>
            <a:ext cx="5074920" cy="1069848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19088" y="2816351"/>
            <a:ext cx="50292" cy="795527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816351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GLOBAL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3191256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unique class coverage：|∪S(r)|/N_d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32504"/>
            <a:ext cx="5074920" cy="1069848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" y="4169664"/>
            <a:ext cx="50292" cy="795527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169664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POPULATION STANDARD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44568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unique population：U_d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59" y="4032504"/>
            <a:ext cx="5074920" cy="1069848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19088" y="4169664"/>
            <a:ext cx="50292" cy="795527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4169664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POPULATION GLOBAL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4544568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(U_d/N_d) × (U_d/T_d)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4406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B7780"/>
                </a:solidFill>
                <a:latin typeface="Noto Sans CJK TC"/>
              </a:rPr>
              <a:t>Established baselines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4406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65252"/>
                </a:solidFill>
                <a:latin typeface="Noto Sans CJK TC"/>
              </a:rPr>
              <a:t>Project-defined variants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六種方法的比較必須在相同 20% test、相同 global rules、相同 conflict cases 上進行。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4. Hayes-Roth：六種方法的 20% Prediction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每個 cell = Accuracy / Balanced Accuracy(=Macro Recall) / Macro-F1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325880"/>
          <a:ext cx="1088135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0543"/>
                <a:gridCol w="2255204"/>
                <a:gridCol w="2255204"/>
                <a:gridCol w="2255204"/>
                <a:gridCol w="2255204"/>
              </a:tblGrid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Method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C=2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C=3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C=4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C=5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FIRST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0.731</a:t>
                      </a:r>
                    </a:p>
                    <a:p>
                      <a:r>
                        <a:t>0.767</a:t>
                      </a:r>
                    </a:p>
                    <a:p>
                      <a:r>
                        <a:t>0.766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0.808</a:t>
                      </a:r>
                    </a:p>
                    <a:p>
                      <a:r>
                        <a:t>0.833</a:t>
                      </a:r>
                    </a:p>
                    <a:p>
                      <a:r>
                        <a:t>0.833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0.769</a:t>
                      </a:r>
                    </a:p>
                    <a:p>
                      <a:r>
                        <a:t>0.778</a:t>
                      </a:r>
                    </a:p>
                    <a:p>
                      <a:r>
                        <a:t>0.791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0.808</a:t>
                      </a:r>
                    </a:p>
                    <a:p>
                      <a:r>
                        <a:t>0.833</a:t>
                      </a:r>
                    </a:p>
                    <a:p>
                      <a:r>
                        <a:t>0.829</a:t>
                      </a:r>
                    </a:p>
                  </a:txBody>
                  <a:tcPr anchor="ctr"/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SIMPLE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0.654</a:t>
                      </a:r>
                    </a:p>
                    <a:p>
                      <a:r>
                        <a:t>0.656</a:t>
                      </a:r>
                    </a:p>
                    <a:p>
                      <a:r>
                        <a:t>0.679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0.654</a:t>
                      </a:r>
                    </a:p>
                    <a:p>
                      <a:r>
                        <a:t>0.611</a:t>
                      </a:r>
                    </a:p>
                    <a:p>
                      <a:r>
                        <a:t>0.617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0.577</a:t>
                      </a:r>
                    </a:p>
                    <a:p>
                      <a:r>
                        <a:t>0.567</a:t>
                      </a:r>
                    </a:p>
                    <a:p>
                      <a:r>
                        <a:t>0.595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0.577</a:t>
                      </a:r>
                    </a:p>
                    <a:p>
                      <a:r>
                        <a:t>0.522</a:t>
                      </a:r>
                    </a:p>
                    <a:p>
                      <a:r>
                        <a:t>0.503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STD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0.731</a:t>
                      </a:r>
                    </a:p>
                    <a:p>
                      <a:r>
                        <a:t>0.767</a:t>
                      </a:r>
                    </a:p>
                    <a:p>
                      <a:r>
                        <a:t>0.766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0.731</a:t>
                      </a:r>
                    </a:p>
                    <a:p>
                      <a:r>
                        <a:t>0.744</a:t>
                      </a:r>
                    </a:p>
                    <a:p>
                      <a:r>
                        <a:t>0.756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0.615</a:t>
                      </a:r>
                    </a:p>
                    <a:p>
                      <a:r>
                        <a:t>0.622</a:t>
                      </a:r>
                    </a:p>
                    <a:p>
                      <a:r>
                        <a:t>0.646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0.615</a:t>
                      </a:r>
                    </a:p>
                    <a:p>
                      <a:r>
                        <a:t>0.578</a:t>
                      </a:r>
                    </a:p>
                    <a:p>
                      <a:r>
                        <a:t>0.583</a:t>
                      </a:r>
                    </a:p>
                  </a:txBody>
                  <a:tcPr anchor="ctr"/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GS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0.731</a:t>
                      </a:r>
                    </a:p>
                    <a:p>
                      <a:r>
                        <a:t>0.767</a:t>
                      </a:r>
                    </a:p>
                    <a:p>
                      <a:r>
                        <a:t>0.766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0.692</a:t>
                      </a:r>
                    </a:p>
                    <a:p>
                      <a:r>
                        <a:t>0.733</a:t>
                      </a:r>
                    </a:p>
                    <a:p>
                      <a:r>
                        <a:t>0.733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0.692</a:t>
                      </a:r>
                    </a:p>
                    <a:p>
                      <a:r>
                        <a:t>0.733</a:t>
                      </a:r>
                    </a:p>
                    <a:p>
                      <a:r>
                        <a:t>0.731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0.692</a:t>
                      </a:r>
                    </a:p>
                    <a:p>
                      <a:r>
                        <a:t>0.733</a:t>
                      </a:r>
                    </a:p>
                    <a:p>
                      <a:r>
                        <a:t>0.731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0.731</a:t>
                      </a:r>
                    </a:p>
                    <a:p>
                      <a:r>
                        <a:t>0.767</a:t>
                      </a:r>
                    </a:p>
                    <a:p>
                      <a:r>
                        <a:t>0.766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0.654</a:t>
                      </a:r>
                    </a:p>
                    <a:p>
                      <a:r>
                        <a:t>0.678</a:t>
                      </a:r>
                    </a:p>
                    <a:p>
                      <a:r>
                        <a:t>0.694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0.615</a:t>
                      </a:r>
                    </a:p>
                    <a:p>
                      <a:r>
                        <a:t>0.622</a:t>
                      </a:r>
                    </a:p>
                    <a:p>
                      <a:r>
                        <a:t>0.646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0.577</a:t>
                      </a:r>
                    </a:p>
                    <a:p>
                      <a:r>
                        <a:t>0.567</a:t>
                      </a:r>
                    </a:p>
                    <a:p>
                      <a:r>
                        <a:t>0.592</a:t>
                      </a:r>
                    </a:p>
                  </a:txBody>
                  <a:tcPr anchor="ctr"/>
                </a:tc>
              </a:tr>
              <a:tr h="542112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PG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0.731</a:t>
                      </a:r>
                    </a:p>
                    <a:p>
                      <a:r>
                        <a:t>0.767</a:t>
                      </a:r>
                    </a:p>
                    <a:p>
                      <a:r>
                        <a:t>0.766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0.692</a:t>
                      </a:r>
                    </a:p>
                    <a:p>
                      <a:r>
                        <a:t>0.733</a:t>
                      </a:r>
                    </a:p>
                    <a:p>
                      <a:r>
                        <a:t>0.733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0.654</a:t>
                      </a:r>
                    </a:p>
                    <a:p>
                      <a:r>
                        <a:t>0.700</a:t>
                      </a:r>
                    </a:p>
                    <a:p>
                      <a:r>
                        <a:t>0.699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0.577</a:t>
                      </a:r>
                    </a:p>
                    <a:p>
                      <a:r>
                        <a:t>0.633</a:t>
                      </a:r>
                    </a:p>
                    <a:p>
                      <a:r>
                        <a:t>0.625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330952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780"/>
                </a:solidFill>
                <a:latin typeface="Noto Sans CJK TC"/>
              </a:rPr>
              <a:t>cell 順序：Acc / BA(=Recall_macro) / Macro-F1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5285232"/>
            <a:ext cx="5532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B7A78"/>
                </a:solidFill>
                <a:latin typeface="Noto Sans CJK TC"/>
              </a:rPr>
              <a:t>BA best → C2: FIRST/STD/GS/PS/PG 0.767 · C3: FIRST 0.833 · C4: FIRST 0.778 · C5: FIRST 0.833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Accuracy 與 class-balanced 指標可能選出不同 winner；不能只報一個 Accuracy。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4. Car Evaluation：六種方法的 20% Prediction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每個 cell = Accuracy / Balanced Accuracy(=Macro Recall) / Macro-F1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325880"/>
          <a:ext cx="1088135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0543"/>
                <a:gridCol w="2255204"/>
                <a:gridCol w="2255204"/>
                <a:gridCol w="2255204"/>
                <a:gridCol w="2255204"/>
              </a:tblGrid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Method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C=2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C=3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C=4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C=5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FIRST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0.899</a:t>
                      </a:r>
                    </a:p>
                    <a:p>
                      <a:r>
                        <a:t>0.664</a:t>
                      </a:r>
                    </a:p>
                    <a:p>
                      <a:r>
                        <a:t>0.658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0.905</a:t>
                      </a:r>
                    </a:p>
                    <a:p>
                      <a:r>
                        <a:t>0.674</a:t>
                      </a:r>
                    </a:p>
                    <a:p>
                      <a:r>
                        <a:t>0.682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0.887</a:t>
                      </a:r>
                    </a:p>
                    <a:p>
                      <a:r>
                        <a:t>0.631</a:t>
                      </a:r>
                    </a:p>
                    <a:p>
                      <a:r>
                        <a:t>0.630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0.873</a:t>
                      </a:r>
                    </a:p>
                    <a:p>
                      <a:r>
                        <a:t>0.596</a:t>
                      </a:r>
                    </a:p>
                    <a:p>
                      <a:r>
                        <a:t>0.607</a:t>
                      </a:r>
                    </a:p>
                  </a:txBody>
                  <a:tcPr anchor="ctr"/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SIMPLE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0.876</a:t>
                      </a:r>
                    </a:p>
                    <a:p>
                      <a:r>
                        <a:t>0.621</a:t>
                      </a:r>
                    </a:p>
                    <a:p>
                      <a:r>
                        <a:t>0.629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0.887</a:t>
                      </a:r>
                    </a:p>
                    <a:p>
                      <a:r>
                        <a:t>0.710</a:t>
                      </a:r>
                    </a:p>
                    <a:p>
                      <a:r>
                        <a:t>0.714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0.841</a:t>
                      </a:r>
                    </a:p>
                    <a:p>
                      <a:r>
                        <a:t>0.582</a:t>
                      </a:r>
                    </a:p>
                    <a:p>
                      <a:r>
                        <a:t>0.598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0.806</a:t>
                      </a:r>
                    </a:p>
                    <a:p>
                      <a:r>
                        <a:t>0.540</a:t>
                      </a:r>
                    </a:p>
                    <a:p>
                      <a:r>
                        <a:t>0.527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STD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0.902</a:t>
                      </a:r>
                    </a:p>
                    <a:p>
                      <a:r>
                        <a:t>0.669</a:t>
                      </a:r>
                    </a:p>
                    <a:p>
                      <a:r>
                        <a:t>0.672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0.910</a:t>
                      </a:r>
                    </a:p>
                    <a:p>
                      <a:r>
                        <a:t>0.709</a:t>
                      </a:r>
                    </a:p>
                    <a:p>
                      <a:r>
                        <a:t>0.708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0.879</a:t>
                      </a:r>
                    </a:p>
                    <a:p>
                      <a:r>
                        <a:t>0.593</a:t>
                      </a:r>
                    </a:p>
                    <a:p>
                      <a:r>
                        <a:t>0.635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0.858</a:t>
                      </a:r>
                    </a:p>
                    <a:p>
                      <a:r>
                        <a:t>0.544</a:t>
                      </a:r>
                    </a:p>
                    <a:p>
                      <a:r>
                        <a:t>0.568</a:t>
                      </a:r>
                    </a:p>
                  </a:txBody>
                  <a:tcPr anchor="ctr"/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GS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0.887</a:t>
                      </a:r>
                    </a:p>
                    <a:p>
                      <a:r>
                        <a:t>0.717</a:t>
                      </a:r>
                    </a:p>
                    <a:p>
                      <a:r>
                        <a:t>0.676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0.887</a:t>
                      </a:r>
                    </a:p>
                    <a:p>
                      <a:r>
                        <a:t>0.798</a:t>
                      </a:r>
                    </a:p>
                    <a:p>
                      <a:r>
                        <a:t>0.735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0.853</a:t>
                      </a:r>
                    </a:p>
                    <a:p>
                      <a:r>
                        <a:t>0.683</a:t>
                      </a:r>
                    </a:p>
                    <a:p>
                      <a:r>
                        <a:t>0.630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0.829</a:t>
                      </a:r>
                    </a:p>
                    <a:p>
                      <a:r>
                        <a:t>0.624</a:t>
                      </a:r>
                    </a:p>
                    <a:p>
                      <a:r>
                        <a:t>0.572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0.905</a:t>
                      </a:r>
                    </a:p>
                    <a:p>
                      <a:r>
                        <a:t>0.689</a:t>
                      </a:r>
                    </a:p>
                    <a:p>
                      <a:r>
                        <a:t>0.687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0.908</a:t>
                      </a:r>
                    </a:p>
                    <a:p>
                      <a:r>
                        <a:t>0.706</a:t>
                      </a:r>
                    </a:p>
                    <a:p>
                      <a:r>
                        <a:t>0.700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0.879</a:t>
                      </a:r>
                    </a:p>
                    <a:p>
                      <a:r>
                        <a:t>0.591</a:t>
                      </a:r>
                    </a:p>
                    <a:p>
                      <a:r>
                        <a:t>0.628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0.853</a:t>
                      </a:r>
                    </a:p>
                    <a:p>
                      <a:r>
                        <a:t>0.537</a:t>
                      </a:r>
                    </a:p>
                    <a:p>
                      <a:r>
                        <a:t>0.562</a:t>
                      </a:r>
                    </a:p>
                  </a:txBody>
                  <a:tcPr anchor="ctr"/>
                </a:tc>
              </a:tr>
              <a:tr h="542112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PG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0.887</a:t>
                      </a:r>
                    </a:p>
                    <a:p>
                      <a:r>
                        <a:t>0.717</a:t>
                      </a:r>
                    </a:p>
                    <a:p>
                      <a:r>
                        <a:t>0.676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0.893</a:t>
                      </a:r>
                    </a:p>
                    <a:p>
                      <a:r>
                        <a:t>0.801</a:t>
                      </a:r>
                    </a:p>
                    <a:p>
                      <a:r>
                        <a:t>0.735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0.850</a:t>
                      </a:r>
                    </a:p>
                    <a:p>
                      <a:r>
                        <a:t>0.678</a:t>
                      </a:r>
                    </a:p>
                    <a:p>
                      <a:r>
                        <a:t>0.621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0.829</a:t>
                      </a:r>
                    </a:p>
                    <a:p>
                      <a:r>
                        <a:t>0.634</a:t>
                      </a:r>
                    </a:p>
                    <a:p>
                      <a:r>
                        <a:t>0.586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330952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780"/>
                </a:solidFill>
                <a:latin typeface="Noto Sans CJK TC"/>
              </a:rPr>
              <a:t>cell 順序：Acc / BA(=Recall_macro) / Macro-F1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5285232"/>
            <a:ext cx="5532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B7A78"/>
                </a:solidFill>
                <a:latin typeface="Noto Sans CJK TC"/>
              </a:rPr>
              <a:t>BA best → C2: GS/PG 0.717 · C3: PG 0.801 · C4: GS 0.683 · C5: PG 0.634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Accuracy 與 class-balanced 指標可能選出不同 winner；不能只報一個 Accuracy。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4. Balance Scale：六種方法的 20% Prediction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每個 cell = Accuracy / Balanced Accuracy(=Macro Recall) / Macro-F1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325880"/>
          <a:ext cx="1088135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0543"/>
                <a:gridCol w="2255204"/>
                <a:gridCol w="2255204"/>
                <a:gridCol w="2255204"/>
                <a:gridCol w="2255204"/>
              </a:tblGrid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Method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C=2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C=3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C=4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C=5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FIRST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0.675</a:t>
                      </a:r>
                    </a:p>
                    <a:p>
                      <a:r>
                        <a:t>0.489</a:t>
                      </a:r>
                    </a:p>
                    <a:p>
                      <a:r>
                        <a:t>0.504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0.651</a:t>
                      </a:r>
                    </a:p>
                    <a:p>
                      <a:r>
                        <a:t>0.471</a:t>
                      </a:r>
                    </a:p>
                    <a:p>
                      <a:r>
                        <a:t>0.488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0.706</a:t>
                      </a:r>
                    </a:p>
                    <a:p>
                      <a:r>
                        <a:t>0.511</a:t>
                      </a:r>
                    </a:p>
                    <a:p>
                      <a:r>
                        <a:t>0.510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0.675</a:t>
                      </a:r>
                    </a:p>
                    <a:p>
                      <a:r>
                        <a:t>0.489</a:t>
                      </a:r>
                    </a:p>
                    <a:p>
                      <a:r>
                        <a:t>0.484</a:t>
                      </a:r>
                    </a:p>
                  </a:txBody>
                  <a:tcPr anchor="ctr"/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SIMPLE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0.722</a:t>
                      </a:r>
                    </a:p>
                    <a:p>
                      <a:r>
                        <a:t>0.523</a:t>
                      </a:r>
                    </a:p>
                    <a:p>
                      <a:r>
                        <a:t>0.523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0.738</a:t>
                      </a:r>
                    </a:p>
                    <a:p>
                      <a:r>
                        <a:t>0.534</a:t>
                      </a:r>
                    </a:p>
                    <a:p>
                      <a:r>
                        <a:t>0.529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0.794</a:t>
                      </a:r>
                    </a:p>
                    <a:p>
                      <a:r>
                        <a:t>0.575</a:t>
                      </a:r>
                    </a:p>
                    <a:p>
                      <a:r>
                        <a:t>0.558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0.746</a:t>
                      </a:r>
                    </a:p>
                    <a:p>
                      <a:r>
                        <a:t>0.540</a:t>
                      </a:r>
                    </a:p>
                    <a:p>
                      <a:r>
                        <a:t>0.525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STD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0.770</a:t>
                      </a:r>
                    </a:p>
                    <a:p>
                      <a:r>
                        <a:t>0.557</a:t>
                      </a:r>
                    </a:p>
                    <a:p>
                      <a:r>
                        <a:t>0.544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0.810</a:t>
                      </a:r>
                    </a:p>
                    <a:p>
                      <a:r>
                        <a:t>0.586</a:t>
                      </a:r>
                    </a:p>
                    <a:p>
                      <a:r>
                        <a:t>0.564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0.825</a:t>
                      </a:r>
                    </a:p>
                    <a:p>
                      <a:r>
                        <a:t>0.598</a:t>
                      </a:r>
                    </a:p>
                    <a:p>
                      <a:r>
                        <a:t>0.573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0.778</a:t>
                      </a:r>
                    </a:p>
                    <a:p>
                      <a:r>
                        <a:t>0.563</a:t>
                      </a:r>
                    </a:p>
                    <a:p>
                      <a:r>
                        <a:t>0.542</a:t>
                      </a:r>
                    </a:p>
                  </a:txBody>
                  <a:tcPr anchor="ctr"/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GS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0.738</a:t>
                      </a:r>
                    </a:p>
                    <a:p>
                      <a:r>
                        <a:t>0.534</a:t>
                      </a:r>
                    </a:p>
                    <a:p>
                      <a:r>
                        <a:t>0.537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0.786</a:t>
                      </a:r>
                    </a:p>
                    <a:p>
                      <a:r>
                        <a:t>0.569</a:t>
                      </a:r>
                    </a:p>
                    <a:p>
                      <a:r>
                        <a:t>0.555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0.810</a:t>
                      </a:r>
                    </a:p>
                    <a:p>
                      <a:r>
                        <a:t>0.586</a:t>
                      </a:r>
                    </a:p>
                    <a:p>
                      <a:r>
                        <a:t>0.571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0.778</a:t>
                      </a:r>
                    </a:p>
                    <a:p>
                      <a:r>
                        <a:t>0.591</a:t>
                      </a:r>
                    </a:p>
                    <a:p>
                      <a:r>
                        <a:t>0.591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0.778</a:t>
                      </a:r>
                    </a:p>
                    <a:p>
                      <a:r>
                        <a:t>0.563</a:t>
                      </a:r>
                    </a:p>
                    <a:p>
                      <a:r>
                        <a:t>0.550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0.810</a:t>
                      </a:r>
                    </a:p>
                    <a:p>
                      <a:r>
                        <a:t>0.586</a:t>
                      </a:r>
                    </a:p>
                    <a:p>
                      <a:r>
                        <a:t>0.564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0.825</a:t>
                      </a:r>
                    </a:p>
                    <a:p>
                      <a:r>
                        <a:t>0.598</a:t>
                      </a:r>
                    </a:p>
                    <a:p>
                      <a:r>
                        <a:t>0.573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0.786</a:t>
                      </a:r>
                    </a:p>
                    <a:p>
                      <a:r>
                        <a:t>0.569</a:t>
                      </a:r>
                    </a:p>
                    <a:p>
                      <a:r>
                        <a:t>0.548</a:t>
                      </a:r>
                    </a:p>
                  </a:txBody>
                  <a:tcPr anchor="ctr"/>
                </a:tc>
              </a:tr>
              <a:tr h="542112">
                <a:tc>
                  <a:txBody>
                    <a:bodyPr/>
                    <a:lstStyle/>
                    <a:p>
                      <a:pPr algn="ctr"/>
                      <a:r>
                        <a:rPr sz="1130" b="1">
                          <a:solidFill>
                            <a:srgbClr val="1F2933"/>
                          </a:solidFill>
                          <a:latin typeface="Noto Sans CJK TC"/>
                        </a:rPr>
                        <a:t>PG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0.738</a:t>
                      </a:r>
                    </a:p>
                    <a:p>
                      <a:r>
                        <a:t>0.534</a:t>
                      </a:r>
                    </a:p>
                    <a:p>
                      <a:r>
                        <a:t>0.537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0.794</a:t>
                      </a:r>
                    </a:p>
                    <a:p>
                      <a:r>
                        <a:t>0.575</a:t>
                      </a:r>
                    </a:p>
                    <a:p>
                      <a:r>
                        <a:t>0.560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0.802</a:t>
                      </a:r>
                    </a:p>
                    <a:p>
                      <a:r>
                        <a:t>0.580</a:t>
                      </a:r>
                    </a:p>
                    <a:p>
                      <a:r>
                        <a:t>0.565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30" b="0">
                          <a:solidFill>
                            <a:srgbClr val="1F2933"/>
                          </a:solidFill>
                          <a:latin typeface="Noto Sans CJK TC"/>
                        </a:rPr>
                        <a:t>0.778</a:t>
                      </a:r>
                    </a:p>
                    <a:p>
                      <a:r>
                        <a:t>0.591</a:t>
                      </a:r>
                    </a:p>
                    <a:p>
                      <a:r>
                        <a:t>0.590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330952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780"/>
                </a:solidFill>
                <a:latin typeface="Noto Sans CJK TC"/>
              </a:rPr>
              <a:t>cell 順序：Acc / BA(=Recall_macro) / Macro-F1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5285232"/>
            <a:ext cx="5532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B7A78"/>
                </a:solidFill>
                <a:latin typeface="Noto Sans CJK TC"/>
              </a:rPr>
              <a:t>BA best → C2: PS 0.563 · C3: STD/PS 0.586 · C4: STD/PS 0.598 · C5: GS/PG 0.591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Accuracy 與 class-balanced 指標可能選出不同 winner；不能只報一個 Accuracy。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5. Coverage：要拆成三個問題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這是本次補 code 後最重要的新區分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337560" cy="192024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8" y="1463039"/>
            <a:ext cx="50292" cy="164592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Overall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37943"/>
            <a:ext cx="2880360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整個 20% test 中，有沒有任何 rule match？
|{x : M(x)≠∅}| / |U_test|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25880"/>
            <a:ext cx="3337560" cy="192024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44568" y="1463039"/>
            <a:ext cx="50292" cy="1645920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Target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1837943"/>
            <a:ext cx="2880360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真實屬於 class d 的 test cases 中，有沒有任何 rule match？
不要求 matching rule 的 decision=d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325880"/>
            <a:ext cx="3337560" cy="192024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93607" y="1463039"/>
            <a:ext cx="50292" cy="1645920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648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Target Candidate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1837943"/>
            <a:ext cx="2880360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40" b="0">
                <a:solidFill>
                  <a:srgbClr val="1F2933"/>
                </a:solidFill>
                <a:latin typeface="Noto Sans CJK TC"/>
              </a:rPr>
              <a:t>真實屬於 class d 的 test cases 中，是否至少有一條 matching rule 真的提出 d？
這才偵測「true class 根本沒進 candidate set」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B65252"/>
                </a:solidFill>
                <a:latin typeface="Noto Sans CJK TC"/>
              </a:rPr>
              <a:t>Coverage ≠ 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005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933"/>
                </a:solidFill>
                <a:latin typeface="Noto Sans CJK TC"/>
              </a:rPr>
              <a:t>Coverage 問「能不能進決策」；Recall 問「最後有沒有判對」。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617720"/>
            <a:ext cx="9966960" cy="77724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07007" y="4754880"/>
            <a:ext cx="50292" cy="50292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4754880"/>
            <a:ext cx="9528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F2933"/>
                </a:solidFill>
                <a:latin typeface="Noto Sans CJK TC"/>
              </a:rPr>
              <a:t>為什麼要多這一層？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5129783"/>
            <a:ext cx="9509760" cy="173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3"/>
                </a:solidFill>
                <a:latin typeface="Noto Sans CJK TC"/>
              </a:rPr>
              <a:t>真實 B 可能有 rule match，但 matching rules 只有 L / R。舊 Target Coverage 會算 covered；Target Candidate Coverage 才會判斷 B 沒有被產生。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Candidate Generation / Coverage failure 與 Candidate Ranking / Conflict error 必須分開。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6. 三個 UCI 的實際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三個數字都由同一 20% holdout 自動計算；六種 policy 的 coverage 相同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61872"/>
          <a:ext cx="10835637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668"/>
                <a:gridCol w="1039033"/>
                <a:gridCol w="2003851"/>
                <a:gridCol w="2374934"/>
                <a:gridCol w="2449151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Dataset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C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Overall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Target(any rule)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Target(candidate)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Balance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94.4%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93.2%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57.5%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Balance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98.4%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98.9%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61.5%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Balance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72.2%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Balance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99.2%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99.4%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67.1%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Car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97.7%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92.9%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80.9%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Car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98.3%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98.3%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91.0%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Car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99.4%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97.8%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95.0%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Car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87.3%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Hayes-Roth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92.3%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93.3%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73.3%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Hayes-Roth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93.3%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Hayes-Roth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86.7%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F2933"/>
                          </a:solidFill>
                          <a:latin typeface="Noto Sans CJK TC"/>
                        </a:rPr>
                        <a:t>Hayes-Roth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F2933"/>
                          </a:solidFill>
                          <a:latin typeface="Noto Sans CJK TC"/>
                        </a:rPr>
                        <a:t>93.3%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5468112"/>
            <a:ext cx="10561320" cy="41148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2688" y="5605272"/>
            <a:ext cx="50292" cy="137160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5605272"/>
            <a:ext cx="10122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1">
                <a:solidFill>
                  <a:srgbClr val="1F2933"/>
                </a:solidFill>
                <a:latin typeface="Noto Sans CJK TC"/>
              </a:rPr>
              <a:t>最大差距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5980176"/>
            <a:ext cx="10104120" cy="-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Noto Sans CJK TC"/>
              </a:rPr>
              <a:t>Balance C=2：Target(any rule)=93.2%，但 Target(candidate)=57.5%；代表「有規則 match」不等於「真正 target class 有 candidate rule」。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Target Candidate Coverage：真正暴露 induction / coverage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特別是 Balance 的 B class，舊 coverage 幾乎看不出問題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  <a:latin typeface="Noto Sans CJK TC"/>
              </a:rPr>
              <a:t>Balance Scale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27632"/>
          <a:ext cx="3474717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890953"/>
                <a:gridCol w="890953"/>
                <a:gridCol w="1069144"/>
              </a:tblGrid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C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Class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Any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Candidate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0.0%</a:t>
                      </a:r>
                    </a:p>
                  </a:txBody>
                  <a:tcPr anchor="ctr"/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L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94.8%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84.5%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94.8%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87.9%</a:t>
                      </a:r>
                    </a:p>
                  </a:txBody>
                  <a:tcPr anchor="ctr"/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B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98.3%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94.8%</a:t>
                      </a:r>
                    </a:p>
                  </a:txBody>
                  <a:tcPr anchor="ctr"/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R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98.3%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89.7%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20.0%</a:t>
                      </a:r>
                    </a:p>
                  </a:txBody>
                  <a:tcPr anchor="ctr"/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L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98.3%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98.3%</a:t>
                      </a:r>
                    </a:p>
                  </a:txBody>
                  <a:tcPr anchor="ctr"/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B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98.3%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94.8%</a:t>
                      </a:r>
                    </a:p>
                  </a:txBody>
                  <a:tcPr anchor="ctr"/>
                </a:tc>
              </a:tr>
              <a:tr h="27080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R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96.6%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434840" y="123444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  <a:latin typeface="Noto Sans CJK TC"/>
              </a:rPr>
              <a:t>Car Evaluation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34840" y="1627632"/>
          <a:ext cx="3474717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890953"/>
                <a:gridCol w="890953"/>
                <a:gridCol w="1069144"/>
              </a:tblGrid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C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Class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Any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Candidate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93.5%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81.8%</a:t>
                      </a:r>
                    </a:p>
                  </a:txBody>
                  <a:tcPr anchor="ctr"/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good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85.7%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57.1%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unacc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vgood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92.3%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84.6%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93.5%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93.5%</a:t>
                      </a:r>
                    </a:p>
                  </a:txBody>
                  <a:tcPr anchor="ctr"/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good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78.6%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unacc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99.6%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99.6%</a:t>
                      </a:r>
                    </a:p>
                  </a:txBody>
                  <a:tcPr anchor="ctr"/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vgood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92.3%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98.7%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94.8%</a:t>
                      </a:r>
                    </a:p>
                  </a:txBody>
                  <a:tcPr anchor="ctr"/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good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92.9%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unacc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vgood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92.3%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92.3%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93.5%</a:t>
                      </a:r>
                    </a:p>
                  </a:txBody>
                  <a:tcPr anchor="ctr"/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good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71.4%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0708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unacc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99.6%</a:t>
                      </a:r>
                    </a:p>
                  </a:txBody>
                  <a:tcPr anchor="ctr"/>
                </a:tc>
              </a:tr>
              <a:tr h="207096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vgood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84.6%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23444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  <a:latin typeface="Noto Sans CJK TC"/>
              </a:rPr>
              <a:t>Hayes-Roth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627632"/>
          <a:ext cx="3474717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890953"/>
                <a:gridCol w="890953"/>
                <a:gridCol w="1069144"/>
              </a:tblGrid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C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Class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Any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1">
                          <a:solidFill>
                            <a:srgbClr val="1F2933"/>
                          </a:solidFill>
                          <a:latin typeface="Noto Sans CJK TC"/>
                        </a:rPr>
                        <a:t>Candidate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60.0%</a:t>
                      </a:r>
                    </a:p>
                  </a:txBody>
                  <a:tcPr anchor="ctr"/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2.0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60.0%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1.0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90.0%</a:t>
                      </a:r>
                    </a:p>
                  </a:txBody>
                  <a:tcPr anchor="ctr"/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3.0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80.0%</a:t>
                      </a:r>
                    </a:p>
                  </a:txBody>
                  <a:tcPr anchor="ctr"/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2.0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80.0%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1.0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70803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2.0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80.0%</a:t>
                      </a:r>
                    </a:p>
                  </a:txBody>
                  <a:tcPr anchor="ctr"/>
                </a:tc>
              </a:tr>
              <a:tr h="270804"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3.0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933"/>
                          </a:solidFill>
                          <a:latin typeface="Noto Sans CJK TC"/>
                        </a:rPr>
                        <a:t>100.0%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" y="5321808"/>
            <a:ext cx="3154680" cy="438912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5440680"/>
            <a:ext cx="2971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80" b="1">
                <a:solidFill>
                  <a:srgbClr val="B65252"/>
                </a:solidFill>
                <a:latin typeface="Noto Sans CJK TC"/>
              </a:rPr>
              <a:t>Balance B：C2=0%、C3=0%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5321808"/>
            <a:ext cx="3154680" cy="438912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5440680"/>
            <a:ext cx="2971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80" b="1">
                <a:solidFill>
                  <a:srgbClr val="C96A3D"/>
                </a:solidFill>
                <a:latin typeface="Noto Sans CJK TC"/>
              </a:rPr>
              <a:t>Car good：C2 只有 57.1%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5321808"/>
            <a:ext cx="3154680" cy="438912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5440680"/>
            <a:ext cx="2971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80" b="1">
                <a:solidFill>
                  <a:srgbClr val="4A78A8"/>
                </a:solidFill>
                <a:latin typeface="Noto Sans CJK TC"/>
              </a:rPr>
              <a:t>Hayes C2：class1/2 都只有 60%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7. Standard：老師的「3+3」問題，現在完整算到 winner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核心不是把多的 u 當負分，而是避免同一 population 被 rule occurrences 重複放大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80160"/>
            <a:ext cx="3017520" cy="214884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8" y="1417319"/>
            <a:ext cx="50292" cy="187452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417319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A 的兩條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792224"/>
            <a:ext cx="256032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3"/>
                </a:solidFill>
                <a:latin typeface="Noto Sans CJK TC"/>
              </a:rPr>
              <a:t>r1→A : {u1,u2,u3}
r2→A : {u2,u3,u4}
T_A = 3+3 = 6
U_A = 4
P_A = 4/6 = 2/3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1280160"/>
            <a:ext cx="3017520" cy="2148840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78808" y="1417319"/>
            <a:ext cx="50292" cy="1874520"/>
          </a:xfrm>
          <a:prstGeom prst="rect">
            <a:avLst/>
          </a:prstGeom>
          <a:solidFill>
            <a:srgbClr val="6B7780"/>
          </a:solidFill>
          <a:ln>
            <a:solidFill>
              <a:srgbClr val="6B7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8" y="1417319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若 B 的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792224"/>
            <a:ext cx="256032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3"/>
                </a:solidFill>
                <a:latin typeface="Noto Sans CJK TC"/>
              </a:rPr>
              <a:t>假設 T_B = 5
而且五個 support 都不同
U_B = 5
P_B =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280160"/>
            <a:ext cx="3886200" cy="214884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62088" y="1417319"/>
            <a:ext cx="50292" cy="187452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8" y="1417319"/>
            <a:ext cx="3447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改前 vs 改後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4968" y="1792224"/>
            <a:ext cx="342900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STANDARD：A=6 &gt; B=5 → A
POPULATION STANDARD：
A=U_A=4 &lt; B=U_B=5 →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77639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4A78A8"/>
                </a:solidFill>
                <a:latin typeface="Noto Sans CJK TC"/>
              </a:rPr>
              <a:t>Standard 看 T_d（occurrences）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96849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6B7780"/>
                </a:solidFill>
                <a:latin typeface="Noto Sans CJK TC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3977639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2B7A78"/>
                </a:solidFill>
                <a:latin typeface="Noto Sans CJK TC"/>
              </a:rPr>
              <a:t>Population Standard 看 U_d（unique objects）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新的 score 不會把「多出來的 unique u」扣分；它只是把重複出現的同一 u 從多次計價改成一次。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Standard 真實回查：同一機制可以 Correct，也可以 Harm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用 20% holdout 的真實 conflict case，不再只看 toy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71600"/>
            <a:ext cx="5074920" cy="333756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" y="1508760"/>
            <a:ext cx="50292" cy="306324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50876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Corrected case · Car Target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1883664"/>
            <a:ext cx="4617720" cy="273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True = vgood
STD winner = good   →   PS winner = vgood
old: T=9, U=7, P=0.778
new: T=9, U=9, P=1.000
CORRECTED · A(x)=0.222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074920" cy="333756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9088" y="1508760"/>
            <a:ext cx="50292" cy="306324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50876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Harmed case · Car Target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883664"/>
            <a:ext cx="4617720" cy="273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True = acc
STD winner = acc   →   PS winner = unacc
old: T=38, U=25, P=0.658
new: T=27, U=27, P=1.000
HARMED · A(x)=-0.342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983480"/>
            <a:ext cx="10287000" cy="502920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128" y="5120640"/>
            <a:ext cx="50292" cy="228600"/>
          </a:xfrm>
          <a:prstGeom prst="rect">
            <a:avLst/>
          </a:prstGeom>
          <a:solidFill>
            <a:srgbClr val="6B7780"/>
          </a:solidFill>
          <a:ln>
            <a:solidFill>
              <a:srgbClr val="6B7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5120640"/>
            <a:ext cx="9848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>
                <a:solidFill>
                  <a:srgbClr val="1F2933"/>
                </a:solidFill>
                <a:latin typeface="Noto Sans CJK TC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5495544"/>
            <a:ext cx="9829800" cy="-100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0">
                <a:solidFill>
                  <a:srgbClr val="1F2933"/>
                </a:solidFill>
                <a:latin typeface="Noto Sans CJK TC"/>
              </a:rPr>
              <a:t>同樣是去重：如果錯誤 competitor 的 redundancy 高，可能救回 true class；如果 true class 的 evidence 本身高度重疊，就可能 over-correct。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Redundancy ≠ Noise。去重本身是明確行為，但「重複 evidence 是否該被懲罰」取決於它出現在誰身上。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8. Global：原 GlobalStrength 再乘 Population Nonredundancy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不是把 numerator / denominator 真正倒過來；而是加一個 P_d=U_d/T_d correction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337560" cy="214884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463039"/>
            <a:ext cx="50292" cy="187452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原 GlobalStrength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37943"/>
            <a:ext cx="288036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GS_d = U_d / N_d
U_d：unique support objects
N_d：training decision class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25880"/>
            <a:ext cx="3337560" cy="214884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44568" y="1463039"/>
            <a:ext cx="50292" cy="1874520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Population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1837943"/>
            <a:ext cx="288036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P_d = U_d / T_d
T_d：support occurrences
P_d 越低 → evidence overlap 越高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25880"/>
            <a:ext cx="3337560" cy="214884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47888" y="1463039"/>
            <a:ext cx="50292" cy="187452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076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Population Global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288036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3"/>
                </a:solidFill>
                <a:latin typeface="Noto Sans CJK TC"/>
              </a:rPr>
              <a:t>PG_d = GS_d × P_d
= U_d² / (N_d T_d)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69080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4C8A61"/>
                </a:solidFill>
                <a:latin typeface="Noto Sans CJK TC"/>
              </a:rPr>
              <a:t>原本回答：「unique population 佔 class 多大？」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4050791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6B7780"/>
                </a:solidFill>
                <a:latin typeface="Noto Sans CJK TC"/>
              </a:rPr>
              <a:t>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C96A3D"/>
                </a:solidFill>
                <a:latin typeface="Noto Sans CJK TC"/>
              </a:rPr>
              <a:t>新增回答：「這些 evidence 有多少不是重複計價？」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Population Global 是 experimental correction；GlobalStrength 本身仍保留為 baseline，不被覆蓋。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Global 真實回查：winner 怎麼被 P_d 改變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Car 的 corrected / harmed case 直接算出 old → new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71600"/>
            <a:ext cx="5074920" cy="342900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" y="1508760"/>
            <a:ext cx="50292" cy="315468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50876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Corrected · Car Target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1883664"/>
            <a:ext cx="4617720" cy="282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0" b="0">
                <a:solidFill>
                  <a:srgbClr val="1F2933"/>
                </a:solidFill>
                <a:latin typeface="Noto Sans CJK TC"/>
              </a:rPr>
              <a:t>True = good
GS winner = acc   →   PG winner = good
old winner: T=50, U=35, P=0.700
new winner: T=5, U=5, P=1.000
winner redundancy drop = 0.300
CORRECTED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074920" cy="342900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9088" y="1508760"/>
            <a:ext cx="50292" cy="315468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50876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Harmed · Car Target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883664"/>
            <a:ext cx="4617720" cy="282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0" b="0">
                <a:solidFill>
                  <a:srgbClr val="1F2933"/>
                </a:solidFill>
                <a:latin typeface="Noto Sans CJK TC"/>
              </a:rPr>
              <a:t>True = acc
GS winner = acc   →   PG winner = unacc
old winner: T=67, U=39, P=0.582
new winner: T=106, U=106, P=1.000
winner redundancy drop = 0.418
HARMED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74920"/>
            <a:ext cx="10287000" cy="438912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128" y="5212080"/>
            <a:ext cx="50292" cy="164592"/>
          </a:xfrm>
          <a:prstGeom prst="rect">
            <a:avLst/>
          </a:prstGeom>
          <a:solidFill>
            <a:srgbClr val="6B7780"/>
          </a:solidFill>
          <a:ln>
            <a:solidFill>
              <a:srgbClr val="6B7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5212080"/>
            <a:ext cx="9848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1F2933"/>
                </a:solidFill>
                <a:latin typeface="Noto Sans CJK TC"/>
              </a:rPr>
              <a:t>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5586983"/>
            <a:ext cx="9829800" cy="-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1F2933"/>
                </a:solidFill>
                <a:latin typeface="Noto Sans CJK TC"/>
              </a:rPr>
              <a:t>所有 winner change 都往 redundancy 較低的 decision 移動；但較低 redundancy 不等於一定是真實類別。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PG 的行為符合設計；真正的研究問題是何時這個 penalty 對「錯的人」施加、何時對「對的人」施加。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9. Balance Scale：Target 1–5 全部回查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不是挑幾筆漂亮案例；5 個 selected holdout targets 全部列出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5488" y="1234440"/>
          <a:ext cx="1124711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9748"/>
                <a:gridCol w="579748"/>
                <a:gridCol w="811647"/>
                <a:gridCol w="4985836"/>
                <a:gridCol w="1623295"/>
                <a:gridCol w="1623295"/>
                <a:gridCol w="1043547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T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C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True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Factors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STD→PS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GS→PG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True cand?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right_distance=5.0, right_weight=1.0, left_distance=3.0, 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Corrected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L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right_distance=3.0, right_weight=1.0, left_distance=5.0, …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Corrected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right_distance=3.0, right_weight=1.0, left_distance=4.0, 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Harmed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L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right_distance=5.0, right_weight=1.0, left_distance=4.0, …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Harmed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right_distance=4.0, right_weight=1.0, left_distance=4.0, 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Changed / same correctness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NO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50468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B7A78"/>
                </a:solidFill>
                <a:latin typeface="Noto Sans CJK TC"/>
              </a:rPr>
              <a:t>這 5 筆：corrected events=2 · harmed events=2 · true-candidate missing=1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9. Car Evaluation：Target 1–5 全部回查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不是挑幾筆漂亮案例；5 個 selected holdout targets 全部列出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5488" y="1234440"/>
          <a:ext cx="1124711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9748"/>
                <a:gridCol w="579748"/>
                <a:gridCol w="811647"/>
                <a:gridCol w="4985836"/>
                <a:gridCol w="1623295"/>
                <a:gridCol w="1623295"/>
                <a:gridCol w="1043547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T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C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True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Factors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STD→PS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GS→PG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True cand?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vgood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buying=low, maint=low, doors=2.0, persons=4, lug_boot=big…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Corrected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good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buying=med, maint=low, doors=3.0, persons=4, lug_boot=big…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Corrected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buying=med, maint=vhigh, doors=4.0, persons=more, lug_boo…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Harmed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acc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buying=high, maint=low, doors=4.0, persons=4, lug_boot=sm…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Harmed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good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buying=med, maint=low, doors=4.0, persons=4, lug_boot=sma…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Changed / same correctness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NO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50468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B7A78"/>
                </a:solidFill>
                <a:latin typeface="Noto Sans CJK TC"/>
              </a:rPr>
              <a:t>這 5 筆：corrected events=2 · harmed events=2 · true-candidate missing=1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9. Hayes-Roth：Target 1–5 全部回查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不是挑幾筆漂亮案例；5 個 selected holdout targets 全部列出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5488" y="1234440"/>
          <a:ext cx="1124711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9748"/>
                <a:gridCol w="579748"/>
                <a:gridCol w="811647"/>
                <a:gridCol w="4985836"/>
                <a:gridCol w="1623295"/>
                <a:gridCol w="1623295"/>
                <a:gridCol w="1043547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T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C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True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Factors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STD→PS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GS→PG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True cand?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hobby=2.0, age=3.0, educational_level=4.0, marital_status…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Corrected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1.0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hobby=3.0, age=1.0, educational_level=1.0, marital_status…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Harmed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hobby=2.0, age=1.0, educational_level=1.0, marital_status…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Harmed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1.0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hobby=3.0, age=1.0, educational_level=2.0, marital_status…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hobby=1.0, age=1.0, educational_level=3.0, marital_status…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Unchanged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F2933"/>
                          </a:solidFill>
                          <a:latin typeface="Noto Sans CJK TC"/>
                        </a:rPr>
                        <a:t>YES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50468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B7A78"/>
                </a:solidFill>
                <a:latin typeface="Noto Sans CJK TC"/>
              </a:rPr>
              <a:t>這 5 筆：corrected events=1 · harmed events=2 · true-candidate missing=0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10. 908 個 Conflict Occurrences：把 error 拆開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Population correction 只改 43 個 borderline cases；另外有 45 個 conflict cases 的 true class 根本不在 candidate set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10972797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6736"/>
                <a:gridCol w="1283368"/>
                <a:gridCol w="1732547"/>
                <a:gridCol w="1411705"/>
                <a:gridCol w="1283368"/>
                <a:gridCol w="1411705"/>
                <a:gridCol w="1283368"/>
              </a:tblGrid>
              <a:tr h="605790"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1F2933"/>
                          </a:solidFill>
                          <a:latin typeface="Noto Sans CJK TC"/>
                        </a:rPr>
                        <a:t>Dataset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1F2933"/>
                          </a:solidFill>
                          <a:latin typeface="Noto Sans CJK TC"/>
                        </a:rPr>
                        <a:t>Conflict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1F2933"/>
                          </a:solidFill>
                          <a:latin typeface="Noto Sans CJK TC"/>
                        </a:rPr>
                        <a:t>True cand absent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1F2933"/>
                          </a:solidFill>
                          <a:latin typeface="Noto Sans CJK TC"/>
                        </a:rPr>
                        <a:t>PS corrected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1F2933"/>
                          </a:solidFill>
                          <a:latin typeface="Noto Sans CJK TC"/>
                        </a:rPr>
                        <a:t>PS harmed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1F2933"/>
                          </a:solidFill>
                          <a:latin typeface="Noto Sans CJK TC"/>
                        </a:rPr>
                        <a:t>PG corrected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1F2933"/>
                          </a:solidFill>
                          <a:latin typeface="Noto Sans CJK TC"/>
                        </a:rPr>
                        <a:t>PG harmed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1F2933"/>
                          </a:solidFill>
                          <a:latin typeface="Noto Sans CJK TC"/>
                        </a:rPr>
                        <a:t>Balance Scale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3</a:t>
                      </a:r>
                    </a:p>
                  </a:txBody>
                  <a:tcPr anchor="ctr"/>
                </a:tc>
              </a:tr>
              <a:tr h="605790"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1F2933"/>
                          </a:solidFill>
                          <a:latin typeface="Noto Sans CJK TC"/>
                        </a:rPr>
                        <a:t>Car Evaluation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598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2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7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6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1F2933"/>
                          </a:solidFill>
                          <a:latin typeface="Noto Sans CJK TC"/>
                        </a:rPr>
                        <a:t>Hayes-Roth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0">
                          <a:solidFill>
                            <a:srgbClr val="1F2933"/>
                          </a:solidFill>
                          <a:latin typeface="Noto Sans CJK TC"/>
                        </a:rPr>
                        <a:t>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160520"/>
            <a:ext cx="2423160" cy="114300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2240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C96A3D"/>
                </a:solidFill>
                <a:latin typeface="Noto Sans CJK TC"/>
              </a:rPr>
              <a:t>908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4754880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1F2933"/>
                </a:solidFill>
                <a:latin typeface="Noto Sans CJK TC"/>
              </a:rPr>
              <a:t>conflict occurrences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4160520"/>
            <a:ext cx="2423160" cy="114300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4343400"/>
            <a:ext cx="2240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B65252"/>
                </a:solidFill>
                <a:latin typeface="Noto Sans CJK TC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168" y="4754880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1F2933"/>
                </a:solidFill>
                <a:latin typeface="Noto Sans CJK TC"/>
              </a:rPr>
              <a:t>population-induced winner 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4" y="4160520"/>
            <a:ext cx="2423160" cy="114300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4343400"/>
            <a:ext cx="2240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4A78A8"/>
                </a:solidFill>
                <a:latin typeface="Noto Sans CJK TC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754880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1F2933"/>
                </a:solidFill>
                <a:latin typeface="Noto Sans CJK TC"/>
              </a:rPr>
              <a:t>conflict cases without true candidate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34856" y="4160520"/>
            <a:ext cx="2423160" cy="114300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4343400"/>
            <a:ext cx="2240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4C8A61"/>
                </a:solidFill>
                <a:latin typeface="Noto Sans CJK TC"/>
              </a:rPr>
              <a:t>43/43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62872" y="4754880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1F2933"/>
                </a:solidFill>
                <a:latin typeface="Noto Sans CJK TC"/>
              </a:rPr>
              <a:t>changed winner → lower redundancy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Coverage / induction failure 不能用 voting 修；Ranking error 才是 Standard / Global / Population policies 能處理的範圍。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11. Redundancy Asymmetry：現在已正式寫進 code 與 CSV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這是 mechanism diagnostic，不是既有文獻 metric，也不是獨立 causal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F2933"/>
                </a:solidFill>
                <a:latin typeface="Noto Sans CJK TC"/>
              </a:rPr>
              <a:t>R_d = 1 - P_d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417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2B7A78"/>
                </a:solidFill>
                <a:latin typeface="Noto Sans CJK TC"/>
              </a:rPr>
              <a:t>A(x) = R_competitor - R_true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83480" cy="141732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2377440"/>
            <a:ext cx="50292" cy="114300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377440"/>
            <a:ext cx="4544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A(x) &gt; 0 · Corrected-side mechanism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52344"/>
            <a:ext cx="452628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錯誤 competitor 的 evidence 比 true decision 更重複。
目前 corrected transitions 的 A(x) 全部為正。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40280"/>
            <a:ext cx="4983480" cy="141732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73368" y="2377440"/>
            <a:ext cx="50292" cy="114300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2377440"/>
            <a:ext cx="4544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A(x) &lt; 0 · Over-correction-side mechanism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752344"/>
            <a:ext cx="452628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true decision 本身的 evidence 比錯誤 competitor 更重複。
目前 harmed transitions 的 A(x) 全部為負。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143000" y="3977639"/>
          <a:ext cx="9875518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8333"/>
                <a:gridCol w="2210937"/>
                <a:gridCol w="884374"/>
                <a:gridCol w="1473958"/>
                <a:gridCol w="1473958"/>
                <a:gridCol w="147395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F2933"/>
                          </a:solidFill>
                          <a:latin typeface="Noto Sans CJK TC"/>
                        </a:rPr>
                        <a:t>Method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F2933"/>
                          </a:solidFill>
                          <a:latin typeface="Noto Sans CJK TC"/>
                        </a:rPr>
                        <a:t>Status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F2933"/>
                          </a:solidFill>
                          <a:latin typeface="Noto Sans CJK TC"/>
                        </a:rPr>
                        <a:t>n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F2933"/>
                          </a:solidFill>
                          <a:latin typeface="Noto Sans CJK TC"/>
                        </a:rPr>
                        <a:t>mean A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F2933"/>
                          </a:solidFill>
                          <a:latin typeface="Noto Sans CJK TC"/>
                        </a:rPr>
                        <a:t>min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F2933"/>
                          </a:solidFill>
                          <a:latin typeface="Noto Sans CJK TC"/>
                        </a:rPr>
                        <a:t>max</a:t>
                      </a:r>
                    </a:p>
                  </a:txBody>
                  <a:tcPr anchor="ctr">
                    <a:solidFill>
                      <a:srgbClr val="E7F2F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F2933"/>
                          </a:solidFill>
                          <a:latin typeface="Noto Sans CJK TC"/>
                        </a:rPr>
                        <a:t>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CORRECTED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+0.181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+0.062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+0.300</a:t>
                      </a:r>
                    </a:p>
                  </a:txBody>
                  <a:tcPr anchor="ctr"/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F2933"/>
                          </a:solidFill>
                          <a:latin typeface="Noto Sans CJK TC"/>
                        </a:rPr>
                        <a:t>PS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HARMED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9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-0.336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-0.467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-0.171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F2933"/>
                          </a:solidFill>
                          <a:latin typeface="Noto Sans CJK TC"/>
                        </a:rPr>
                        <a:t>PG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CORRECTED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+0.187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+0.133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+0.300</a:t>
                      </a:r>
                    </a:p>
                  </a:txBody>
                  <a:tcPr anchor="ctr"/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F2933"/>
                          </a:solidFill>
                          <a:latin typeface="Noto Sans CJK TC"/>
                        </a:rPr>
                        <a:t>PG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HARMED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13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-0.246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-0.418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F2933"/>
                          </a:solidFill>
                          <a:latin typeface="Noto Sans CJK TC"/>
                        </a:rPr>
                        <a:t>-0.107</a:t>
                      </a:r>
                    </a:p>
                  </a:txBody>
                  <a:tcPr anchor="ctr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A(x) 的 sign 在 changed cases 中是機制一致性檢查；下一步要在 repeated splits 中測它能否事前預測 corrected / harmed。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12. 老師上次問題：現在逐題的最終答案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這頁就是開會最後要交卷的版本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1673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資料量？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289304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132/5、1728/7、625/5（Rows / Headers），並明列 factors、classes、80/20。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65376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4767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20% 有沒有參與？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920240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沒有。20% 只做最後 prediction / evaluation；所有 rules / supports / weights 只由 80% 建立。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96312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7860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六種方法結果？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51176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72 組完整 Acc / Recall(=BA) / Macro-F1 已自動輸出；沒有 universal winner。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27248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20954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Coverage？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3182112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Overall、Target(any rule)、Target Candidate(true class represented) 三層已分開。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58183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840479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Standard 3+3？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813047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T_d 會重複計 support occurrences；PS 改用 U_d，只讓同一 supporting object 計一次。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89120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47141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Global 怎麼改？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4443983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保留 GS=U/N，再乘 P=U/T；PG=U²/(NT)。baseline 不被覆蓋。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0056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10235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Target 1–5？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5074920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三個 dataset 各 5 筆全部回查；可分 corrected、harmed、coverage failure。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老師要求的每一題現在都有對應 code、CSV evidence 與簡報頁，不再靠人工口頭補。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13. Code / Evidence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這次不是只改 PPT；缺的 diagnostics 已正式進 research branch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429000" cy="1874519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8" y="1463039"/>
            <a:ext cx="50292" cy="1600199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463039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Code 補齊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37943"/>
            <a:ext cx="2971800" cy="1271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0">
                <a:solidFill>
                  <a:srgbClr val="1F2933"/>
                </a:solidFill>
                <a:latin typeface="Noto Sans CJK TC"/>
              </a:rPr>
              <a:t>✓ Target Candidate Coverage
✓ Redundancy Asymmetry helper
✓ Coverage vs Ranking error classification
✓ Standard / Global transition decomposition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429000" cy="1874519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98848" y="1463039"/>
            <a:ext cx="50292" cy="1600199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463039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Teacher CSVs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837943"/>
            <a:ext cx="2971800" cy="1271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40" b="0">
                <a:solidFill>
                  <a:srgbClr val="1F2933"/>
                </a:solidFill>
                <a:latin typeface="Noto Sans CJK TC"/>
              </a:rPr>
              <a:t>✓ dataset metadata
✓ six-policy metrics
✓ coverage by class
✓ target 1–5
✓ STD/GS transitions
✓ error/asymmetry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25880"/>
            <a:ext cx="3429000" cy="1874519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02167" y="1463039"/>
            <a:ext cx="50292" cy="1600199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463039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837943"/>
            <a:ext cx="2971800" cy="1271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F2933"/>
                </a:solidFill>
                <a:latin typeface="Noto Sans CJK TC"/>
              </a:rPr>
              <a:t>TDD RED：缺 function / module 時 CI fail
GREEN：implementation 後
118 tests passed · compile PASS
backtrace workflow SUCCESS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03320"/>
            <a:ext cx="10561320" cy="1325880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2688" y="3840480"/>
            <a:ext cx="50292" cy="1051560"/>
          </a:xfrm>
          <a:prstGeom prst="rect">
            <a:avLst/>
          </a:prstGeom>
          <a:solidFill>
            <a:srgbClr val="6B7780"/>
          </a:solidFill>
          <a:ln>
            <a:solidFill>
              <a:srgbClr val="6B7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840480"/>
            <a:ext cx="10122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Repository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215383"/>
            <a:ext cx="10104120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Branch: research/conflict-client-sweep-20261020
PR #5: Draft / Open / Not merged
Frozen production main remains unchanged.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這一輪完成的是 professor-question evidence layer，不修改 frozen main，也不新增第七種 prediction policy。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14. 現在可以下什麼結論、還不能下什麼結論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把「已證明的 code 行為」與「下一步要統計驗證的研究假說」分開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303520" cy="310896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463039"/>
            <a:ext cx="50292" cy="283464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63039"/>
            <a:ext cx="48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目前可以確定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37943"/>
            <a:ext cx="4846320" cy="2505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• Population correction 會降低 duplicated support 對 winner 的影響。
• 43/43 changed winners 都往 lower-redundancy decision 移動。
• 它可以 corrected，也可以 harmed。
• true class 不在 candidate set 時，任何 voting 都救不了。
• Target Candidate Coverage 能直接量到這個缺口。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25880"/>
            <a:ext cx="5303520" cy="310896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81928" y="1463039"/>
            <a:ext cx="50292" cy="283464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463039"/>
            <a:ext cx="48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目前不能直接宣稱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1837943"/>
            <a:ext cx="4846320" cy="2505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• Population method universally better。
• Client 數越多就一定越好／越差。
• Redundancy 本身就是 noise。
• A(x) 已經是 causal predictor。
• seed=42 的 72 rows 可直接當獨立樣本做顯著性。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800600"/>
            <a:ext cx="10332720" cy="59436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128" y="4937760"/>
            <a:ext cx="50292" cy="32004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937760"/>
            <a:ext cx="9893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>
                <a:solidFill>
                  <a:srgbClr val="1F2933"/>
                </a:solidFill>
                <a:latin typeface="Noto Sans CJK TC"/>
              </a:rPr>
              <a:t>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5312664"/>
            <a:ext cx="9875520" cy="-9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3"/>
                </a:solidFill>
                <a:latin typeface="Noto Sans CJK TC"/>
              </a:rPr>
              <a:t>Repeated matched seeds / splits → 每個 conflict case 記錄 candidate coverage、T/U/P、score margin、A(x) → Friedman / paired Wilcoxon（block-level）。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下一輪不加新方法；先驗證「什麼 support structure 會讓 Population correction corrected 或 over-correct」。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B7780"/>
                </a:solidFill>
                <a:latin typeface="Noto Sans CJK T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