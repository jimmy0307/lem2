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780"/>
                </a:solidFill>
                <a:latin typeface="Noto Sans CJK TC"/>
              </a:rPr>
              <a:t>PROFESSOR QUESTION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F2933"/>
                </a:solidFill>
                <a:latin typeface="Noto Sans CJK TC"/>
              </a:rPr>
              <a:t>Federated LEM2：把上次老師的問題逐題回答完整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0574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7A78"/>
                </a:solidFill>
                <a:latin typeface="Noto Sans CJK TC"/>
              </a:rPr>
              <a:t>資料規模 → 80/20 → 六方法 → Coverage → Standard / Global 改前改後 → 3×5 Target 回查 → 錯誤分解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520440"/>
            <a:ext cx="2377440" cy="12344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4A78A8"/>
                </a:solidFill>
                <a:latin typeface="Noto Sans CJK TC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UCI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3520440"/>
            <a:ext cx="2377440" cy="12344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4C8A61"/>
                </a:solidFill>
                <a:latin typeface="Noto Sans CJK TC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prediction methods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3520440"/>
            <a:ext cx="2377440" cy="1234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96A3D"/>
                </a:solidFill>
                <a:latin typeface="Noto Sans CJK TC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target backtraces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3520440"/>
            <a:ext cx="2377440" cy="12344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4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B65252"/>
                </a:solidFill>
                <a:latin typeface="Noto Sans CJK TC"/>
              </a:rPr>
              <a:t>908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conflict occurrences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3036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Noto Sans CJK TC"/>
              </a:rPr>
              <a:t>這一版不先談「新發現」，而是先把老師上次每一題用 code → evidence → result 回答完。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老師上次到底問了什麼？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本版簡報的順序完全照這張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98448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362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三份資料有幾筆？幾個 headers / factors？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8424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80/20 怎麼切？20% 有沒有參與建模？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42032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6060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同一資料跑六種方法，Acc / Recall / F1 到底是多少？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63824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36976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22783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Overall Coverage、Target Coverage 到底是多少？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85616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84962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Standard 的 3+3 為什麼有問題？改完 A/B 誰贏？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07408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47141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Global 改法和原 GlobalStrength 差在哪？winner 怎麼變？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29200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0932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每個 dataset 的 Target 1–5 回查後，差別到底在哪？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後面的 Redundancy Asymmetry 只能放在「回答完老師」之後，不能反過來取代老師的問題。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1. 資料規模：Rows、Headers、Factors 全部明列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Headers = condition attributes + 1 decision column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老師問的「資料比數＋標頭量」現在由程式自動輸出，不再只寫 Attrs。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1572768"/>
            <a:ext cx="64008" cy="3246120"/>
          </a:xfrm>
          <a:prstGeom prst="rect">
            <a:avLst/>
          </a:prstGeom>
          <a:solidFill>
            <a:srgbClr val="5882A4"/>
          </a:solidFill>
          <a:ln w="10160">
            <a:solidFill>
              <a:srgbClr val="588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5882A4"/>
                </a:solidFill>
                <a:latin typeface="Noto Sans CJK TC"/>
              </a:rPr>
              <a:t>Hayes-Roth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132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864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0864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0864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864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40864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33087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2816" y="1572768"/>
            <a:ext cx="64008" cy="3246120"/>
          </a:xfrm>
          <a:prstGeom prst="rect">
            <a:avLst/>
          </a:prstGeom>
          <a:solidFill>
            <a:srgbClr val="36756C"/>
          </a:solidFill>
          <a:ln w="10160">
            <a:solidFill>
              <a:srgbClr val="3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7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36756C"/>
                </a:solidFill>
                <a:latin typeface="Noto Sans CJK TC"/>
              </a:rPr>
              <a:t>Car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7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1728 rows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3127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7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53127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7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1382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7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53127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52944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62671" y="1572768"/>
            <a:ext cx="64008" cy="3246120"/>
          </a:xfrm>
          <a:prstGeom prst="rect">
            <a:avLst/>
          </a:prstGeom>
          <a:solidFill>
            <a:srgbClr val="937737"/>
          </a:solidFill>
          <a:ln w="10160">
            <a:solidFill>
              <a:srgbClr val="93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72983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937737"/>
                </a:solidFill>
                <a:latin typeface="Noto Sans CJK TC"/>
              </a:rPr>
              <a:t>Balance Scale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72983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625 rows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2983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2983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72983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72983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499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72983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72983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2. 80 / 20：最後 20% 完全不參與前面建模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同一 split 被六種方法共用；這是 final prediction set，不是 training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600200" cy="137160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084831"/>
            <a:ext cx="1453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6B7780"/>
                </a:solidFill>
                <a:latin typeface="Noto Sans CJK TC"/>
              </a:rPr>
              <a:t>100%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542032"/>
            <a:ext cx="1453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原始 decision table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57984" y="2523744"/>
            <a:ext cx="29260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600" y="1828800"/>
            <a:ext cx="1600200" cy="13716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2084831"/>
            <a:ext cx="1453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4A78A8"/>
                </a:solidFill>
                <a:latin typeface="Noto Sans CJK TC"/>
              </a:rPr>
              <a:t>80%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542032"/>
            <a:ext cx="1453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唯一可以學習的資料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9663" y="2523744"/>
            <a:ext cx="338329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1828800"/>
            <a:ext cx="3154680" cy="137160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084831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2B7A78"/>
                </a:solidFill>
                <a:latin typeface="Noto Sans CJK TC"/>
              </a:rPr>
              <a:t>Reduct → Clients → LEM2 → UNION → Support /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542032"/>
            <a:ext cx="3008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全部在 80% 內完成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81544" y="2523744"/>
            <a:ext cx="38404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1828800"/>
            <a:ext cx="1417320" cy="137160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84831"/>
            <a:ext cx="1271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C96A3D"/>
                </a:solidFill>
                <a:latin typeface="Noto Sans CJK TC"/>
              </a:rPr>
              <a:t>20% Holdout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42032"/>
            <a:ext cx="12710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最後才拿來 prediction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01784" y="2523744"/>
            <a:ext cx="29260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0" y="1828800"/>
            <a:ext cx="1554480" cy="13716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2084831"/>
            <a:ext cx="1408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4C8A61"/>
                </a:solidFill>
                <a:latin typeface="Noto Sans CJK TC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2542032"/>
            <a:ext cx="1408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Acc · Recall · F1 · BA ·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94760"/>
            <a:ext cx="5074920" cy="14630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3931920"/>
            <a:ext cx="50292" cy="11887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93192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20% 不可以做的事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306824"/>
            <a:ext cx="461772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× reduct selection
× local LEM2 induction
× UNION support construction
× voting weight fitting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94760"/>
            <a:ext cx="5074920" cy="14630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3368" y="3931920"/>
            <a:ext cx="50292" cy="11887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93192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20% 唯一做的事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306824"/>
            <a:ext cx="461772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✓ matching / prediction
✓ Accuracy / Recall / Macro-F1 / Balanced Accuracy
✓ Overall / Target / Target Candidate Coverage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所有 reported prediction metrics 都只看 final 20%；不存在 test leakage。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3. 同一個 frozen rule artifact 跑六種方法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前四個是既有 baseline；後兩個是本研究的 experimental variants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74920" cy="106984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463039"/>
            <a:ext cx="50292" cy="795527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463039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FIRST_MATCH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37943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順序：第一條 matching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074920" cy="106984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463039"/>
            <a:ext cx="50292" cy="795527"/>
          </a:xfrm>
          <a:prstGeom prst="rect">
            <a:avLst/>
          </a:prstGeom>
          <a:solidFill>
            <a:srgbClr val="A98025"/>
          </a:solidFill>
          <a:ln>
            <a:solidFill>
              <a:srgbClr val="A98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463039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37943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rule count：一條 rule 一票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79191"/>
            <a:ext cx="5074920" cy="106984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" y="2816351"/>
            <a:ext cx="50292" cy="795527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816351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191256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support occurrences：Σ|S(r)|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679191"/>
            <a:ext cx="5074920" cy="106984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2816351"/>
            <a:ext cx="50292" cy="795527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816351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191256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unique class coverage：|∪S(r)|/N_d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074920" cy="106984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" y="4169664"/>
            <a:ext cx="50292" cy="795527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169664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POPULATION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44568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unique population：U_d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032504"/>
            <a:ext cx="5074920" cy="106984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19088" y="4169664"/>
            <a:ext cx="50292" cy="795527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4169664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POPULATION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544568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(U_d/N_d) × (U_d/T_d)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B7780"/>
                </a:solidFill>
                <a:latin typeface="Noto Sans CJK TC"/>
              </a:rPr>
              <a:t>Established 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40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65252"/>
                </a:solidFill>
                <a:latin typeface="Noto Sans CJK TC"/>
              </a:rPr>
              <a:t>Project-defined variants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六種方法的比較必須在相同 20% test、相同 global rules、相同 conflict cases 上進行。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Hayes-Roth：六種方法的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FIRST/STD/GS/PS/PG 0.767 · C3: FIRST 0.833 · C4: FIRST 0.778 · C5: FIRST 0.833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0.808  ·  BA 0.833  ·  F1 0.833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0.769  ·  BA 0.778  ·  F1 0.791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0.808  ·  BA 0.833  ·  F1 0.829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0.656  ·  F1 0.679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0.611  ·  F1 0.617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0.567  ·  F1 0.595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0.522  ·  F1 0.503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0.744  ·  F1 0.756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0.622  ·  F1 0.646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0.578  ·  F1 0.583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0.678  ·  F1 0.694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0.622  ·  F1 0.646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0.567  ·  F1 0.592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0.700  ·  F1 0.699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0.633  ·  F1 0.625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Car Evaluation：六種方法的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GS/PG 0.717 · C3: PG 0.801 · C4: GS 0.683 · C5: PG 0.634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0.899  ·  BA 0.664  ·  F1 0.658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0.905  ·  BA 0.674  ·  F1 0.682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0.631  ·  F1 0.630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0.873  ·  BA 0.596  ·  F1 0.607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0.876  ·  BA 0.621  ·  F1 0.629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0.710  ·  F1 0.714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0.841  ·  BA 0.582  ·  F1 0.598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0.806  ·  BA 0.540  ·  F1 0.527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0.902  ·  BA 0.669  ·  F1 0.672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0.910  ·  BA 0.709  ·  F1 0.708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0.879  ·  BA 0.593  ·  F1 0.635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0.858  ·  BA 0.544  ·  F1 0.568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0.717  ·  F1 0.676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0.798  ·  F1 0.735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0.853  ·  BA 0.683  ·  F1 0.630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0.829  ·  BA 0.624  ·  F1 0.572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0.905  ·  BA 0.689  ·  F1 0.687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0.908  ·  BA 0.706  ·  F1 0.700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0.879  ·  BA 0.591  ·  F1 0.628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0.853  ·  BA 0.537  ·  F1 0.562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0.717  ·  F1 0.676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0.893  ·  BA 0.801  ·  F1 0.735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0.850  ·  BA 0.678  ·  F1 0.621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0.829  ·  BA 0.634  ·  F1 0.586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Balance Scale：六種方法的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PS 0.563 · C3: STD/PS 0.586 · C4: STD/PS 0.598 · C5: GS/PG 0.591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0.675  ·  BA 0.489  ·  F1 0.504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0.651  ·  BA 0.471  ·  F1 0.488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0.706  ·  BA 0.511  ·  F1 0.510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0.675  ·  BA 0.489  ·  F1 0.484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0.722  ·  BA 0.523  ·  F1 0.523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0.794  ·  BA 0.575  ·  F1 0.558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0.746  ·  BA 0.540  ·  F1 0.525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0.770  ·  BA 0.557  ·  F1 0.544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0.564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0.825  ·  BA 0.598  ·  F1 0.573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0.563  ·  F1 0.542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0.537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0.786  ·  BA 0.569  ·  F1 0.555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0.591  ·  F1 0.591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0.563  ·  F1 0.550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0.564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0.825  ·  BA 0.598  ·  F1 0.573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0.786  ·  BA 0.569  ·  F1 0.548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0.537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0.794  ·  BA 0.575  ·  F1 0.560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0.802  ·  BA 0.580  ·  F1 0.565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0.591  ·  F1 0.590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5. Coverage：要拆成三個問題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這是本次補 code 後最重要的新區分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37560" cy="19202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63039"/>
            <a:ext cx="50292" cy="164592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Overall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整個 20% test 中，有沒有任何 rule match？
|{x : M(x)≠∅}| / |U_test|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19202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4568" y="1463039"/>
            <a:ext cx="50292" cy="164592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Target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真實屬於 class d 的 test cases 中，有沒有任何 rule match？
不要求 matching rule 的 decision=d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337560" cy="19202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93607" y="1463039"/>
            <a:ext cx="50292" cy="164592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Target Candidate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真實屬於 class d 的 test cases 中，是否至少有一條 matching rule 真的提出 d？
這才偵測「true class 根本沒進 candidate set」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B65252"/>
                </a:solidFill>
                <a:latin typeface="Noto Sans CJK TC"/>
              </a:rPr>
              <a:t>Coverage ≠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005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Noto Sans CJK TC"/>
              </a:rPr>
              <a:t>Coverage 問「能不能進決策」；Recall 問「最後有沒有判對」。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617720"/>
            <a:ext cx="9966960" cy="7772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7" y="4754880"/>
            <a:ext cx="50292" cy="5029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4754880"/>
            <a:ext cx="9528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為什麼要多這一層？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129783"/>
            <a:ext cx="9509760" cy="173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Noto Sans CJK TC"/>
              </a:rPr>
              <a:t>真實 B 可能有 rule match，但 matching rules 只有 L / R。舊 Target Coverage 會算 covered；Target Candidate Coverage 才會判斷 B 沒有被產生。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Candidate Generation / Coverage failure 與 Candidate Ranking / Conflict error 必須分開。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6. 三個 UCI 的實際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三個數字都由同一 20% holdout 自動計算；六種 policy 的 coverage 相同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68112"/>
            <a:ext cx="10561320" cy="41148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5605272"/>
            <a:ext cx="50292" cy="13716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5605272"/>
            <a:ext cx="10122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>
                <a:solidFill>
                  <a:srgbClr val="1F2933"/>
                </a:solidFill>
                <a:latin typeface="Noto Sans CJK TC"/>
              </a:rPr>
              <a:t>最大差距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5980176"/>
            <a:ext cx="10104120" cy="-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Noto Sans CJK TC"/>
              </a:rPr>
              <a:t>Balance C=2：Target(any rule)=93.2%，但 Target(candidate)=57.5%；代表「有規則 match」不等於「真正 target class 有 candidate rule」。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5882A4"/>
                </a:solidFill>
                <a:latin typeface="Noto Sans CJK TC"/>
              </a:rPr>
              <a:t>Balance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1874519"/>
            <a:ext cx="475488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9576" y="1874519"/>
            <a:ext cx="804672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4248" y="1874519"/>
            <a:ext cx="896112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2536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Any rule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874519"/>
            <a:ext cx="914400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Candidate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9576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94.4%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93.2%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8648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57.5%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9576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84248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2536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98648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61.5%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79576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97864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84248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2536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98648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72.2%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79576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97864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02536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8648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67.1%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87952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52544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756C"/>
                </a:solidFill>
                <a:latin typeface="Noto Sans CJK TC"/>
              </a:rPr>
              <a:t>Car Evaluation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9392" y="1874519"/>
            <a:ext cx="475488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79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79" y="1874519"/>
            <a:ext cx="804672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73167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Overall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9551" y="1874519"/>
            <a:ext cx="896112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7839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Any rule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55663" y="1874519"/>
            <a:ext cx="914400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3951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Candidate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79392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79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79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73167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97.7%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59551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77839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92.9%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55663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73951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80.9%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9392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7679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54879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73167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98.3%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59551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77839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55663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73951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91.0%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79392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79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79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73167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99.4%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9551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77839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97.8%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55663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73951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95.0%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79392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97679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54879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73167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59551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77839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55663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73951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87.3%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0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63256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27848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937737"/>
                </a:solidFill>
                <a:latin typeface="Noto Sans CJK TC"/>
              </a:rPr>
              <a:t>Hayes-Roth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54696" y="1874519"/>
            <a:ext cx="475488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72983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30183" y="1874519"/>
            <a:ext cx="804672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48471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Overall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34856" y="1874519"/>
            <a:ext cx="896112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53144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Any rule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30968" y="1874519"/>
            <a:ext cx="914400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49256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Candidate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54696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72983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330183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48471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92.3%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34856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53144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93.3%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30968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9256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73.3%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854696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872983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330183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348471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34856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53144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030968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49256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93.3%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854696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872983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330183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348471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34856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153144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30968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049256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86.7%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54696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872983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330183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348471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34856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53144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030968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49256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93.3%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964424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Candidate Coverage：真正暴露 induction / coverage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特別是 Balance 的 B class，舊 coverage 幾乎看不出問題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Balance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Car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Hayes-Roth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321808"/>
            <a:ext cx="3154680" cy="438912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B65252"/>
                </a:solidFill>
                <a:latin typeface="Noto Sans CJK TC"/>
              </a:rPr>
              <a:t>Balance B：C2=0%、C3=0%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5321808"/>
            <a:ext cx="3154680" cy="438912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C96A3D"/>
                </a:solidFill>
                <a:latin typeface="Noto Sans CJK TC"/>
              </a:rPr>
              <a:t>Car good：C2 只有 57.1%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5321808"/>
            <a:ext cx="3154680" cy="438912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4A78A8"/>
                </a:solidFill>
                <a:latin typeface="Noto Sans CJK TC"/>
              </a:rPr>
              <a:t>Hayes C2：class1/2 都只有 60%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1783080"/>
            <a:ext cx="3255264" cy="71323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0.0% · L 84.5% · R 87.9%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0.0% · L 94.8% · R 89.7%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355848"/>
            <a:ext cx="3255264" cy="71323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20.0% · L 98.3% · R 98.3%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10.0% · L 94.8% · R 96.6%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44568" y="1783080"/>
            <a:ext cx="3255264" cy="713232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81.8% · good 57.1%
unacc 100.0% · vgood 84.6%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44568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42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93.5% · good 78.6%
unacc 99.6% · vgood 92.3%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44568" y="3355848"/>
            <a:ext cx="3255264" cy="713232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80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94.8% · good 92.9%
unacc 100.0% · vgood 92.3%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44568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542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80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93.5% · good 71.4%
unacc 99.6% · vgood 84.6%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30767" y="1783080"/>
            <a:ext cx="3255264" cy="71323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342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60.0% · 2 60.0% · 3 100.0%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30767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04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90.0% · 2 90.0% · 3 100.0%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30767" y="3355848"/>
            <a:ext cx="3255264" cy="71323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342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80.0% · 2 80.0% · 3 100.0%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30767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04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42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1 100.0% · 2 80.0% · 3 100.0%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7. Standard：老師的「3+3」問題，現在完整算到 winner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核心不是把多的 u 當負分，而是避免同一 population 被 rule occurrences 重複放大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017520" cy="21488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17319"/>
            <a:ext cx="50292" cy="187452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17319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 的兩條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792224"/>
            <a:ext cx="256032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Noto Sans CJK TC"/>
              </a:rPr>
              <a:t>r1→A : {u1,u2,u3}
r2→A : {u2,u3,u4}
T_A = 3+3 = 6
U_A = 4
P_A = 4/6 = 2/3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280160"/>
            <a:ext cx="3017520" cy="21488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78808" y="1417319"/>
            <a:ext cx="50292" cy="187452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417319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若 B 的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792224"/>
            <a:ext cx="256032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Noto Sans CJK TC"/>
              </a:rPr>
              <a:t>假設 T_B = 5
而且五個 support 都不同
U_B = 5
P_B 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280160"/>
            <a:ext cx="3886200" cy="21488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62088" y="1417319"/>
            <a:ext cx="50292" cy="18745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1417319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改前 vs 改後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792224"/>
            <a:ext cx="342900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STANDARD：A=6 &gt; B=5 → A
POPULATION STANDARD：
A=U_A=4 &lt; B=U_B=5 →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7763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A78A8"/>
                </a:solidFill>
                <a:latin typeface="Noto Sans CJK TC"/>
              </a:rPr>
              <a:t>Standard 看 T_d（occurrences）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96849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6B7780"/>
                </a:solidFill>
                <a:latin typeface="Noto Sans CJK T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9776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B7A78"/>
                </a:solidFill>
                <a:latin typeface="Noto Sans CJK TC"/>
              </a:rPr>
              <a:t>Population Standard 看 U_d（unique objects）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新的 score 不會把「多出來的 unique u」扣分；它只是把重複出現的同一 u 從多次計價改成一次。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Standard 真實回查：同一機制可以 Correct，也可以 Harm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用 20% holdout 的真實 conflict case，不再只看 toy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74920" cy="33375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08760"/>
            <a:ext cx="50292" cy="306324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Corrected case · Car Target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83664"/>
            <a:ext cx="4617720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True = vgood
STD winner = good   →   PS winner = vgood
old: T=9, U=7, P=0.778
new: T=9, U=9, P=1.000
CORRECTED · A(x)=0.222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74920" cy="33375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508760"/>
            <a:ext cx="50292" cy="306324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Harmed case · Car Target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83664"/>
            <a:ext cx="4617720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True = acc
STD winner = acc   →   PS winner = unacc
old: T=38, U=25, P=0.658
new: T=27, U=27, P=1.000
HARMED · A(x)=-0.342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83480"/>
            <a:ext cx="10287000" cy="50292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5120640"/>
            <a:ext cx="50292" cy="22860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5120640"/>
            <a:ext cx="9848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 CJK TC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495544"/>
            <a:ext cx="9829800" cy="-100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F2933"/>
                </a:solidFill>
                <a:latin typeface="Noto Sans CJK TC"/>
              </a:rPr>
              <a:t>同樣是去重：如果錯誤 competitor 的 redundancy 高，可能救回 true class；如果 true class 的 evidence 本身高度重疊，就可能 over-correct。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Redundancy ≠ Noise。去重本身是明確行為，但「重複 evidence 是否該被懲罰」取決於它出現在誰身上。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8. Global：原 GlobalStrength 再乘 Population Nonredundancy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不是把 numerator / denominator 真正倒過來；而是加一個 P_d=U_d/T_d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37560" cy="21488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39"/>
            <a:ext cx="50292" cy="18745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原 GlobalStrength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GS_d = U_d / N_d
U_d：unique support objects
N_d：training decision class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21488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4568" y="1463039"/>
            <a:ext cx="50292" cy="187452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Population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P_d = U_d / T_d
T_d：support occurrences
P_d 越低 → evidence overlap 越高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37560" cy="21488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1463039"/>
            <a:ext cx="50292" cy="18745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Population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Noto Sans CJK TC"/>
              </a:rPr>
              <a:t>PG_d = GS_d × P_d
= U_d² / (N_d T_d)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C8A61"/>
                </a:solidFill>
                <a:latin typeface="Noto Sans CJK TC"/>
              </a:rPr>
              <a:t>原本回答：「unique population 佔 class 多大？」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05079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6B7780"/>
                </a:solidFill>
                <a:latin typeface="Noto Sans CJK TC"/>
              </a:rPr>
              <a:t>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96A3D"/>
                </a:solidFill>
                <a:latin typeface="Noto Sans CJK TC"/>
              </a:rPr>
              <a:t>新增回答：「這些 evidence 有多少不是重複計價？」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Population Global 是 experimental correction；GlobalStrength 本身仍保留為 baseline，不被覆蓋。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Global 真實回查：winner 怎麼被 P_d 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Car 的 corrected / harmed case 直接算出 old → new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74920" cy="34290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08760"/>
            <a:ext cx="50292" cy="315468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Corrected · Car Target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83664"/>
            <a:ext cx="4617720" cy="282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>
                <a:solidFill>
                  <a:srgbClr val="1F2933"/>
                </a:solidFill>
                <a:latin typeface="Noto Sans CJK TC"/>
              </a:rPr>
              <a:t>True = good
GS winner = acc   →   PG winner = good
old winner: T=50, U=35, P=0.700
new winner: T=5, U=5, P=1.000
winner redundancy drop = 0.300
CORRECTED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74920" cy="34290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508760"/>
            <a:ext cx="50292" cy="315468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Harmed · Car Target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83664"/>
            <a:ext cx="4617720" cy="282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>
                <a:solidFill>
                  <a:srgbClr val="1F2933"/>
                </a:solidFill>
                <a:latin typeface="Noto Sans CJK TC"/>
              </a:rPr>
              <a:t>True = acc
GS winner = acc   →   PG winner = unacc
old winner: T=67, U=39, P=0.582
new winner: T=106, U=106, P=1.000
winner redundancy drop = 0.418
HARMED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74920"/>
            <a:ext cx="10287000" cy="438912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5212080"/>
            <a:ext cx="50292" cy="164592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5212080"/>
            <a:ext cx="9848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2933"/>
                </a:solidFill>
                <a:latin typeface="Noto Sans CJK TC"/>
              </a:rPr>
              <a:t>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586983"/>
            <a:ext cx="9829800" cy="-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 CJK TC"/>
              </a:rPr>
              <a:t>所有 winner change 都往 redundancy 較低的 decision 移動；但較低 redundancy 不等於一定是真實類別。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PG 的行為符合設計；真正的研究問題是何時這個 penalty 對「錯的人」施加、何時對「對的人」施加。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9. Balance Scale：Target 1–5 全部回查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events=2 · harmed events=2 · true-candidate missing=1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right_distance=5.0 · right_weight=1.0 · left_distance=3.0 ·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right_distance=3.0 · right_weight=1.0 · left_distance=5.0 ·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right_distance=3.0 · right_weight=1.0 · left_distance=4.0 ·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right_distance=5.0 · right_weight=1.0 · left_distance=4.0 · 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right_distance=4.0 · right_weight=1.0 · left_distance=4.0 · 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F8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937737"/>
                </a:solidFill>
                <a:latin typeface="Noto Sans CJK TC"/>
              </a:rPr>
              <a:t>Changed / same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FAEBE9"/>
          </a:solidFill>
          <a:ln w="10160"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F675E"/>
                </a:solidFill>
                <a:latin typeface="Noto Sans CJK TC"/>
              </a:rPr>
              <a:t>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9. Car Evaluation：Target 1–5 全部回查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events=2 · harmed events=2 · true-candidate missing=1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vgood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buying=low · maint=low · doors=2.0 · persons=4 · lug_boot=big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good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maint=low · doors=3.0 · persons=4 · lug_boot=big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acc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maint=vhigh · doors=4.0 · persons=more · lug_boo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acc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buying=high · maint=low · doors=4.0 · persons=4 · lug_boot=sm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good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maint=low · doors=4.0 · persons=4 · lug_boot=sma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F8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937737"/>
                </a:solidFill>
                <a:latin typeface="Noto Sans CJK TC"/>
              </a:rPr>
              <a:t>Changed / same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FAEBE9"/>
          </a:solidFill>
          <a:ln w="10160"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F675E"/>
                </a:solidFill>
                <a:latin typeface="Noto Sans CJK TC"/>
              </a:rPr>
              <a:t>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9. Hayes-Roth：Target 1–5 全部回查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events=1 · harmed events=2 · true-candidate missing=0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hobby=2.0 · age=3.0 · educational_level=4.0 · marital_status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hobby=3.0 · age=1.0 · educational_level=1.0 · marital_status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hobby=2.0 · age=1.0 · educational_level=1.0 · marital_status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hobby=3.0 · age=1.0 · educational_level=2.0 · marital_status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hobby=1.0 · age=1.0 · educational_level=3.0 · marital_status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10. 908 個 Conflict Occurrences：把 error 拆開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Population correction 只改 43 個 borderline cases；另外有 45 個 conflict cases 的 true class 根本不在 candidate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2423160" cy="114300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C96A3D"/>
                </a:solidFill>
                <a:latin typeface="Noto Sans CJK TC"/>
              </a:rPr>
              <a:t>908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4754880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0">
                <a:solidFill>
                  <a:srgbClr val="1F2933"/>
                </a:solidFill>
                <a:latin typeface="Noto Sans CJK TC"/>
              </a:rPr>
              <a:t>conflict occurrences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4160520"/>
            <a:ext cx="2423160" cy="11430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434340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B65252"/>
                </a:solidFill>
                <a:latin typeface="Noto Sans CJK TC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4754880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0">
                <a:solidFill>
                  <a:srgbClr val="1F2933"/>
                </a:solidFill>
                <a:latin typeface="Noto Sans CJK TC"/>
              </a:rPr>
              <a:t>population-induced winner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4160520"/>
            <a:ext cx="2423160" cy="11430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434340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4A78A8"/>
                </a:solidFill>
                <a:latin typeface="Noto Sans CJK TC"/>
              </a:rP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754880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0">
                <a:solidFill>
                  <a:srgbClr val="1F2933"/>
                </a:solidFill>
                <a:latin typeface="Noto Sans CJK TC"/>
              </a:rPr>
              <a:t>conflict cases without true candidate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4160520"/>
            <a:ext cx="2423160" cy="11430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434340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4C8A61"/>
                </a:solidFill>
                <a:latin typeface="Noto Sans CJK TC"/>
              </a:rPr>
              <a:t>43/43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4754880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0">
                <a:solidFill>
                  <a:srgbClr val="1F2933"/>
                </a:solidFill>
                <a:latin typeface="Noto Sans CJK TC"/>
              </a:rPr>
              <a:t>changed winner → lower redundancy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Coverage / induction failure 不能用 voting 修；Ranking error 才是 Standard / Global / Population policies 能處理的範圍。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19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1353312"/>
            <a:ext cx="3273552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1481328"/>
            <a:ext cx="2999232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5882A4"/>
                </a:solidFill>
                <a:latin typeface="Noto Sans CJK TC"/>
              </a:rPr>
              <a:t>Balance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901952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1901952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266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295144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True candidate absent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0632" y="2295144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688336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PS corrected / harmed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688336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3 /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081528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PG corrected / harmed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3081528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3 /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9663" y="1353312"/>
            <a:ext cx="3273552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6824" y="1481328"/>
            <a:ext cx="2999232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756C"/>
                </a:solidFill>
                <a:latin typeface="Noto Sans CJK TC"/>
              </a:rPr>
              <a:t>Car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1" y="1901952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Conflict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1901952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598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1" y="2295144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True candidate absent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2295144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1" y="2688336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PS corrected / harmed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2688336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2 /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1" y="3081528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PG corrected / harmed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3081528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7 / 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17536" y="1353312"/>
            <a:ext cx="3273552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54696" y="1481328"/>
            <a:ext cx="2999232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937737"/>
                </a:solidFill>
                <a:latin typeface="Noto Sans CJK TC"/>
              </a:rPr>
              <a:t>Hayes-Roth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8704" y="1901952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Conflict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66376" y="1901952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18704" y="2295144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True candidate absent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66376" y="2295144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18704" y="2688336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PS corrected / harmed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6376" y="2688336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1 /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18704" y="3081528"/>
            <a:ext cx="19659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667580"/>
                </a:solidFill>
                <a:latin typeface="Noto Sans CJK TC"/>
              </a:rPr>
              <a:t>PG corrected / harmed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66376" y="3081528"/>
            <a:ext cx="868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36454F"/>
                </a:solidFill>
                <a:latin typeface="Noto Sans CJK TC"/>
              </a:rPr>
              <a:t>0 /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11. Redundancy Asymmetry：現在已正式寫進 code 與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這是 mechanism diagnostic，不是既有文獻 metric，也不是獨立 causal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F2933"/>
                </a:solidFill>
                <a:latin typeface="Noto Sans CJK TC"/>
              </a:rPr>
              <a:t>R_d = 1 - P_d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417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B7A78"/>
                </a:solidFill>
                <a:latin typeface="Noto Sans CJK TC"/>
              </a:rPr>
              <a:t>A(x) = R_competitor - R_true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983480" cy="141732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2377440"/>
            <a:ext cx="50292" cy="114300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37744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A(x) &gt; 0 · Corrected-side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52344"/>
            <a:ext cx="452628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錯誤 competitor 的 evidence 比 true decision 更重複。
目前 corrected transitions 的 A(x) 全部為正。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40280"/>
            <a:ext cx="4983480" cy="141732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73368" y="2377440"/>
            <a:ext cx="50292" cy="114300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37744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A(x) &lt; 0 · Over-correction-side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752344"/>
            <a:ext cx="452628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true decision 本身的 evidence 比錯誤 competitor 更重複。
目前 harmed transitions 的 A(x) 全部為負。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A(x) 的 sign 在 changed cases 中是機制一致性檢查；下一步要在 repeated splits 中測它能否事前預測 corrected / harmed。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4005072"/>
            <a:ext cx="2157984" cy="107899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96512"/>
            <a:ext cx="2011680" cy="21945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568B5B"/>
                </a:solidFill>
                <a:latin typeface="Noto Sans CJK TC"/>
              </a:rPr>
              <a:t>PS · CORRECTED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43400"/>
            <a:ext cx="20116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454F"/>
                </a:solidFill>
                <a:latin typeface="Noto Sans CJK TC"/>
              </a:rPr>
              <a:t>n=6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553712"/>
            <a:ext cx="20116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36454F"/>
                </a:solidFill>
                <a:latin typeface="Noto Sans CJK TC"/>
              </a:rPr>
              <a:t>mean +0.181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745736"/>
            <a:ext cx="20116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667580"/>
                </a:solidFill>
                <a:latin typeface="Noto Sans CJK TC"/>
              </a:rPr>
              <a:t>min +0.062  ·  max +0.300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75887" y="4005072"/>
            <a:ext cx="2157984" cy="107899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4096512"/>
            <a:ext cx="2011680" cy="21945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BE5D54"/>
                </a:solidFill>
                <a:latin typeface="Noto Sans CJK TC"/>
              </a:rPr>
              <a:t>PS · HARMED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343400"/>
            <a:ext cx="20116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454F"/>
                </a:solidFill>
                <a:latin typeface="Noto Sans CJK TC"/>
              </a:rPr>
              <a:t>n=9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553712"/>
            <a:ext cx="20116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36454F"/>
                </a:solidFill>
                <a:latin typeface="Noto Sans CJK TC"/>
              </a:rPr>
              <a:t>mean -0.336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745736"/>
            <a:ext cx="20116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667580"/>
                </a:solidFill>
                <a:latin typeface="Noto Sans CJK TC"/>
              </a:rPr>
              <a:t>min -0.467  ·  max -0.171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4005072"/>
            <a:ext cx="2157984" cy="107899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4096512"/>
            <a:ext cx="2011680" cy="21945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568B5B"/>
                </a:solidFill>
                <a:latin typeface="Noto Sans CJK TC"/>
              </a:rPr>
              <a:t>PG · CORRECTED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343400"/>
            <a:ext cx="20116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454F"/>
                </a:solidFill>
                <a:latin typeface="Noto Sans CJK TC"/>
              </a:rPr>
              <a:t>n=10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553712"/>
            <a:ext cx="20116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36454F"/>
                </a:solidFill>
                <a:latin typeface="Noto Sans CJK TC"/>
              </a:rPr>
              <a:t>mean +0.187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4745736"/>
            <a:ext cx="20116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667580"/>
                </a:solidFill>
                <a:latin typeface="Noto Sans CJK TC"/>
              </a:rPr>
              <a:t>min +0.133  ·  max +0.300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2016" y="4005072"/>
            <a:ext cx="2157984" cy="107899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4096512"/>
            <a:ext cx="2011680" cy="21945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BE5D54"/>
                </a:solidFill>
                <a:latin typeface="Noto Sans CJK TC"/>
              </a:rPr>
              <a:t>PG · HARMED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4343400"/>
            <a:ext cx="20116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454F"/>
                </a:solidFill>
                <a:latin typeface="Noto Sans CJK TC"/>
              </a:rPr>
              <a:t>n=13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4553712"/>
            <a:ext cx="20116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36454F"/>
                </a:solidFill>
                <a:latin typeface="Noto Sans CJK TC"/>
              </a:rPr>
              <a:t>mean -0.246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4745736"/>
            <a:ext cx="20116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667580"/>
                </a:solidFill>
                <a:latin typeface="Noto Sans CJK TC"/>
              </a:rPr>
              <a:t>min -0.418  ·  max -0.107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12. 老師上次問題：現在逐題的最終答案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這頁就是開會最後要交卷的版本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1673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資料量？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289304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132/5、1728/7、625/5（Rows / Headers），並明列 factors、classes、80/20。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65376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476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20% 有沒有參與？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沒有。20% 只做最後 prediction / evaluation；所有 rules / supports / weights 只由 80% 建立。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96312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7860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六種方法結果？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551176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72 組完整 Acc / Recall(=BA) / Macro-F1 已自動輸出；沒有 universal winner。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27248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954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Coverage？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82112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Overall、Target(any rule)、Target Candidate(true class represented) 三層已分開。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58183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840479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Standard 3+3？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813047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T_d 會重複計 support occurrences；PS 改用 U_d，只讓同一 supporting object 計一次。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89120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47141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Global 怎麼改？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443983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保留 GS=U/N，再乘 P=U/T；PG=U²/(NT)。baseline 不被覆蓋。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0056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10235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Target 1–5？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5074920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三個 dataset 各 5 筆全部回查；可分 corrected、harmed、coverage failure。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老師要求的每一題現在都有對應 code、CSV evidence 與簡報頁，不再靠人工口頭補。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13. Code / Evidence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這次不是只改 PPT；缺的 diagnostics 已正式進 research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874519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63039"/>
            <a:ext cx="50292" cy="1600199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Code 補齊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✓ Target Candidate Coverage
✓ Redundancy Asymmetry helper
✓ Coverage vs Ranking error classification
✓ Standard / Global transition 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1463039"/>
            <a:ext cx="50292" cy="1600199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Teacher 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✓ dataset metadata
✓ six-policy metrics
✓ coverage by class
✓ target 1–5
✓ STD/GS transitions
✓ error/asymmetry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1874519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02167" y="1463039"/>
            <a:ext cx="50292" cy="1600199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Noto Sans CJK TC"/>
              </a:rPr>
              <a:t>TDD RED：缺 function / module 時 CI fail
GREEN：implementation 後
118 tests passed · compile PASS
backtrace workflow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10561320" cy="132588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3840480"/>
            <a:ext cx="50292" cy="105156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840480"/>
            <a:ext cx="10122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Repository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15383"/>
            <a:ext cx="1010412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Branch: research/conflict-client-sweep-20261020
PR #5: Draft / Open / Not merged
Frozen production main remains unchanged.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這一輪完成的是 professor-question evidence layer，不修改 frozen main，也不新增第七種 prediction policy。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14. 現在可以下什麼結論、還不能下什麼結論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把「已證明的 code 行為」與「下一步要統計驗證的研究假說」分開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303520" cy="31089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39"/>
            <a:ext cx="50292" cy="283464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63039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目前可以確定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37943"/>
            <a:ext cx="4846320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• Population correction 會降低 duplicated support 對 winner 的影響。
• 43/43 changed winners 都往 lower-redundancy decision 移動。
• 它可以 corrected，也可以 harmed。
• true class 不在 candidate set 時，任何 voting 都救不了。
• Target Candidate Coverage 能直接量到這個缺口。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03520" cy="31089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1928" y="1463039"/>
            <a:ext cx="50292" cy="283464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463039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目前不能直接宣稱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837943"/>
            <a:ext cx="4846320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• Population method universally better。
• Client 數越多就一定越好／越差。
• Redundancy 本身就是 noise。
• A(x) 已經是 causal predictor。
• seed=42 的 72 rows 可直接當獨立樣本做顯著性。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332720" cy="59436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4937760"/>
            <a:ext cx="50292" cy="32004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937760"/>
            <a:ext cx="9893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 CJK TC"/>
              </a:rPr>
              <a:t>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312664"/>
            <a:ext cx="9875520" cy="-9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3"/>
                </a:solidFill>
                <a:latin typeface="Noto Sans CJK TC"/>
              </a:rPr>
              <a:t>Repeated matched seeds / splits → 每個 conflict case 記錄 candidate coverage、T/U/P、score margin、A(x) → Friedman / paired Wilcoxon（block-level）。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下一輪不加新方法；先驗證「什麼 support structure 會讓 Population correction corrected 或 over-correct」。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7780"/>
                </a:solidFill>
                <a:latin typeface="Noto Sans CJK TC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