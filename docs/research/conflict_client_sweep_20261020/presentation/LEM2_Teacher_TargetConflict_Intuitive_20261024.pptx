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9" r:id="rId30"/>
    <p:sldId id="280" r:id="rId31"/>
    <p:sldId id="281" r:id="rId32"/>
    <p:sldId id="282" r:id="rId33"/>
    <p:sldId id="283" r:id="rId34"/>
    <p:sldId id="271" r:id="rId22"/>
    <p:sldId id="272" r:id="rId23"/>
    <p:sldId id="273" r:id="rId24"/>
    <p:sldId id="284" r:id="rId35"/>
    <p:sldId id="285" r:id="rId36"/>
    <p:sldId id="286" r:id="rId37"/>
    <p:sldId id="287" r:id="rId38"/>
    <p:sldId id="288" r:id="rId39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780"/>
                </a:solidFill>
                <a:latin typeface="Noto Sans CJK TC"/>
              </a:rPr>
              <a:t>PROFESSOR QUESTION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F2933"/>
                </a:solidFill>
                <a:latin typeface="Noto Sans CJK TC"/>
              </a:rPr>
              <a:t>Federated LEM2：把上次老師的問題逐題回答完整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0574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7A78"/>
                </a:solidFill>
                <a:latin typeface="Noto Sans CJK TC"/>
              </a:rPr>
              <a:t>資料規模 → 80/20 → 六方法 → Coverage → Standard / Global 改前改後 → 3×5 Target 回查 → 錯誤分解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520440"/>
            <a:ext cx="2377440" cy="12344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4A78A8"/>
                </a:solidFill>
                <a:latin typeface="Noto Sans CJK TC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UCI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3520440"/>
            <a:ext cx="2377440" cy="12344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4C8A61"/>
                </a:solidFill>
                <a:latin typeface="Noto Sans CJK TC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prediction methods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3520440"/>
            <a:ext cx="2377440" cy="1234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96A3D"/>
                </a:solidFill>
                <a:latin typeface="Noto Sans CJK TC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target backtraces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3520440"/>
            <a:ext cx="2377440" cy="12344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4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B65252"/>
                </a:solidFill>
                <a:latin typeface="Noto Sans CJK TC"/>
              </a:rPr>
              <a:t>908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conflict occurrences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3036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Noto Sans CJK TC"/>
              </a:rPr>
              <a:t>這一版不先談「新發現」，而是先把老師上次每一題用 code → evidence → result 回答完。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老師上次到底問了什麼？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本版簡報的順序完全照這張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98448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362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三份資料有幾筆？幾個 headers / factors？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8424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80/20 怎麼切？20% 有沒有參與建模？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42032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6060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同一資料跑六種方法，Acc / Recall / F1 到底是多少？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63824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36976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22783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Overall Coverage、Target Coverage 到底是多少？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85616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84962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Standard 的 3+3 為什麼有問題？改完 A/B 誰贏？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07408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47141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Global 改法和原 GlobalStrength 差在哪？winner 怎麼變？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29200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0932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每個 dataset 的 Target 1–5 回查後，差別到底在哪？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後面的 Redundancy Asymmetry 只能放在「回答完老師」之後，不能反過來取代老師的問題。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1. 資料規模：Rows、Headers、Factors 全部明列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Headers = condition attributes + 1 decision column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老師問的「資料比數＋標頭量」現在由程式自動輸出，不再只寫 Attrs。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1572768"/>
            <a:ext cx="64008" cy="3246120"/>
          </a:xfrm>
          <a:prstGeom prst="rect">
            <a:avLst/>
          </a:prstGeom>
          <a:solidFill>
            <a:srgbClr val="5882A4"/>
          </a:solidFill>
          <a:ln w="10160">
            <a:solidFill>
              <a:srgbClr val="588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5882A4"/>
                </a:solidFill>
                <a:latin typeface="Noto Sans CJK TC"/>
              </a:rPr>
              <a:t>Hayes-Roth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132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864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0864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0864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864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40864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33087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2816" y="1572768"/>
            <a:ext cx="64008" cy="3246120"/>
          </a:xfrm>
          <a:prstGeom prst="rect">
            <a:avLst/>
          </a:prstGeom>
          <a:solidFill>
            <a:srgbClr val="36756C"/>
          </a:solidFill>
          <a:ln w="10160">
            <a:solidFill>
              <a:srgbClr val="3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7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36756C"/>
                </a:solidFill>
                <a:latin typeface="Noto Sans CJK TC"/>
              </a:rPr>
              <a:t>Car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7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1728 rows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3127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7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53127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7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1382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7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53127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52944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62671" y="1572768"/>
            <a:ext cx="64008" cy="3246120"/>
          </a:xfrm>
          <a:prstGeom prst="rect">
            <a:avLst/>
          </a:prstGeom>
          <a:solidFill>
            <a:srgbClr val="937737"/>
          </a:solidFill>
          <a:ln w="10160">
            <a:solidFill>
              <a:srgbClr val="93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72983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937737"/>
                </a:solidFill>
                <a:latin typeface="Noto Sans CJK TC"/>
              </a:rPr>
              <a:t>Balance Scale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72983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625 rows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2983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2983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72983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72983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499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72983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72983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2. 80 / 20：最後 20% 完全不參與前面建模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同一 split 被六種方法共用；這是 final prediction set，不是 training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600200" cy="137160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084831"/>
            <a:ext cx="1453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6B7780"/>
                </a:solidFill>
                <a:latin typeface="Noto Sans CJK TC"/>
              </a:rPr>
              <a:t>100%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542032"/>
            <a:ext cx="1453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原始 decision table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57984" y="2523744"/>
            <a:ext cx="29260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600" y="1828800"/>
            <a:ext cx="1600200" cy="13716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2084831"/>
            <a:ext cx="1453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4A78A8"/>
                </a:solidFill>
                <a:latin typeface="Noto Sans CJK TC"/>
              </a:rPr>
              <a:t>80%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542032"/>
            <a:ext cx="1453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唯一可以學習的資料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9663" y="2523744"/>
            <a:ext cx="338329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1828800"/>
            <a:ext cx="3154680" cy="137160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084831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2B7A78"/>
                </a:solidFill>
                <a:latin typeface="Noto Sans CJK TC"/>
              </a:rPr>
              <a:t>Reduct → Clients → LEM2 → UNION → Support /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542032"/>
            <a:ext cx="3008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全部在 80% 內完成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81544" y="2523744"/>
            <a:ext cx="38404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1828800"/>
            <a:ext cx="1417320" cy="137160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84831"/>
            <a:ext cx="1271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C96A3D"/>
                </a:solidFill>
                <a:latin typeface="Noto Sans CJK TC"/>
              </a:rPr>
              <a:t>20% Holdout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42032"/>
            <a:ext cx="12710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最後才拿來 prediction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01784" y="2523744"/>
            <a:ext cx="29260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0" y="1828800"/>
            <a:ext cx="1554480" cy="13716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2084831"/>
            <a:ext cx="1408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4C8A61"/>
                </a:solidFill>
                <a:latin typeface="Noto Sans CJK TC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2542032"/>
            <a:ext cx="1408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Acc · Recall · F1 · BA ·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94760"/>
            <a:ext cx="5074920" cy="14630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3931920"/>
            <a:ext cx="50292" cy="11887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93192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20% 不可以做的事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306824"/>
            <a:ext cx="461772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× reduct selection
× local LEM2 induction
× UNION support construction
× voting weight fitting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94760"/>
            <a:ext cx="5074920" cy="14630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3368" y="3931920"/>
            <a:ext cx="50292" cy="11887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93192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20% 唯一做的事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306824"/>
            <a:ext cx="461772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✓ matching / prediction
✓ Accuracy / Recall / Macro-F1 / Balanced Accuracy
✓ Overall / Target / Target Candidate Coverage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所有 reported prediction metrics 都只看 final 20%；不存在 test leakage。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3. 同一個 frozen rule artifact 跑六種方法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前四個是既有 baseline；後兩個是本研究的 experimental variants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74920" cy="106984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463039"/>
            <a:ext cx="50292" cy="795527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463039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FIRST_MATCH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37943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順序：第一條 matching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074920" cy="106984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463039"/>
            <a:ext cx="50292" cy="795527"/>
          </a:xfrm>
          <a:prstGeom prst="rect">
            <a:avLst/>
          </a:prstGeom>
          <a:solidFill>
            <a:srgbClr val="A98025"/>
          </a:solidFill>
          <a:ln>
            <a:solidFill>
              <a:srgbClr val="A98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463039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37943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rule count：一條 rule 一票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79191"/>
            <a:ext cx="5074920" cy="106984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" y="2816351"/>
            <a:ext cx="50292" cy="795527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816351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191256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support occurrences：Σ|S(r)|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679191"/>
            <a:ext cx="5074920" cy="106984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2816351"/>
            <a:ext cx="50292" cy="795527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816351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191256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unique class coverage：|∪S(r)|/N_d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074920" cy="106984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" y="4169664"/>
            <a:ext cx="50292" cy="795527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169664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POPULATION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44568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unique population：U_d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032504"/>
            <a:ext cx="5074920" cy="106984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19088" y="4169664"/>
            <a:ext cx="50292" cy="795527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4169664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POPULATION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544568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(U_d/N_d) × (U_d/T_d)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B7780"/>
                </a:solidFill>
                <a:latin typeface="Noto Sans CJK TC"/>
              </a:rPr>
              <a:t>Established 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40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65252"/>
                </a:solidFill>
                <a:latin typeface="Noto Sans CJK TC"/>
              </a:rPr>
              <a:t>Project-defined variants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六種方法的比較必須在相同 20% test、相同 global rules、相同 conflict cases 上進行。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Hayes-Roth：六種方法的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FIRST/STD/GS/PS/PG 0.767 · C3: FIRST 0.833 · C4: FIRST 0.778 · C5: FIRST 0.833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0.808  ·  BA 0.833  ·  F1 0.833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0.769  ·  BA 0.778  ·  F1 0.791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0.808  ·  BA 0.833  ·  F1 0.829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0.656  ·  F1 0.679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0.611  ·  F1 0.617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0.567  ·  F1 0.595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0.522  ·  F1 0.503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0.744  ·  F1 0.756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0.622  ·  F1 0.646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0.578  ·  F1 0.583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0.678  ·  F1 0.694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0.622  ·  F1 0.646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0.567  ·  F1 0.592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0.700  ·  F1 0.699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0.633  ·  F1 0.625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Car Evaluation：六種方法的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GS/PG 0.717 · C3: PG 0.801 · C4: GS 0.683 · C5: PG 0.634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0.899  ·  BA 0.664  ·  F1 0.658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0.905  ·  BA 0.674  ·  F1 0.682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0.631  ·  F1 0.630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0.873  ·  BA 0.596  ·  F1 0.607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0.876  ·  BA 0.621  ·  F1 0.629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0.710  ·  F1 0.714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0.841  ·  BA 0.582  ·  F1 0.598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0.806  ·  BA 0.540  ·  F1 0.527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0.902  ·  BA 0.669  ·  F1 0.672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0.910  ·  BA 0.709  ·  F1 0.708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0.879  ·  BA 0.593  ·  F1 0.635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0.858  ·  BA 0.544  ·  F1 0.568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0.717  ·  F1 0.676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0.798  ·  F1 0.735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0.853  ·  BA 0.683  ·  F1 0.630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0.829  ·  BA 0.624  ·  F1 0.572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0.905  ·  BA 0.689  ·  F1 0.687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0.908  ·  BA 0.706  ·  F1 0.700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0.879  ·  BA 0.591  ·  F1 0.628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0.853  ·  BA 0.537  ·  F1 0.562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0.717  ·  F1 0.676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0.893  ·  BA 0.801  ·  F1 0.735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0.850  ·  BA 0.678  ·  F1 0.621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0.829  ·  BA 0.634  ·  F1 0.586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Balance Scale：六種方法的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PS 0.563 · C3: STD/PS 0.586 · C4: STD/PS 0.598 · C5: GS/PG 0.591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0.675  ·  BA 0.489  ·  F1 0.504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0.651  ·  BA 0.471  ·  F1 0.488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0.706  ·  BA 0.511  ·  F1 0.510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0.675  ·  BA 0.489  ·  F1 0.484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0.722  ·  BA 0.523  ·  F1 0.523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0.794  ·  BA 0.575  ·  F1 0.558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0.746  ·  BA 0.540  ·  F1 0.525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0.770  ·  BA 0.557  ·  F1 0.544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0.564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0.825  ·  BA 0.598  ·  F1 0.573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0.563  ·  F1 0.542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0.537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0.786  ·  BA 0.569  ·  F1 0.555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0.591  ·  F1 0.591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0.563  ·  F1 0.550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0.564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0.825  ·  BA 0.598  ·  F1 0.573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0.786  ·  BA 0.569  ·  F1 0.548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0.537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0.794  ·  BA 0.575  ·  F1 0.560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0.802  ·  BA 0.580  ·  F1 0.565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0.591  ·  F1 0.590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5. Coverage：要拆成三個問題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這是本次補 code 後最重要的新區分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37560" cy="19202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63039"/>
            <a:ext cx="50292" cy="164592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Overall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整個 20% test 中，有沒有任何 rule match？
|{x : M(x)≠∅}| / |U_test|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19202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4568" y="1463039"/>
            <a:ext cx="50292" cy="164592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Target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真實屬於 class d 的 test cases 中，有沒有任何 rule match？
不要求 matching rule 的 decision=d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337560" cy="19202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93607" y="1463039"/>
            <a:ext cx="50292" cy="164592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Target Candidate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真實屬於 class d 的 test cases 中，是否至少有一條 matching rule 真的提出 d？
這才偵測「true class 根本沒進 candidate set」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B65252"/>
                </a:solidFill>
                <a:latin typeface="Noto Sans CJK TC"/>
              </a:rPr>
              <a:t>Coverage ≠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005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Noto Sans CJK TC"/>
              </a:rPr>
              <a:t>Coverage 問「能不能進決策」；Recall 問「最後有沒有判對」。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617720"/>
            <a:ext cx="9966960" cy="7772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7" y="4754880"/>
            <a:ext cx="50292" cy="5029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4754880"/>
            <a:ext cx="9528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為什麼要多這一層？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129783"/>
            <a:ext cx="9509760" cy="173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Noto Sans CJK TC"/>
              </a:rPr>
              <a:t>真實 B 可能有 rule match，但 matching rules 只有 L / R。舊 Target Coverage 會算 covered；Target Candidate Coverage 才會判斷 B 沒有被產生。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Candidate Generation / Coverage failure 與 Candidate Ranking / Conflict error 必須分開。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6. 三個 UCI 的實際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三個數字都由同一 20% holdout 自動計算；六種 policy 的 coverage 相同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68112"/>
            <a:ext cx="10561320" cy="41148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5605272"/>
            <a:ext cx="50292" cy="13716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5605272"/>
            <a:ext cx="10122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>
                <a:solidFill>
                  <a:srgbClr val="1F2933"/>
                </a:solidFill>
                <a:latin typeface="Noto Sans CJK TC"/>
              </a:rPr>
              <a:t>最大差距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5980176"/>
            <a:ext cx="10104120" cy="-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Noto Sans CJK TC"/>
              </a:rPr>
              <a:t>Balance C=2：Target(any rule)=93.2%，但 Target(candidate)=57.5%；代表「有規則 match」不等於「真正 target class 有 candidate rule」。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5882A4"/>
                </a:solidFill>
                <a:latin typeface="Noto Sans CJK TC"/>
              </a:rPr>
              <a:t>Balance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1874519"/>
            <a:ext cx="475488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9576" y="1874519"/>
            <a:ext cx="804672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4248" y="1874519"/>
            <a:ext cx="896112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2536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Any rule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874519"/>
            <a:ext cx="914400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Candidate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9576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94.4%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93.2%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8648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57.5%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9576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84248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2536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98648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61.5%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79576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97864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84248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2536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98648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72.2%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79576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97864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02536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8648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67.1%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87952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52544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756C"/>
                </a:solidFill>
                <a:latin typeface="Noto Sans CJK TC"/>
              </a:rPr>
              <a:t>Car Evaluation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9392" y="1874519"/>
            <a:ext cx="475488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79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79" y="1874519"/>
            <a:ext cx="804672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73167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Overall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9551" y="1874519"/>
            <a:ext cx="896112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7839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Any rule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55663" y="1874519"/>
            <a:ext cx="914400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3951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Candidate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79392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79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79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73167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97.7%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59551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77839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92.9%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55663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73951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80.9%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9392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7679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54879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73167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98.3%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59551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77839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55663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73951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91.0%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79392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79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79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73167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99.4%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9551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77839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97.8%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55663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73951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95.0%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79392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97679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54879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73167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59551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77839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55663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73951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87.3%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0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63256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27848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937737"/>
                </a:solidFill>
                <a:latin typeface="Noto Sans CJK TC"/>
              </a:rPr>
              <a:t>Hayes-Roth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54696" y="1874519"/>
            <a:ext cx="475488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72983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30183" y="1874519"/>
            <a:ext cx="804672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48471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Overall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34856" y="1874519"/>
            <a:ext cx="896112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53144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Any rule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30968" y="1874519"/>
            <a:ext cx="914400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49256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Candidate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54696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72983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330183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48471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92.3%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34856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53144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93.3%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30968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9256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73.3%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854696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872983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330183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348471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34856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53144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030968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49256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93.3%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854696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872983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330183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348471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34856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153144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30968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049256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86.7%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54696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872983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330183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348471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34856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53144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030968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49256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93.3%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964424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Candidate Coverage：真正暴露 induction / coverage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特別是 Balance 的 B class，舊 coverage 幾乎看不出問題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Balance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Car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Hayes-Roth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321808"/>
            <a:ext cx="3154680" cy="438912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B65252"/>
                </a:solidFill>
                <a:latin typeface="Noto Sans CJK TC"/>
              </a:rPr>
              <a:t>Balance B：C2=0%、C3=0%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5321808"/>
            <a:ext cx="3154680" cy="438912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C96A3D"/>
                </a:solidFill>
                <a:latin typeface="Noto Sans CJK TC"/>
              </a:rPr>
              <a:t>Car good：C2 只有 57.1%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5321808"/>
            <a:ext cx="3154680" cy="438912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4A78A8"/>
                </a:solidFill>
                <a:latin typeface="Noto Sans CJK TC"/>
              </a:rPr>
              <a:t>Hayes C2：class1/2 都只有 60%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1783080"/>
            <a:ext cx="3255264" cy="71323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0.0% · L 84.5% · R 87.9%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0.0% · L 94.8% · R 89.7%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355848"/>
            <a:ext cx="3255264" cy="71323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20.0% · L 98.3% · R 98.3%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10.0% · L 94.8% · R 96.6%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44568" y="1783080"/>
            <a:ext cx="3255264" cy="713232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81.8% · good 57.1%
unacc 100.0% · vgood 84.6%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44568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42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93.5% · good 78.6%
unacc 99.6% · vgood 92.3%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44568" y="3355848"/>
            <a:ext cx="3255264" cy="713232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80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94.8% · good 92.9%
unacc 100.0% · vgood 92.3%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44568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542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80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93.5% · good 71.4%
unacc 99.6% · vgood 84.6%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30767" y="1783080"/>
            <a:ext cx="3255264" cy="71323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342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60.0% · 2 60.0% · 3 100.0%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30767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04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90.0% · 2 90.0% · 3 100.0%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30767" y="3355848"/>
            <a:ext cx="3255264" cy="71323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342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80.0% · 2 80.0% · 3 100.0%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30767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04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42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1 100.0% · 2 80.0% · 3 100.0%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7. Standard：老師的「3+3」問題，現在完整算到 winner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核心不是把多的 u 當負分，而是避免同一 population 被 rule occurrences 重複放大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017520" cy="21488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17319"/>
            <a:ext cx="50292" cy="187452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17319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 的兩條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792224"/>
            <a:ext cx="256032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Noto Sans CJK TC"/>
              </a:rPr>
              <a:t>r1→A : {u1,u2,u3}
r2→A : {u2,u3,u4}
T_A = 3+3 = 6
U_A = 4
P_A = 4/6 = 2/3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280160"/>
            <a:ext cx="3017520" cy="21488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78808" y="1417319"/>
            <a:ext cx="50292" cy="187452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417319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若 B 的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792224"/>
            <a:ext cx="256032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Noto Sans CJK TC"/>
              </a:rPr>
              <a:t>假設 T_B = 5
而且五個 support 都不同
U_B = 5
P_B 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280160"/>
            <a:ext cx="3886200" cy="21488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62088" y="1417319"/>
            <a:ext cx="50292" cy="18745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1417319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改前 vs 改後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792224"/>
            <a:ext cx="342900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STANDARD：A=6 &gt; B=5 → A
POPULATION STANDARD：
A=U_A=4 &lt; B=U_B=5 →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7763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A78A8"/>
                </a:solidFill>
                <a:latin typeface="Noto Sans CJK TC"/>
              </a:rPr>
              <a:t>Standard 看 T_d（occurrences）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96849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6B7780"/>
                </a:solidFill>
                <a:latin typeface="Noto Sans CJK T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9776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B7A78"/>
                </a:solidFill>
                <a:latin typeface="Noto Sans CJK TC"/>
              </a:rPr>
              <a:t>Population Standard 看 U_d（unique objects）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新的 score 不會把「多出來的 unique u」扣分；它只是把重複出現的同一 u 從多次計價改成一次。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Standard 真實回查：同一機制可以 Correct，也可以 Harm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用 20% holdout 的真實 conflict case，不再只看 toy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74920" cy="33375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08760"/>
            <a:ext cx="50292" cy="306324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Corrected case · Car Target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83664"/>
            <a:ext cx="4617720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True = vgood
STD winner = good   →   PS winner = vgood
old: T=9, U=7, P=0.778
new: T=9, U=9, P=1.000
CORRECTED · A(x)=0.222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74920" cy="33375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508760"/>
            <a:ext cx="50292" cy="306324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Harmed case · Car Target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83664"/>
            <a:ext cx="4617720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True = acc
STD winner = acc   →   PS winner = unacc
old: T=38, U=25, P=0.658
new: T=27, U=27, P=1.000
HARMED · A(x)=-0.342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83480"/>
            <a:ext cx="10287000" cy="50292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5120640"/>
            <a:ext cx="50292" cy="22860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5120640"/>
            <a:ext cx="9848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 CJK TC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495544"/>
            <a:ext cx="9829800" cy="-100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F2933"/>
                </a:solidFill>
                <a:latin typeface="Noto Sans CJK TC"/>
              </a:rPr>
              <a:t>同樣是去重：如果錯誤 competitor 的 redundancy 高，可能救回 true class；如果 true class 的 evidence 本身高度重疊，就可能 over-correct。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Redundancy ≠ Noise。去重本身是明確行為，但「重複 evidence 是否該被懲罰」取決於它出現在誰身上。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8. Global：原 GlobalStrength 再乘 Population Nonredundancy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不是把 numerator / denominator 真正倒過來；而是加一個 P_d=U_d/T_d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37560" cy="21488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39"/>
            <a:ext cx="50292" cy="18745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原 GlobalStrength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GS_d = U_d / N_d
U_d：unique support objects
N_d：training decision class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21488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4568" y="1463039"/>
            <a:ext cx="50292" cy="187452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Population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P_d = U_d / T_d
T_d：support occurrences
P_d 越低 → evidence overlap 越高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37560" cy="21488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1463039"/>
            <a:ext cx="50292" cy="18745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Population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Noto Sans CJK TC"/>
              </a:rPr>
              <a:t>PG_d = GS_d × P_d
= U_d² / (N_d T_d)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C8A61"/>
                </a:solidFill>
                <a:latin typeface="Noto Sans CJK TC"/>
              </a:rPr>
              <a:t>原本回答：「unique population 佔 class 多大？」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05079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6B7780"/>
                </a:solidFill>
                <a:latin typeface="Noto Sans CJK TC"/>
              </a:rPr>
              <a:t>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96A3D"/>
                </a:solidFill>
                <a:latin typeface="Noto Sans CJK TC"/>
              </a:rPr>
              <a:t>新增回答：「這些 evidence 有多少不是重複計價？」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Population Global 是 experimental correction；GlobalStrength 本身仍保留為 baseline，不被覆蓋。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Global 真實回查：winner 怎麼被 P_d 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Car 的 corrected / harmed case 直接算出 old → new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74920" cy="34290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08760"/>
            <a:ext cx="50292" cy="315468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Corrected · Car Target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83664"/>
            <a:ext cx="4617720" cy="282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>
                <a:solidFill>
                  <a:srgbClr val="1F2933"/>
                </a:solidFill>
                <a:latin typeface="Noto Sans CJK TC"/>
              </a:rPr>
              <a:t>True = good
GS winner = acc   →   PG winner = good
old winner: T=50, U=35, P=0.700
new winner: T=5, U=5, P=1.000
winner redundancy drop = 0.300
CORRECTED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74920" cy="34290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508760"/>
            <a:ext cx="50292" cy="315468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Harmed · Car Target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83664"/>
            <a:ext cx="4617720" cy="282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>
                <a:solidFill>
                  <a:srgbClr val="1F2933"/>
                </a:solidFill>
                <a:latin typeface="Noto Sans CJK TC"/>
              </a:rPr>
              <a:t>True = acc
GS winner = acc   →   PG winner = unacc
old winner: T=67, U=39, P=0.582
new winner: T=106, U=106, P=1.000
winner redundancy drop = 0.418
HARMED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74920"/>
            <a:ext cx="10287000" cy="438912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5212080"/>
            <a:ext cx="50292" cy="164592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5212080"/>
            <a:ext cx="9848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2933"/>
                </a:solidFill>
                <a:latin typeface="Noto Sans CJK TC"/>
              </a:rPr>
              <a:t>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586983"/>
            <a:ext cx="9829800" cy="-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 CJK TC"/>
              </a:rPr>
              <a:t>所有 winner change 都往 redundancy 較低的 decision 移動；但較低 redundancy 不等於一定是真實類別。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PG 的行為符合設計；真正的研究問題是何時這個 penalty 對「錯的人」施加、何時對「對的人」施加。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1–5 到底是什麼？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 5 個 factors；是每個 dataset 從 20% holdout 挑 5 筆「測試資料」做 X-ray 回查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10789920" cy="9144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78A8"/>
                </a:solidFill>
                <a:latin typeface="Noto Sans CJK TC"/>
              </a:rPr>
              <a:t>一個 Target = 一筆完整 test row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5544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它帶著所有 factor values + true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578608"/>
            <a:ext cx="1901952" cy="12344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C8A61"/>
                </a:solidFill>
                <a:latin typeface="Noto Sans CJK TC"/>
              </a:rPr>
              <a:t>Target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代表 corrected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5" y="2578608"/>
            <a:ext cx="1901952" cy="12344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B7A78"/>
                </a:solidFill>
                <a:latin typeface="Noto Sans CJK TC"/>
              </a:rPr>
              <a:t>Target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另一種 corrected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578608"/>
            <a:ext cx="1901952" cy="12344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B65252"/>
                </a:solidFill>
                <a:latin typeface="Noto Sans CJK TC"/>
              </a:rPr>
              <a:t>Target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代表 harmed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2578608"/>
            <a:ext cx="1901952" cy="1234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96A3D"/>
                </a:solidFill>
                <a:latin typeface="Noto Sans CJK TC"/>
              </a:rPr>
              <a:t>Target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另一種 harmed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7" y="2578608"/>
            <a:ext cx="1901952" cy="1234440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98025"/>
                </a:solidFill>
                <a:latin typeface="Noto Sans CJK TC"/>
              </a:rPr>
              <a:t>Target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5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缺席 / unchanged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178808"/>
            <a:ext cx="5010912" cy="114300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" y="4315968"/>
            <a:ext cx="50292" cy="86868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4315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為什麼只挑 5 筆？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690872"/>
            <a:ext cx="455371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F2933"/>
                </a:solidFill>
                <a:latin typeface="Noto Sans CJK TC"/>
              </a:rPr>
              <a:t>先用少量代表 case 把「為什麼翻轉」講清楚；它不是顯著性 sample。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178808"/>
            <a:ext cx="5010912" cy="114300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45936" y="4315968"/>
            <a:ext cx="50292" cy="86868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4315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後面怎麼擴大？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4690872"/>
            <a:ext cx="455371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F2933"/>
                </a:solidFill>
                <a:latin typeface="Noto Sans CJK TC"/>
              </a:rPr>
              <a:t>同一套回查流程再掃所有 conflict cases，才得到 908、45、43 這些全體統計。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Target 1–5 是五筆 test objects 的解剖案例，不是五個變數，也不是五種模型。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一筆 Target 怎麼看？像做一張 prediction X-ray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先看資料長什麼樣，再看它撞到哪些 rules，最後才看各 policy 怎麼選 winner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719072"/>
            <a:ext cx="1938528" cy="148132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3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A78A8"/>
                </a:solidFill>
                <a:latin typeface="Noto Sans CJK TC"/>
              </a:rPr>
              <a:t>① 輸入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factors
+ true class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5728" y="2468880"/>
            <a:ext cx="310896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70632" y="1719072"/>
            <a:ext cx="1938528" cy="148132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3784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B7A78"/>
                </a:solidFill>
                <a:latin typeface="Noto Sans CJK TC"/>
              </a:rPr>
              <a:t>② Matching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x 滿足哪些
global rules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27448" y="2468880"/>
            <a:ext cx="310896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02352" y="1719072"/>
            <a:ext cx="1938528" cy="148132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4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98025"/>
                </a:solidFill>
                <a:latin typeface="Noto Sans CJK TC"/>
              </a:rPr>
              <a:t>③ 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這些 rules 提出
哪些 decisions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9168" y="2468880"/>
            <a:ext cx="310896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4071" y="1719072"/>
            <a:ext cx="1938528" cy="148132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3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96A3D"/>
                </a:solidFill>
                <a:latin typeface="Noto Sans CJK TC"/>
              </a:rPr>
              <a:t>④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799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每個 decision 的
T / U / P / 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90888" y="2468880"/>
            <a:ext cx="310896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65792" y="1719072"/>
            <a:ext cx="1938528" cy="148132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C8A61"/>
                </a:solidFill>
                <a:latin typeface="Noto Sans CJK TC"/>
              </a:rPr>
              <a:t>⑤ Winner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STD / PS / GS / PG
最後選誰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611880"/>
            <a:ext cx="329184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12464"/>
            <a:ext cx="30723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F2933"/>
                </a:solidFill>
                <a:latin typeface="Cambria Math"/>
              </a:rPr>
              <a:t>M(x)={r : x⊨Ante(r)}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3984" y="3611880"/>
            <a:ext cx="329184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712464"/>
            <a:ext cx="30723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Cambria Math"/>
              </a:rPr>
              <a:t>Candidate(x)={d_r : r∈M(x)}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3611880"/>
            <a:ext cx="329184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3" y="3712464"/>
            <a:ext cx="30723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Cambria Math"/>
              </a:rPr>
              <a:t>T_d, U_d, P_d=U_d/T_d, R_d=1-P_d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498848"/>
            <a:ext cx="9829800" cy="93268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636008"/>
            <a:ext cx="50292" cy="65836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1328" y="4636008"/>
            <a:ext cx="9390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先問這題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010912"/>
            <a:ext cx="9372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F2933"/>
                </a:solidFill>
                <a:latin typeface="Noto Sans CJK TC"/>
              </a:rPr>
              <a:t>True class 有沒有進 Candidate(x)？YES → 才是 ranking / conflict-resolution；NO → 任何 voting 都救不了。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回查不是只看 prediction；是把「rule → candidate → evidence → score → winner」每一層打開。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Balance Target 1：Standard 為什麼錯，去重後為什麼會修正？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同一 training object 被多條 L-rules 重複計價，讓 L 的 T 值被放大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88720"/>
            <a:ext cx="2395728" cy="1874519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1325880"/>
            <a:ext cx="50292" cy="1600199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32588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Target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700784"/>
            <a:ext cx="1938528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F2933"/>
                </a:solidFill>
                <a:latin typeface="Noto Sans CJK TC"/>
              </a:rPr>
              <a:t>rd=5 · rw=1
ld=3 · lw=1
True =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1188720"/>
            <a:ext cx="3246120" cy="1874519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50292" cy="1600199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Matching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00784"/>
            <a:ext cx="278892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Noto Sans CJK TC"/>
              </a:rPr>
              <a:t>r1 → R : support 18
r2 → L : support 3
r3 → L : support 16
Candidate={L,R}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188720"/>
            <a:ext cx="4892040" cy="1874519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37160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65252"/>
                </a:solidFill>
                <a:latin typeface="Noto Sans CJK TC"/>
              </a:rPr>
              <a:t>L：19 次「被計分」≠ 19 個不同 objects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379208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7808975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5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238744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8668512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9098280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9528048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8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7</a:t>
            </a:r>
          </a:p>
        </p:txBody>
      </p:sp>
      <p:sp>
        <p:nvSpPr>
          <p:cNvPr id="28" name="Oval 27"/>
          <p:cNvSpPr/>
          <p:nvPr/>
        </p:nvSpPr>
        <p:spPr>
          <a:xfrm>
            <a:off x="9957816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57816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8</a:t>
            </a:r>
          </a:p>
        </p:txBody>
      </p:sp>
      <p:sp>
        <p:nvSpPr>
          <p:cNvPr id="30" name="Oval 29"/>
          <p:cNvSpPr/>
          <p:nvPr/>
        </p:nvSpPr>
        <p:spPr>
          <a:xfrm>
            <a:off x="6949440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9</a:t>
            </a:r>
          </a:p>
        </p:txBody>
      </p:sp>
      <p:sp>
        <p:nvSpPr>
          <p:cNvPr id="32" name="Oval 31"/>
          <p:cNvSpPr/>
          <p:nvPr/>
        </p:nvSpPr>
        <p:spPr>
          <a:xfrm>
            <a:off x="7379208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8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10</a:t>
            </a:r>
          </a:p>
        </p:txBody>
      </p:sp>
      <p:sp>
        <p:nvSpPr>
          <p:cNvPr id="34" name="Oval 33"/>
          <p:cNvSpPr/>
          <p:nvPr/>
        </p:nvSpPr>
        <p:spPr>
          <a:xfrm>
            <a:off x="7808975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11</a:t>
            </a:r>
          </a:p>
        </p:txBody>
      </p:sp>
      <p:sp>
        <p:nvSpPr>
          <p:cNvPr id="36" name="Oval 35"/>
          <p:cNvSpPr/>
          <p:nvPr/>
        </p:nvSpPr>
        <p:spPr>
          <a:xfrm>
            <a:off x="8238744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8744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12</a:t>
            </a:r>
          </a:p>
        </p:txBody>
      </p:sp>
      <p:sp>
        <p:nvSpPr>
          <p:cNvPr id="38" name="Oval 37"/>
          <p:cNvSpPr/>
          <p:nvPr/>
        </p:nvSpPr>
        <p:spPr>
          <a:xfrm>
            <a:off x="8668512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2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13</a:t>
            </a:r>
          </a:p>
        </p:txBody>
      </p:sp>
      <p:sp>
        <p:nvSpPr>
          <p:cNvPr id="40" name="Oval 39"/>
          <p:cNvSpPr/>
          <p:nvPr/>
        </p:nvSpPr>
        <p:spPr>
          <a:xfrm>
            <a:off x="9098280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14</a:t>
            </a:r>
          </a:p>
        </p:txBody>
      </p:sp>
      <p:sp>
        <p:nvSpPr>
          <p:cNvPr id="42" name="Oval 41"/>
          <p:cNvSpPr/>
          <p:nvPr/>
        </p:nvSpPr>
        <p:spPr>
          <a:xfrm>
            <a:off x="9528048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8048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15</a:t>
            </a:r>
          </a:p>
        </p:txBody>
      </p:sp>
      <p:sp>
        <p:nvSpPr>
          <p:cNvPr id="44" name="Oval 43"/>
          <p:cNvSpPr/>
          <p:nvPr/>
        </p:nvSpPr>
        <p:spPr>
          <a:xfrm>
            <a:off x="9957816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57816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16</a:t>
            </a:r>
          </a:p>
        </p:txBody>
      </p:sp>
      <p:sp>
        <p:nvSpPr>
          <p:cNvPr id="46" name="Oval 45"/>
          <p:cNvSpPr/>
          <p:nvPr/>
        </p:nvSpPr>
        <p:spPr>
          <a:xfrm>
            <a:off x="10533888" y="2002536"/>
            <a:ext cx="219456" cy="219456"/>
          </a:xfrm>
          <a:prstGeom prst="ellipse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33888" y="2057400"/>
            <a:ext cx="219456" cy="833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65252"/>
                </a:solidFill>
                <a:latin typeface="Noto Sans CJK TC"/>
              </a:rPr>
              <a:t>↺</a:t>
            </a:r>
          </a:p>
        </p:txBody>
      </p:sp>
      <p:sp>
        <p:nvSpPr>
          <p:cNvPr id="48" name="Oval 47"/>
          <p:cNvSpPr/>
          <p:nvPr/>
        </p:nvSpPr>
        <p:spPr>
          <a:xfrm>
            <a:off x="10817352" y="2002536"/>
            <a:ext cx="219456" cy="219456"/>
          </a:xfrm>
          <a:prstGeom prst="ellipse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17352" y="2057400"/>
            <a:ext cx="219456" cy="833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65252"/>
                </a:solidFill>
                <a:latin typeface="Noto Sans CJK TC"/>
              </a:rPr>
              <a:t>↺</a:t>
            </a:r>
          </a:p>
        </p:txBody>
      </p:sp>
      <p:sp>
        <p:nvSpPr>
          <p:cNvPr id="50" name="Oval 49"/>
          <p:cNvSpPr/>
          <p:nvPr/>
        </p:nvSpPr>
        <p:spPr>
          <a:xfrm>
            <a:off x="11100815" y="2002536"/>
            <a:ext cx="219456" cy="219456"/>
          </a:xfrm>
          <a:prstGeom prst="ellipse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00815" y="2057400"/>
            <a:ext cx="219456" cy="833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65252"/>
                </a:solidFill>
                <a:latin typeface="Noto Sans CJK TC"/>
              </a:rPr>
              <a:t>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4304" y="2670048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3"/>
                </a:solidFill>
                <a:latin typeface="Noto Sans CJK TC"/>
              </a:rPr>
              <a:t>16 unique objects + 3 duplicate occurrences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9808" y="3401568"/>
            <a:ext cx="3383280" cy="585216"/>
          </a:xfrm>
          <a:prstGeom prst="roundRect">
            <a:avLst/>
          </a:prstGeom>
          <a:solidFill>
            <a:srgbClr val="FBEAEA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35021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B65252"/>
                </a:solidFill>
                <a:latin typeface="Cambria Math"/>
              </a:rPr>
              <a:t>L: T_L=19, U_L=16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07408" y="3401568"/>
            <a:ext cx="3383280" cy="585216"/>
          </a:xfrm>
          <a:prstGeom prst="roundRect">
            <a:avLst/>
          </a:prstGeom>
          <a:solidFill>
            <a:srgbClr val="E8F3E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17136" y="35021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C8A61"/>
                </a:solidFill>
                <a:latin typeface="Cambria Math"/>
              </a:rPr>
              <a:t>R: T_R=18, U_R=18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5008" y="3401568"/>
            <a:ext cx="3383280" cy="585216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74736" y="35021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Cambria Math"/>
              </a:rPr>
              <a:t>P_L=16/19=.842 ; P_R=1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" y="4279392"/>
            <a:ext cx="5074920" cy="93268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" y="4416552"/>
            <a:ext cx="50292" cy="65836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0" y="4416552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Standard 比 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479145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19 &gt; 18 → L 勝 → True=R → WRONG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91072" y="4279392"/>
            <a:ext cx="5074920" cy="93268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0" y="4416552"/>
            <a:ext cx="50292" cy="65836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4416552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Population Standard 比 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479145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16 &lt; 18 → R 勝 → CORRECTED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PS 不是給 L 負分；只是把同一 training object 的重複 contribution 合併成一次。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接下來 Target 1–5 三頁怎麼讀？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每一列只回答三件事：真實答案、Population 有沒有改 winner、true class 有沒有被 rule system 提出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3429000" cy="312724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35607"/>
            <a:ext cx="50292" cy="285292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35607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 · True +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2971800" cy="2523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True = 這筆 holdout 的真實 decision。
Factors = 這筆資料本身的條件值。
C = 當下把 80% training split 成幾個 clients。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98448"/>
            <a:ext cx="3429000" cy="312724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1435607"/>
            <a:ext cx="50292" cy="2852928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435607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B · STD→PS / GS→PG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10512"/>
            <a:ext cx="2971800" cy="2523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F2933"/>
                </a:solidFill>
                <a:latin typeface="Noto Sans CJK TC"/>
              </a:rPr>
              <a:t>Corrected：wrong → true
Harmed：true → wrong
Changed / same：winner 變了，但 correctness 沒變
Unchanged：winner 沒變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298448"/>
            <a:ext cx="3429000" cy="312724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6" y="1435607"/>
            <a:ext cx="50292" cy="285292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435607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C · True cand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810512"/>
            <a:ext cx="2971800" cy="2523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F2933"/>
                </a:solidFill>
                <a:latin typeface="Noto Sans CJK TC"/>
              </a:rPr>
              <a:t>YES：true class 至少有一條 matching rule，可以靠 scoring 去競爭。
NO：true class 根本沒進 Candidate(x)，任何 voting policy 都不可能救。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700016"/>
            <a:ext cx="9784080" cy="65836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882896"/>
            <a:ext cx="9372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A98025"/>
                </a:solidFill>
                <a:latin typeface="Noto Sans CJK TC"/>
              </a:rPr>
              <a:t>閱讀順序：True cand → old/new winner → 再回頭看 T/U/P/R；不要只看「Corrected / Harmed」標籤。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Target cards 是 case-level mechanism evidence；不是在說某一個 Target 比另一個 Target「比較好」。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15 個 Target 的角色：不是做統計，而是把四種情況「看懂」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3 datasets × 5 cases，刻意涵蓋 corrected、harmed、unchanged、true-class missing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600200"/>
            <a:ext cx="1965960" cy="16002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C8A61"/>
                </a:solidFill>
                <a:latin typeface="Noto Sans CJK TC"/>
              </a:rPr>
              <a:t>Corrected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baseline 錯 → population 修正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8064" y="1600200"/>
            <a:ext cx="1965960" cy="16002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65252"/>
                </a:solidFill>
                <a:latin typeface="Noto Sans CJK TC"/>
              </a:rPr>
              <a:t>Harmed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baseline 對 → population 修壞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600200"/>
            <a:ext cx="1965960" cy="1600200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A98025"/>
                </a:solidFill>
                <a:latin typeface="Noto Sans CJK TC"/>
              </a:rPr>
              <a:t>Changed / same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winner 變，但 correctness 不變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1600200"/>
            <a:ext cx="1965960" cy="16002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A78A8"/>
                </a:solidFill>
                <a:latin typeface="Noto Sans CJK TC"/>
              </a:rPr>
              <a:t>Unchanged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5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penalty 有算，但不足以翻轉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600200"/>
            <a:ext cx="1965960" cy="160020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4352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C96A3D"/>
                </a:solidFill>
                <a:latin typeface="Noto Sans CJK TC"/>
              </a:rPr>
              <a:t>True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true class 根本沒進 Candidate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794760"/>
            <a:ext cx="4389120" cy="603504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895344"/>
            <a:ext cx="416966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F2933"/>
                </a:solidFill>
                <a:latin typeface="Cambria Math"/>
              </a:rPr>
              <a:t>15 selected cases  →  理解機制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94760"/>
            <a:ext cx="4572000" cy="603504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895344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F2933"/>
                </a:solidFill>
                <a:latin typeface="Cambria Math"/>
              </a:rPr>
              <a:t>全部 conflict cases  →  統計機制出現多少次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681728"/>
            <a:ext cx="9893808" cy="74980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52728" y="4818888"/>
            <a:ext cx="50292" cy="475488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35608" y="4818888"/>
            <a:ext cx="9454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下一步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8" y="5193792"/>
            <a:ext cx="9436608" cy="146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所以先看 21–23 頁三個 dataset 的 5 個 target；看懂後，再把同一套判讀規則套到所有 conflict occurrences。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15 cases 是「顯微鏡」；908 conflict scan 才是「把整張樣本掃完」。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回查案例 — Balance Scale · 1–5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events=2 · harmed events=2 · true-candidate missing=1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right_distance=5.0 · right_weight=1.0 · left_distance=3.0 ·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right_distance=3.0 · right_weight=1.0 · left_distance=5.0 ·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right_distance=3.0 · right_weight=1.0 · left_distance=4.0 ·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right_distance=5.0 · right_weight=1.0 · left_distance=4.0 · 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right_distance=4.0 · right_weight=1.0 · left_distance=4.0 · 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F8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937737"/>
                </a:solidFill>
                <a:latin typeface="Noto Sans CJK TC"/>
              </a:rPr>
              <a:t>Changed / same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FAEBE9"/>
          </a:solidFill>
          <a:ln w="10160"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F675E"/>
                </a:solidFill>
                <a:latin typeface="Noto Sans CJK TC"/>
              </a:rPr>
              <a:t>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回查案例 — Car Evaluation · 1–5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events=2 · harmed events=2 · true-candidate missing=1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vgood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buying=low · maint=low · doors=2.0 · persons=4 · lug_boot=big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good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maint=low · doors=3.0 · persons=4 · lug_boot=big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acc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maint=vhigh · doors=4.0 · persons=more · lug_boo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acc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buying=high · maint=low · doors=4.0 · persons=4 · lug_boot=sm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good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maint=low · doors=4.0 · persons=4 · lug_boot=sma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F8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937737"/>
                </a:solidFill>
                <a:latin typeface="Noto Sans CJK TC"/>
              </a:rPr>
              <a:t>Changed / same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FAEBE9"/>
          </a:solidFill>
          <a:ln w="10160"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F675E"/>
                </a:solidFill>
                <a:latin typeface="Noto Sans CJK TC"/>
              </a:rPr>
              <a:t>NO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回查案例 — Hayes-Roth · 1–5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events=1 · harmed events=2 · true-candidate missing=0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hobby=2.0 · age=3.0 · educational_level=4.0 · marital_status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hobby=3.0 · age=1.0 · educational_level=1.0 · marital_status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hobby=2.0 · age=1.0 · educational_level=1.0 · marital_status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hobby=3.0 · age=1.0 · educational_level=2.0 · marital_status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hobby=1.0 · age=1.0 · educational_level=3.0 · marital_status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先回答：908 跟「六種方法」完全不是同一件事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Conflict 在 prediction policy 之前就決定；六種方法只是同一個 conflict 發生後，用不同分數選 winner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61872"/>
            <a:ext cx="5440680" cy="333756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399031"/>
            <a:ext cx="50292" cy="306324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99031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先建立 rule system · 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73936"/>
            <a:ext cx="4983480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Dataset + C
→ 80% 分 clients
→ Local LEM2
→ UNION global rules
→ test x 找 M(x)
→ Candidate(x)
→ |Candidate(x)|&gt;1 ? = Conflict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261872"/>
            <a:ext cx="5138928" cy="33375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527048"/>
            <a:ext cx="4700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Noto Sans CJK TC"/>
              </a:rPr>
              <a:t>Conflict 已經存在後，才跑 6 種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56832" y="2103120"/>
            <a:ext cx="1225296" cy="56692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276856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C96A3D"/>
                </a:solidFill>
                <a:latin typeface="Noto Sans CJK TC"/>
              </a:rPr>
              <a:t>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103120"/>
            <a:ext cx="1225296" cy="56692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2276856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A98025"/>
                </a:solidFill>
                <a:latin typeface="Noto Sans CJK TC"/>
              </a:rPr>
              <a:t>SIMPLE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2912" y="2103120"/>
            <a:ext cx="1225296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276856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4A78A8"/>
                </a:solidFill>
                <a:latin typeface="Noto Sans CJK TC"/>
              </a:rPr>
              <a:t>STD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6832" y="2907791"/>
            <a:ext cx="1225296" cy="56692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3081528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4C8A61"/>
                </a:solidFill>
                <a:latin typeface="Noto Sans CJK TC"/>
              </a:rPr>
              <a:t>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907791"/>
            <a:ext cx="1225296" cy="56692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3081528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B7A78"/>
                </a:solidFill>
                <a:latin typeface="Noto Sans CJK TC"/>
              </a:rPr>
              <a:t>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2912" y="2907791"/>
            <a:ext cx="1225296" cy="56692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3081528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B65252"/>
                </a:solidFill>
                <a:latin typeface="Noto Sans CJK TC"/>
              </a:rPr>
              <a:t>PG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4846320"/>
            <a:ext cx="4160520" cy="566928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7048" y="4946904"/>
            <a:ext cx="39410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F2933"/>
                </a:solidFill>
                <a:latin typeface="Cambria Math"/>
              </a:rPr>
              <a:t>Conflict(x) ⇔ |Candidate(x)| &gt;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846320"/>
            <a:ext cx="3840480" cy="566928"/>
          </a:xfrm>
          <a:prstGeom prst="roundRect">
            <a:avLst/>
          </a:prstGeom>
          <a:solidFill>
            <a:srgbClr val="FBEAEA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4946904"/>
            <a:ext cx="36210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B65252"/>
                </a:solidFill>
                <a:latin typeface="Cambria Math"/>
              </a:rPr>
              <a:t>這個公式沒有 policy 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六種方法不會把 conflict 從 1 變成 6；它們共用同一個 conflict set。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908 怎麼來？為什麼看起來這麼大？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它是 12 個 structural configurations 的累積；同一 holdout row 在不同 C 下可以被重複計為 conflict occurrence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C=2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5072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5072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C=3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6984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6984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C=4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8896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C=5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0808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小計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38528"/>
            <a:ext cx="1417320" cy="65836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4884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4A78A8"/>
                </a:solidFill>
                <a:latin typeface="Noto Sans CJK TC"/>
              </a:rPr>
              <a:t>Balance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47
37.3%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05072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62
49.2%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6984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6984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74
58.7%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68896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83
65.9%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0808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8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266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07208"/>
            <a:ext cx="1417320" cy="65836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01752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4C8A61"/>
                </a:solidFill>
                <a:latin typeface="Noto Sans CJK TC"/>
              </a:rPr>
              <a:t>Car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85
24.6%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05072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5072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134
38.7%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6984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86984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169
48.8%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68896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210
60.7%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50808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0808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598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675887"/>
            <a:ext cx="1417320" cy="65836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C96A3D"/>
                </a:solidFill>
                <a:latin typeface="Noto Sans CJK TC"/>
              </a:rPr>
              <a:t>Hayes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23160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3160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3
11.5%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05072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05072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14
53.8%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86984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86984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10
38.5%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68896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17
65.4%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50808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50808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44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8" y="4617720"/>
            <a:ext cx="4919472" cy="566928"/>
          </a:xfrm>
          <a:prstGeom prst="roundRect">
            <a:avLst/>
          </a:prstGeom>
          <a:solidFill>
            <a:srgbClr val="F6F0D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" y="4718304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A98025"/>
                </a:solidFill>
                <a:latin typeface="Cambria Math"/>
              </a:rPr>
              <a:t>266 + 598 + 44 = 908 conflict occurrences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4462272"/>
            <a:ext cx="5166360" cy="93268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54496" y="4599432"/>
            <a:ext cx="50292" cy="65836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37376" y="4599432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為什麼不是 908 個 unique rows？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7376" y="4974336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1F2933"/>
                </a:solidFill>
                <a:latin typeface="Noto Sans CJK TC"/>
              </a:rPr>
              <a:t>每個 dataset 的同一 20% holdout 會在 C=2,3,4,5 各跑一次；同一 row 可在多個 C 都 conflict。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0120" y="5385816"/>
            <a:ext cx="10332720" cy="310896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5458968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總共 configuration-level test evaluations = 126×4 + 346×4 + 26×4 = 1,992；其中 908 次 conflict ≈ 45.6%。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908 是 3 datasets × 4 個 C 的累積 workload；不是 ×6 policies。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為什麼 C 從 2 增加到 5，Conflict 通常會上升？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目前資料最一致的結構鏈：client fragmentation → rules 更一般 → matching overlap 增加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600200"/>
            <a:ext cx="160020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A78A8"/>
                </a:solidFill>
                <a:latin typeface="Noto Sans CJK TC"/>
              </a:rPr>
              <a:t>C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client 數增加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0253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04288" y="1600200"/>
            <a:ext cx="1600200" cy="141732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B7A78"/>
                </a:solidFill>
                <a:latin typeface="Noto Sans CJK TC"/>
              </a:rPr>
              <a:t>|U_c|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每 client
資料變少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2277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24528" y="1600200"/>
            <a:ext cx="1600200" cy="141732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96A3D"/>
                </a:solidFill>
                <a:latin typeface="Noto Sans CJK TC"/>
              </a:rPr>
              <a:t>Rule shorter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local rule
較短/較一般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4301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44768" y="1600200"/>
            <a:ext cx="1600200" cy="1417320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98025"/>
                </a:solidFill>
                <a:latin typeface="Noto Sans CJK TC"/>
              </a:rPr>
              <a:t>Matches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每筆 x
match 更多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6325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65008" y="1600200"/>
            <a:ext cx="1600200" cy="141732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B65252"/>
                </a:solidFill>
                <a:latin typeface="Noto Sans CJK TC"/>
              </a:rPr>
              <a:t>Decision overlap 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更多不同
decisions 同時出現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8349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85248" y="1600200"/>
            <a:ext cx="1600200" cy="141732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C8A61"/>
                </a:solidFill>
                <a:latin typeface="Noto Sans CJK TC"/>
              </a:rPr>
              <a:t>Conflict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|Candidate|&gt;1
更常發生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447288"/>
            <a:ext cx="5212080" cy="1572768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" y="3584448"/>
            <a:ext cx="50292" cy="129844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584448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1">
                <a:solidFill>
                  <a:srgbClr val="1F2933"/>
                </a:solidFill>
                <a:latin typeface="Noto Sans CJK TC"/>
              </a:rPr>
              <a:t>直覺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3959352"/>
            <a:ext cx="475488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同樣 80% training，切成更多 clients 後，每個 client 只看較少 rows。Local LEM2 更容易學到「少幾個條件也成立」的較寬 rules；UNION 後這些 rules 更容易互相重疊。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3447288"/>
            <a:ext cx="5212080" cy="157276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45936" y="3584448"/>
            <a:ext cx="50292" cy="129844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3584448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1">
                <a:solidFill>
                  <a:srgbClr val="1F2933"/>
                </a:solidFill>
                <a:latin typeface="Noto Sans CJK TC"/>
              </a:rPr>
              <a:t>但不是定理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3959352"/>
            <a:ext cx="475488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Hayes test 只有 26 筆，因此 C=3→4 conflict rate 會從 53.8% 回落到 38.5%；目前只能說整體與 endpoint 趨勢支持這條機制。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Conflict 上升是 rule structure / overlap 改變，不是「方法變成 6 個」。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數據真的有沿著這條鏈走嗎？Car / Balance：有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C=2 → C=5 時，rule 變短、matching rules / test 增加、conflict rate 同步上升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61872"/>
            <a:ext cx="5074920" cy="3675887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1790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A78A8"/>
                </a:solidFill>
                <a:latin typeface="Noto Sans CJK TC"/>
              </a:rPr>
              <a:t>Balance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7" y="2103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平均 train rows /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0168" y="210312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A78A8"/>
                </a:solidFill>
                <a:latin typeface="Noto Sans CJK TC"/>
              </a:rPr>
              <a:t>約 250 →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761487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Local rule 平均條件數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76148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A78A8"/>
                </a:solidFill>
                <a:latin typeface="Noto Sans CJK TC"/>
              </a:rPr>
              <a:t>2.98 → 2.47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341985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Matching rules /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34198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A78A8"/>
                </a:solidFill>
                <a:latin typeface="Noto Sans CJK TC"/>
              </a:rPr>
              <a:t>2.43 → 3.74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407822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Conflict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40782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A78A8"/>
                </a:solidFill>
                <a:latin typeface="Noto Sans CJK TC"/>
              </a:rPr>
              <a:t>37.3% → 65.9%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261872"/>
            <a:ext cx="5074920" cy="3675887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1790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C8A61"/>
                </a:solidFill>
                <a:latin typeface="Noto Sans CJK TC"/>
              </a:rPr>
              <a:t>Car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103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平均 train rows /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10312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C8A61"/>
                </a:solidFill>
                <a:latin typeface="Noto Sans CJK TC"/>
              </a:rPr>
              <a:t>691 → 276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761487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Local rule 平均條件數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76148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C8A61"/>
                </a:solidFill>
                <a:latin typeface="Noto Sans CJK TC"/>
              </a:rPr>
              <a:t>4.40 → 3.66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41985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Matching rules /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34198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C8A61"/>
                </a:solidFill>
                <a:latin typeface="Noto Sans CJK TC"/>
              </a:rPr>
              <a:t>1.74 → 3.16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407822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Conflict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40782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C8A61"/>
                </a:solidFill>
                <a:latin typeface="Noto Sans CJK TC"/>
              </a:rPr>
              <a:t>24.6% → 60.7%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138928"/>
            <a:ext cx="9893808" cy="566928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5239512"/>
            <a:ext cx="9674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F2933"/>
                </a:solidFill>
                <a:latin typeface="Cambria Math"/>
              </a:rPr>
              <a:t>C ↑  →  local rule conditions ↓  →  matching rules / test ↑  →  conflict rate 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這就是我們目前說「fragmentation 會增加 conflict workload」最直接的結構證據。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不是「規則越多所以 conflict 越多」；也不一定是 reduct 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兩個反例幫我們把原因收斂到 rule generality / overlap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5257800" cy="340156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39"/>
            <a:ext cx="50292" cy="312724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4818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反例 1 · Balance：global rules 反而變少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37943"/>
            <a:ext cx="4800600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Global rule count：C=2 → 209；C=5 → 183。
但 conflict rate：37.3% → 65.9%。
所以 rule 總數增加不是必要條件；更關鍵的是每條 rule 覆蓋多寬、彼此重疊多少。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25880"/>
            <a:ext cx="5257800" cy="340156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5936" y="1463039"/>
            <a:ext cx="50292" cy="3127248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463039"/>
            <a:ext cx="4818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反例 2 · Car / Balance：reduct instability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837943"/>
            <a:ext cx="4800600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Car、Balance 在 C=2..5 的 reduct instability 都是 0，
但 conflict 仍然大幅增加。
因此也不能把 conflict 全歸因於「不同 clients 選到不同 reduct」。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5010912"/>
            <a:ext cx="10058400" cy="53035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5175504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2B7A78"/>
                </a:solidFill>
                <a:latin typeface="Noto Sans CJK TC"/>
              </a:rPr>
              <a:t>目前最合理：fragmentation → rule generalization → matching overlap → cross-decision conflict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真正要追的是「rule 結構怎麼變」，不是只數 rule 有幾條。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六種方法到底改了什麼？它們只改「Conflict 發生後的排序」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所以 908 是 conflict workload；43 才是 Population correction 真正翻動 winner 的次數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5120640" cy="603504"/>
          </a:xfrm>
          <a:prstGeom prst="roundRect">
            <a:avLst/>
          </a:prstGeom>
          <a:solidFill>
            <a:srgbClr val="EAF2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49011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A78A8"/>
                </a:solidFill>
                <a:latin typeface="Cambria Math"/>
              </a:rPr>
              <a:t>908 = structural conflict occurrences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120640" cy="603504"/>
          </a:xfrm>
          <a:prstGeom prst="roundRect">
            <a:avLst/>
          </a:prstGeom>
          <a:solidFill>
            <a:srgbClr val="E7F2F1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289304"/>
            <a:ext cx="49011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B7A78"/>
                </a:solidFill>
                <a:latin typeface="Cambria Math"/>
              </a:rPr>
              <a:t>43 = population-induced winner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84831"/>
            <a:ext cx="3429000" cy="25146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221991"/>
            <a:ext cx="50292" cy="224028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21991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908 裡的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2971800" cy="191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true class 不在 Candidate(x)
→ voting 根本救不了
→ Coverage / Induction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84831"/>
            <a:ext cx="3429000" cy="25146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2221991"/>
            <a:ext cx="50292" cy="224028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221991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STD → 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596896"/>
            <a:ext cx="2971800" cy="191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Winner changed 16 次
6 corrected
9 harmed
1 wrong→wrong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84831"/>
            <a:ext cx="3429000" cy="25146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2221991"/>
            <a:ext cx="50292" cy="224028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221991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GS → 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596896"/>
            <a:ext cx="2971800" cy="191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Winner changed 27 次
10 corrected
13 harmed
4 same correctness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919472"/>
            <a:ext cx="9555480" cy="603504"/>
          </a:xfrm>
          <a:prstGeom prst="roundRect">
            <a:avLst/>
          </a:prstGeom>
          <a:solidFill>
            <a:srgbClr val="F6F0D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35607" y="5020056"/>
            <a:ext cx="93360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>
                <a:solidFill>
                  <a:srgbClr val="A98025"/>
                </a:solidFill>
                <a:latin typeface="Cambria Math"/>
              </a:rPr>
              <a:t>43 / 908 = 4.74%：Population correction 只翻動少數 borderline conflicts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先有 conflict，再有 resolver；六方法不改 conflict 數，只改同一 conflict 的 winner。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最後才進 Redundancy Asymmetry：解釋「為什麼有時救對、有時修壞」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它不是第七種 prediction method，而是 conflict evidence structure 的 diagnostic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70432"/>
            <a:ext cx="333756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271016"/>
            <a:ext cx="311810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F2933"/>
                </a:solidFill>
                <a:latin typeface="Cambria Math"/>
              </a:rPr>
              <a:t>R_d = 1 - U_d/T_d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70432"/>
            <a:ext cx="333756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271016"/>
            <a:ext cx="311810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F2933"/>
                </a:solidFill>
                <a:latin typeface="Cambria Math"/>
              </a:rPr>
              <a:t>A(x)=R_competitor - R_true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70432"/>
            <a:ext cx="3337560" cy="594360"/>
          </a:xfrm>
          <a:prstGeom prst="roundRect">
            <a:avLst/>
          </a:prstGeom>
          <a:solidFill>
            <a:srgbClr val="E7F2F1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271016"/>
            <a:ext cx="311810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B7A78"/>
                </a:solidFill>
                <a:latin typeface="Cambria Math"/>
              </a:rPr>
              <a:t>43/43 changed winner → lower redundancy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48256"/>
            <a:ext cx="5230368" cy="24231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85416"/>
            <a:ext cx="50292" cy="214884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85416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A(x) &gt; 0 · 較像 Corrected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4773168" cy="1819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錯誤 competitor 比 true class 更重複。
例 Car T2：R_acc=.300，R_good=0，A=+.300。
Penalty 壓低 acc → good 反超。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048256"/>
            <a:ext cx="5230368" cy="24231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5936" y="2185416"/>
            <a:ext cx="50292" cy="214884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85416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A(x) &lt; 0 · 較像 Harmed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560320"/>
            <a:ext cx="4773168" cy="1819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true class 自己反而更重複。
例 Car T4：R_unacc=0，R_acc=.4179，A=-.4179。
Penalty 壓掉正確 acc → unacc 反超。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00600"/>
            <a:ext cx="10469880" cy="566928"/>
          </a:xfrm>
          <a:prstGeom prst="roundRect">
            <a:avLst/>
          </a:prstGeom>
          <a:solidFill>
            <a:srgbClr val="F0ECF6"/>
          </a:solidFill>
          <a:ln>
            <a:solidFill>
              <a:srgbClr val="F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983480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30" b="1">
                <a:solidFill>
                  <a:srgbClr val="765A9D"/>
                </a:solidFill>
                <a:latin typeface="Noto Sans CJK TC"/>
              </a:rPr>
              <a:t>C → Fragmentation → Rule generality / overlap → Conflict → Redundancy structure → Resolver →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研究重點不是「conflict 多不多」而已，而是 conflict 裡哪個 decision 的 support 被重複放大。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老師上次問題：現在逐題的最終答案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這頁就是開會最後要交卷的版本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1673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資料量？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289304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132/5、1728/7、625/5（Rows / Headers），並明列 factors、classes、80/20。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65376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476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20% 有沒有參與？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沒有。20% 只做最後 prediction / evaluation；所有 rules / supports / weights 只由 80% 建立。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96312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7860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六種方法結果？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551176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72 組完整 Acc / Recall(=BA) / Macro-F1 已自動輸出；沒有 universal winner。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27248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954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Coverage？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82112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Overall、Target(any rule)、Target Candidate(true class represented) 三層已分開。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58183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840479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Standard 3+3？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813047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T_d 會重複計 support occurrences；PS 改用 U_d，只讓同一 supporting object 計一次。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89120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47141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Global 怎麼改？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443983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保留 GS=U/N，再乘 P=U/T；PG=U²/(NT)。baseline 不被覆蓋。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0056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10235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Target 1–5？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5074920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三個 dataset 各 5 筆全部回查；可分 corrected、harmed、coverage failure。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老師要求的每一題現在都有對應 code、CSV evidence 與簡報頁，不再靠人工口頭補。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Code / Evidence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這次不是只改 PPT；缺的 diagnostics 已正式進 research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874519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63039"/>
            <a:ext cx="50292" cy="1600199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Code 補齊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✓ Target Candidate Coverage
✓ Redundancy Asymmetry helper
✓ Coverage vs Ranking error classification
✓ Standard / Global transition 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1463039"/>
            <a:ext cx="50292" cy="1600199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Teacher 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✓ dataset metadata
✓ six-policy metrics
✓ coverage by class
✓ target 1–5
✓ STD/GS transitions
✓ error/asymmetry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1874519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02167" y="1463039"/>
            <a:ext cx="50292" cy="1600199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F2933"/>
                </a:solidFill>
                <a:latin typeface="Noto Sans CJK TC"/>
              </a:rPr>
              <a:t>TDD RED：缺 function / module 時 CI fail
GREEN：implementation 後
118 tests passed · compile PASS
backtrace workflow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10561320" cy="132588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3840480"/>
            <a:ext cx="50292" cy="105156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840480"/>
            <a:ext cx="10122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Repository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15383"/>
            <a:ext cx="1010412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Branch: research/conflict-client-sweep-20261020
PR #5: Draft / Open / Not merged
Frozen production main remains unchanged.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這一輪完成的是 professor-question evidence layer，不修改 frozen main，也不新增第七種 prediction policy。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現在可以下什麼結論、還不能下什麼結論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把「已證明的 code 行為」與「下一步要統計驗證的研究假說」分開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303520" cy="31089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39"/>
            <a:ext cx="50292" cy="283464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63039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目前可以確定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37943"/>
            <a:ext cx="4846320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• Population correction 會降低 duplicated support 對 winner 的影響。
• 43/43 changed winners 都往 lower-redundancy decision 移動。
• 它可以 corrected，也可以 harmed。
• true class 不在 candidate set 時，任何 voting 都救不了。
• Target Candidate Coverage 能直接量到這個缺口。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03520" cy="31089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1928" y="1463039"/>
            <a:ext cx="50292" cy="283464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463039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目前不能直接宣稱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837943"/>
            <a:ext cx="4846320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• Population method universally better。
• Client 數越多就一定越好／越差。
• Redundancy 本身就是 noise。
• A(x) 已經是 causal predictor。
• seed=42 的 72 rows 可直接當獨立樣本做顯著性。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332720" cy="59436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4937760"/>
            <a:ext cx="50292" cy="32004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937760"/>
            <a:ext cx="9893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 CJK TC"/>
              </a:rPr>
              <a:t>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312664"/>
            <a:ext cx="9875520" cy="-9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3"/>
                </a:solidFill>
                <a:latin typeface="Noto Sans CJK TC"/>
              </a:rPr>
              <a:t>Repeated matched seeds / splits → 每個 conflict case 記錄 candidate coverage、T/U/P、score margin、A(x) → Friedman / paired Wilcoxon（block-level）。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下一輪不加新方法；先驗證「什麼 support structure 會讓 Population correction corrected 或 over-correct」。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